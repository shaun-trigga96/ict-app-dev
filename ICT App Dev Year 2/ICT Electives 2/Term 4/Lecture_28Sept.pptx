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271" r:id="rId6"/>
    <p:sldId id="272" r:id="rId7"/>
    <p:sldId id="260" r:id="rId8"/>
    <p:sldId id="261" r:id="rId9"/>
    <p:sldId id="274" r:id="rId10"/>
    <p:sldId id="263" r:id="rId11"/>
    <p:sldId id="264" r:id="rId12"/>
    <p:sldId id="277" r:id="rId13"/>
    <p:sldId id="298" r:id="rId14"/>
    <p:sldId id="275" r:id="rId15"/>
    <p:sldId id="265" r:id="rId16"/>
    <p:sldId id="266" r:id="rId17"/>
    <p:sldId id="276" r:id="rId18"/>
    <p:sldId id="267" r:id="rId19"/>
    <p:sldId id="268" r:id="rId20"/>
    <p:sldId id="278" r:id="rId21"/>
    <p:sldId id="269" r:id="rId22"/>
    <p:sldId id="279" r:id="rId23"/>
    <p:sldId id="280" r:id="rId24"/>
    <p:sldId id="270" r:id="rId25"/>
    <p:sldId id="281" r:id="rId26"/>
    <p:sldId id="282" r:id="rId27"/>
    <p:sldId id="283" r:id="rId28"/>
    <p:sldId id="284" r:id="rId29"/>
    <p:sldId id="285" r:id="rId30"/>
    <p:sldId id="286" r:id="rId31"/>
    <p:sldId id="287" r:id="rId32"/>
    <p:sldId id="288" r:id="rId33"/>
    <p:sldId id="289" r:id="rId34"/>
    <p:sldId id="290" r:id="rId35"/>
    <p:sldId id="273" r:id="rId36"/>
    <p:sldId id="297" r:id="rId37"/>
    <p:sldId id="293" r:id="rId38"/>
    <p:sldId id="291" r:id="rId39"/>
    <p:sldId id="292" r:id="rId40"/>
    <p:sldId id="294" r:id="rId41"/>
    <p:sldId id="295" r:id="rId42"/>
    <p:sldId id="296" r:id="rId43"/>
    <p:sldId id="299" r:id="rId44"/>
    <p:sldId id="359" r:id="rId45"/>
    <p:sldId id="362" r:id="rId46"/>
    <p:sldId id="36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98403E-870C-45A5-A0E6-9138034EB192}" type="datetimeFigureOut">
              <a:rPr lang="en-ZA" smtClean="0"/>
              <a:t>2021/09/28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62B9A-5A7B-4521-8EF0-674FCE5C3DB1}" type="slidenum">
              <a:rPr lang="en-ZA" smtClean="0"/>
              <a:t>‹#›</a:t>
            </a:fld>
            <a:endParaRPr lang="en-ZA"/>
          </a:p>
        </p:txBody>
      </p:sp>
    </p:spTree>
    <p:extLst>
      <p:ext uri="{BB962C8B-B14F-4D97-AF65-F5344CB8AC3E}">
        <p14:creationId xmlns:p14="http://schemas.microsoft.com/office/powerpoint/2010/main" val="3640969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EDA2EA7-DB02-4A37-BC76-9AC6F6E6B3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Arial" panose="020B0604020202020204" pitchFamily="34" charset="0"/>
              </a:defRPr>
            </a:lvl1pPr>
            <a:lvl2pPr marL="742950" indent="-285750" defTabSz="930275">
              <a:spcBef>
                <a:spcPct val="30000"/>
              </a:spcBef>
              <a:defRPr sz="1200">
                <a:solidFill>
                  <a:schemeClr val="tx1"/>
                </a:solidFill>
                <a:latin typeface="Arial" panose="020B0604020202020204" pitchFamily="34" charset="0"/>
              </a:defRPr>
            </a:lvl2pPr>
            <a:lvl3pPr marL="1143000" indent="-228600" defTabSz="930275">
              <a:spcBef>
                <a:spcPct val="30000"/>
              </a:spcBef>
              <a:defRPr sz="1200">
                <a:solidFill>
                  <a:schemeClr val="tx1"/>
                </a:solidFill>
                <a:latin typeface="Arial" panose="020B0604020202020204" pitchFamily="34" charset="0"/>
              </a:defRPr>
            </a:lvl3pPr>
            <a:lvl4pPr marL="1600200" indent="-228600" defTabSz="930275">
              <a:spcBef>
                <a:spcPct val="30000"/>
              </a:spcBef>
              <a:defRPr sz="1200">
                <a:solidFill>
                  <a:schemeClr val="tx1"/>
                </a:solidFill>
                <a:latin typeface="Arial" panose="020B0604020202020204" pitchFamily="34" charset="0"/>
              </a:defRPr>
            </a:lvl4pPr>
            <a:lvl5pPr marL="2057400" indent="-228600" defTabSz="930275">
              <a:spcBef>
                <a:spcPct val="30000"/>
              </a:spcBef>
              <a:defRPr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EC62CA-10E1-484C-9328-70AF3D2E684A}" type="slidenum">
              <a:rPr lang="en-US" altLang="en-US"/>
              <a:pPr>
                <a:spcBef>
                  <a:spcPct val="0"/>
                </a:spcBef>
              </a:pPr>
              <a:t>37</a:t>
            </a:fld>
            <a:endParaRPr lang="en-US" altLang="en-US"/>
          </a:p>
        </p:txBody>
      </p:sp>
      <p:sp>
        <p:nvSpPr>
          <p:cNvPr id="16387" name="Rectangle 2">
            <a:extLst>
              <a:ext uri="{FF2B5EF4-FFF2-40B4-BE49-F238E27FC236}">
                <a16:creationId xmlns:a16="http://schemas.microsoft.com/office/drawing/2014/main" id="{226536CF-F934-4ADB-AC78-1A1D8BDEF35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7EAA538E-E614-4132-BC13-9432654F8D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What is an Expert System?</a:t>
            </a:r>
          </a:p>
          <a:p>
            <a:endParaRPr lang="en-US" altLang="en-US">
              <a:latin typeface="Arial" panose="020B0604020202020204" pitchFamily="34" charset="0"/>
            </a:endParaRPr>
          </a:p>
          <a:p>
            <a:r>
              <a:rPr lang="en-US" altLang="en-US">
                <a:latin typeface="Arial" panose="020B0604020202020204" pitchFamily="34" charset="0"/>
              </a:rPr>
              <a:t>An expert system is a computer program that is designed to solve complex problems and to provide decision-making ability like a human expert. It performs this by extracting knowledge from its knowledge base using the reasoning and inference rules according to the user queries.</a:t>
            </a:r>
          </a:p>
          <a:p>
            <a:r>
              <a:rPr lang="en-US" altLang="en-US">
                <a:latin typeface="Arial" panose="020B0604020202020204" pitchFamily="34" charset="0"/>
              </a:rPr>
              <a:t>The expert system is a part of AI, and the first ES was developed in the year 1970, which was the first successful approach of artificial intelligence. It solves the most complex issue as an expert by extracting the knowledge stored in its knowledge base. The system helps in decision making for complex problems using </a:t>
            </a:r>
            <a:r>
              <a:rPr lang="en-US" altLang="en-US" b="1">
                <a:latin typeface="Arial" panose="020B0604020202020204" pitchFamily="34" charset="0"/>
              </a:rPr>
              <a:t>both facts and heuristics like a human expert</a:t>
            </a:r>
            <a:r>
              <a:rPr lang="en-US" altLang="en-US">
                <a:latin typeface="Arial" panose="020B0604020202020204" pitchFamily="34" charset="0"/>
              </a:rPr>
              <a:t>. It is called so because it contains the expert knowledge of a specific domain and can solve any complex problem of that particular domain. These systems are designed for a specific domain, such as </a:t>
            </a:r>
            <a:r>
              <a:rPr lang="en-US" altLang="en-US" b="1">
                <a:latin typeface="Arial" panose="020B0604020202020204" pitchFamily="34" charset="0"/>
              </a:rPr>
              <a:t>medicine, science,</a:t>
            </a:r>
            <a:r>
              <a:rPr lang="en-US" altLang="en-US">
                <a:latin typeface="Arial" panose="020B0604020202020204" pitchFamily="34" charset="0"/>
              </a:rPr>
              <a:t> etc.</a:t>
            </a:r>
          </a:p>
          <a:p>
            <a:r>
              <a:rPr lang="en-US" altLang="en-US">
                <a:latin typeface="Arial" panose="020B0604020202020204" pitchFamily="34" charset="0"/>
              </a:rPr>
              <a:t>The performance of an expert system is based on the expert's knowledge stored in its knowledge base. The more knowledge stored in the KB, the more that system improves its performance. One of the common examples of an ES is a suggestion of spelling errors while typing in the Google search box.</a:t>
            </a:r>
          </a:p>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E2F50869-C409-4B74-B37D-16401B40A8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Arial" panose="020B0604020202020204" pitchFamily="34" charset="0"/>
              </a:defRPr>
            </a:lvl1pPr>
            <a:lvl2pPr marL="742950" indent="-285750" defTabSz="930275">
              <a:spcBef>
                <a:spcPct val="30000"/>
              </a:spcBef>
              <a:defRPr sz="1200">
                <a:solidFill>
                  <a:schemeClr val="tx1"/>
                </a:solidFill>
                <a:latin typeface="Arial" panose="020B0604020202020204" pitchFamily="34" charset="0"/>
              </a:defRPr>
            </a:lvl2pPr>
            <a:lvl3pPr marL="1143000" indent="-228600" defTabSz="930275">
              <a:spcBef>
                <a:spcPct val="30000"/>
              </a:spcBef>
              <a:defRPr sz="1200">
                <a:solidFill>
                  <a:schemeClr val="tx1"/>
                </a:solidFill>
                <a:latin typeface="Arial" panose="020B0604020202020204" pitchFamily="34" charset="0"/>
              </a:defRPr>
            </a:lvl3pPr>
            <a:lvl4pPr marL="1600200" indent="-228600" defTabSz="930275">
              <a:spcBef>
                <a:spcPct val="30000"/>
              </a:spcBef>
              <a:defRPr sz="1200">
                <a:solidFill>
                  <a:schemeClr val="tx1"/>
                </a:solidFill>
                <a:latin typeface="Arial" panose="020B0604020202020204" pitchFamily="34" charset="0"/>
              </a:defRPr>
            </a:lvl4pPr>
            <a:lvl5pPr marL="2057400" indent="-228600" defTabSz="930275">
              <a:spcBef>
                <a:spcPct val="30000"/>
              </a:spcBef>
              <a:defRPr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DD5464-2267-499C-8FBE-1EA77B503DDF}" type="slidenum">
              <a:rPr lang="en-US" altLang="en-US"/>
              <a:pPr>
                <a:spcBef>
                  <a:spcPct val="0"/>
                </a:spcBef>
              </a:pPr>
              <a:t>39</a:t>
            </a:fld>
            <a:endParaRPr lang="en-US" altLang="en-US"/>
          </a:p>
        </p:txBody>
      </p:sp>
      <p:sp>
        <p:nvSpPr>
          <p:cNvPr id="45059" name="Rectangle 2">
            <a:extLst>
              <a:ext uri="{FF2B5EF4-FFF2-40B4-BE49-F238E27FC236}">
                <a16:creationId xmlns:a16="http://schemas.microsoft.com/office/drawing/2014/main" id="{C1A608EC-5BAD-4811-BA0C-C02774C92E83}"/>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CF67075F-185B-4D78-93FF-0560FCE55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latin typeface="Arial" panose="020B0604020202020204" pitchFamily="34" charset="0"/>
              </a:rPr>
              <a:t>Uncertainty and Fuzzy Logic</a:t>
            </a:r>
            <a:endParaRPr lang="en-US" altLang="en-US">
              <a:latin typeface="Arial" panose="020B0604020202020204" pitchFamily="34" charset="0"/>
            </a:endParaRPr>
          </a:p>
          <a:p>
            <a:r>
              <a:rPr lang="en-US" altLang="en-US">
                <a:latin typeface="Arial" panose="020B0604020202020204" pitchFamily="34" charset="0"/>
              </a:rPr>
              <a:t>Fuzzy logic is a method of reasoning that resembles human reasoning since it allows for approximate values and inferences and incomplete or ambiguous data (fuzzy data). Fuzzy logic is a method of choice for handling uncertainty in some expert systems.</a:t>
            </a:r>
          </a:p>
          <a:p>
            <a:endParaRPr lang="en-US" altLang="en-US">
              <a:latin typeface="Arial" panose="020B0604020202020204" pitchFamily="34" charset="0"/>
            </a:endParaRPr>
          </a:p>
          <a:p>
            <a:r>
              <a:rPr lang="en-US" altLang="en-US">
                <a:latin typeface="Arial" panose="020B0604020202020204" pitchFamily="34" charset="0"/>
              </a:rPr>
              <a:t>Expert systems with fuzzy-logic capabilities thus allow for more flexible and creative handling of problems. These systems are used, for example, to control manufacturing processes.</a:t>
            </a:r>
          </a:p>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04D7692-EEC9-4484-B708-108B925162EB}" type="slidenum">
              <a:rPr lang="en-GB" smtClean="0"/>
              <a:t>44</a:t>
            </a:fld>
            <a:endParaRPr lang="en-GB"/>
          </a:p>
        </p:txBody>
      </p:sp>
    </p:spTree>
    <p:extLst>
      <p:ext uri="{BB962C8B-B14F-4D97-AF65-F5344CB8AC3E}">
        <p14:creationId xmlns:p14="http://schemas.microsoft.com/office/powerpoint/2010/main" val="1772139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6474A-9428-46DC-A584-E842203575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B9A4B04D-0840-4212-9952-430CA85A1A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45E05EBE-4C26-46F6-BB5D-68AD8D4579C5}"/>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465ACCB7-612D-47D4-BD9B-9579FB7909F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70ADA0C-3375-418A-9881-663D0F2F1F46}"/>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31528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AD6F-F1F5-4CA1-ABCF-5A3ADEDCEC71}"/>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225482D-7574-485A-B90E-DAA9EB268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2CAE410-5F53-4394-8CDF-FEE48422B1F5}"/>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62FA84EE-F661-4CC5-BCD0-2C321E9F397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E4F0EA4-94D0-4041-B1E6-736AD9E5CE09}"/>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1160856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96E1C-7035-44DD-859F-6E602B8E4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B7AEDA3D-CDC9-4E19-A96A-63D234D17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C16265-FC12-492C-826D-3565AFA700FC}"/>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5A6F4712-3EB7-4EEA-941A-1B3A73B9722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70C06FA-5BD6-41F5-849E-102CE6549F42}"/>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108202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2B4C-139C-4B51-BCEC-B5831E72672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9209EA85-9E78-401D-941C-B4C8210EF4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99971EA7-EF3D-4496-BECD-F534C0B00F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5CE2022-FD73-43F4-836E-2F9EC9FB3283}"/>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6" name="Footer Placeholder 5">
            <a:extLst>
              <a:ext uri="{FF2B5EF4-FFF2-40B4-BE49-F238E27FC236}">
                <a16:creationId xmlns:a16="http://schemas.microsoft.com/office/drawing/2014/main" id="{47D7EE9D-19E7-4AF0-8D95-73B21497349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ABD2435-A6E8-48EB-83F2-461DB414F5D2}"/>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303032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F8F1-671E-45E8-8415-43587AF2A9F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2C4167C-1A54-4A6D-899A-300496361E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B2DDC-6795-4A60-BCB6-520E93AB98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D677B315-1D8D-4DC2-B70E-7F4F8E3C1C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F2CED4-C5C5-4D6E-80C7-8B7F558102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78343A11-3AD3-4ABA-8753-1A7A6AC18A12}"/>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8" name="Footer Placeholder 7">
            <a:extLst>
              <a:ext uri="{FF2B5EF4-FFF2-40B4-BE49-F238E27FC236}">
                <a16:creationId xmlns:a16="http://schemas.microsoft.com/office/drawing/2014/main" id="{444A7296-FB2E-4B7E-A1FB-9E4FED9B2E7E}"/>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EA35AA89-1DE2-45E0-A718-4629C6FC4CA0}"/>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2934988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E0C84-25FF-4D5E-9DF1-EF1F5CB6D58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F2840CF4-8731-49FE-A589-810D7F9664CC}"/>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4" name="Footer Placeholder 3">
            <a:extLst>
              <a:ext uri="{FF2B5EF4-FFF2-40B4-BE49-F238E27FC236}">
                <a16:creationId xmlns:a16="http://schemas.microsoft.com/office/drawing/2014/main" id="{6E112BF0-2804-4692-9253-AB430AB476A9}"/>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A3AD89F7-201E-4EFC-8F96-C91AD75F1514}"/>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2606372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CE061-9D73-4C0B-9CE1-0FC8086EFD89}"/>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3" name="Footer Placeholder 2">
            <a:extLst>
              <a:ext uri="{FF2B5EF4-FFF2-40B4-BE49-F238E27FC236}">
                <a16:creationId xmlns:a16="http://schemas.microsoft.com/office/drawing/2014/main" id="{08AF5383-FF4B-4D4D-8D30-B0E1283C3E83}"/>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574A04C3-C455-4060-AD6A-E395516AF4BB}"/>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97909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83F1F-B736-4985-952F-95CD2633D8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D1C8C89F-D5D1-4E81-94DF-85A24C9BE9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3711026-90B6-433F-9EBF-74C813197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8FF2A1-D399-448B-B01E-F9A529DA7D53}"/>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6" name="Footer Placeholder 5">
            <a:extLst>
              <a:ext uri="{FF2B5EF4-FFF2-40B4-BE49-F238E27FC236}">
                <a16:creationId xmlns:a16="http://schemas.microsoft.com/office/drawing/2014/main" id="{3B44003A-E013-4455-AB75-BAC7C55ABC2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995AEC5-D818-415C-B7EE-ACFFD6CAC63F}"/>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559546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D0DD-D8D7-4FF3-AC73-84775CCF3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5960C1BD-93CB-45A9-8DE9-D7FDB6DB8D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93DCAC0-DA9D-4B28-8A12-CBEF602CD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E1771-6E95-40C3-9EF5-08E4097AD20D}"/>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6" name="Footer Placeholder 5">
            <a:extLst>
              <a:ext uri="{FF2B5EF4-FFF2-40B4-BE49-F238E27FC236}">
                <a16:creationId xmlns:a16="http://schemas.microsoft.com/office/drawing/2014/main" id="{2D93F4B7-07F4-48D1-B005-C05D885B75E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F236720-956F-40A7-B640-C0028359B710}"/>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1552838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0E01-42C4-424E-993E-F6D72A38E3D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50B8E94-63F1-4DF2-B583-A21F67765F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D7BC72D-8B3D-4ECC-918A-681661BE0085}"/>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CB99E53A-36D5-4DC3-85D4-2663D68F6F7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FFA2A3B-420D-4D7F-A5D2-F83F61BCF7A2}"/>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1292358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7285F5-C2C0-4F3C-BE18-DCA3BC55D0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4756849-9123-4527-A827-B64E0C0E58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B8B5326-2DD9-41CD-B9E3-DFDE70A3F88B}"/>
              </a:ext>
            </a:extLst>
          </p:cNvPr>
          <p:cNvSpPr>
            <a:spLocks noGrp="1"/>
          </p:cNvSpPr>
          <p:nvPr>
            <p:ph type="dt" sz="half" idx="10"/>
          </p:nvPr>
        </p:nvSpPr>
        <p:spPr/>
        <p:txBody>
          <a:body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C53C3F87-2F27-4F15-A0A3-426671B6D4E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836B831-FA8E-4923-B1D7-9568E60DD593}"/>
              </a:ext>
            </a:extLst>
          </p:cNvPr>
          <p:cNvSpPr>
            <a:spLocks noGrp="1"/>
          </p:cNvSpPr>
          <p:nvPr>
            <p:ph type="sldNum" sz="quarter" idx="12"/>
          </p:nvPr>
        </p:nvSpPr>
        <p:spPr/>
        <p:txBody>
          <a:bodyPr/>
          <a:lstStyle/>
          <a:p>
            <a:fld id="{2F110254-3319-4C12-A25D-0CC16C86538C}" type="slidenum">
              <a:rPr lang="en-ZA" smtClean="0"/>
              <a:t>‹#›</a:t>
            </a:fld>
            <a:endParaRPr lang="en-ZA"/>
          </a:p>
        </p:txBody>
      </p:sp>
    </p:spTree>
    <p:extLst>
      <p:ext uri="{BB962C8B-B14F-4D97-AF65-F5344CB8AC3E}">
        <p14:creationId xmlns:p14="http://schemas.microsoft.com/office/powerpoint/2010/main" val="1332035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33" b="0" i="0">
                <a:solidFill>
                  <a:srgbClr val="33FFFF"/>
                </a:solidFill>
                <a:latin typeface="Century Gothic"/>
                <a:cs typeface="Century Gothic"/>
              </a:defRPr>
            </a:lvl1pPr>
          </a:lstStyle>
          <a:p>
            <a:endParaRPr/>
          </a:p>
        </p:txBody>
      </p:sp>
      <p:sp>
        <p:nvSpPr>
          <p:cNvPr id="3" name="Holder 3"/>
          <p:cNvSpPr>
            <a:spLocks noGrp="1"/>
          </p:cNvSpPr>
          <p:nvPr>
            <p:ph sz="half" idx="2"/>
          </p:nvPr>
        </p:nvSpPr>
        <p:spPr>
          <a:xfrm>
            <a:off x="592668" y="1863953"/>
            <a:ext cx="4373033" cy="443198"/>
          </a:xfrm>
          <a:prstGeom prst="rect">
            <a:avLst/>
          </a:prstGeom>
        </p:spPr>
        <p:txBody>
          <a:bodyPr wrap="square" lIns="0" tIns="0" rIns="0" bIns="0">
            <a:spAutoFit/>
          </a:bodyPr>
          <a:lstStyle>
            <a:lvl1pPr>
              <a:defRPr sz="3200" b="1" i="0">
                <a:solidFill>
                  <a:schemeClr val="tx1"/>
                </a:solidFill>
                <a:latin typeface="Century Gothic"/>
                <a:cs typeface="Century Gothic"/>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52326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7971FD-3CCC-40C4-A56B-9A539BDE50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0BAAFF2-94FA-4A3F-ABA5-B8324F2397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939E8D5-69D9-41B2-9D95-957FE7E75B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26EBA6-AB5D-4E70-91B9-960B0F53A5E6}" type="datetimeFigureOut">
              <a:rPr lang="en-ZA" smtClean="0"/>
              <a:t>2021/09/28</a:t>
            </a:fld>
            <a:endParaRPr lang="en-ZA"/>
          </a:p>
        </p:txBody>
      </p:sp>
      <p:sp>
        <p:nvSpPr>
          <p:cNvPr id="5" name="Footer Placeholder 4">
            <a:extLst>
              <a:ext uri="{FF2B5EF4-FFF2-40B4-BE49-F238E27FC236}">
                <a16:creationId xmlns:a16="http://schemas.microsoft.com/office/drawing/2014/main" id="{A3C5AF80-050A-46BD-883C-0EDAC3B7C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94921F62-2AD9-428B-8E39-7B07528ED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110254-3319-4C12-A25D-0CC16C86538C}" type="slidenum">
              <a:rPr lang="en-ZA" smtClean="0"/>
              <a:t>‹#›</a:t>
            </a:fld>
            <a:endParaRPr lang="en-ZA"/>
          </a:p>
        </p:txBody>
      </p:sp>
    </p:spTree>
    <p:extLst>
      <p:ext uri="{BB962C8B-B14F-4D97-AF65-F5344CB8AC3E}">
        <p14:creationId xmlns:p14="http://schemas.microsoft.com/office/powerpoint/2010/main" val="2095319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33AE-E8A4-41ED-B9A4-441CEAA0BE63}"/>
              </a:ext>
            </a:extLst>
          </p:cNvPr>
          <p:cNvSpPr>
            <a:spLocks noGrp="1"/>
          </p:cNvSpPr>
          <p:nvPr>
            <p:ph type="ctrTitle"/>
          </p:nvPr>
        </p:nvSpPr>
        <p:spPr/>
        <p:txBody>
          <a:bodyPr>
            <a:normAutofit/>
          </a:bodyPr>
          <a:lstStyle/>
          <a:p>
            <a:r>
              <a:rPr lang="en-ZA" sz="5400" b="1" dirty="0">
                <a:latin typeface="+mn-lt"/>
              </a:rPr>
              <a:t>REVISION</a:t>
            </a:r>
          </a:p>
        </p:txBody>
      </p:sp>
      <p:sp>
        <p:nvSpPr>
          <p:cNvPr id="3" name="Subtitle 2">
            <a:extLst>
              <a:ext uri="{FF2B5EF4-FFF2-40B4-BE49-F238E27FC236}">
                <a16:creationId xmlns:a16="http://schemas.microsoft.com/office/drawing/2014/main" id="{5ABF04D0-4DD7-4EB9-A8B3-0521C8546C7E}"/>
              </a:ext>
            </a:extLst>
          </p:cNvPr>
          <p:cNvSpPr>
            <a:spLocks noGrp="1"/>
          </p:cNvSpPr>
          <p:nvPr>
            <p:ph type="subTitle" idx="1"/>
          </p:nvPr>
        </p:nvSpPr>
        <p:spPr/>
        <p:txBody>
          <a:bodyPr>
            <a:normAutofit/>
          </a:bodyPr>
          <a:lstStyle/>
          <a:p>
            <a:r>
              <a:rPr lang="en-ZA" sz="4400" b="1" dirty="0"/>
              <a:t>ARTIFICIAL INTELLIGENCE</a:t>
            </a:r>
          </a:p>
        </p:txBody>
      </p:sp>
    </p:spTree>
    <p:extLst>
      <p:ext uri="{BB962C8B-B14F-4D97-AF65-F5344CB8AC3E}">
        <p14:creationId xmlns:p14="http://schemas.microsoft.com/office/powerpoint/2010/main" val="111776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B12-3792-4C8D-A0C9-F682382E14BB}"/>
              </a:ext>
            </a:extLst>
          </p:cNvPr>
          <p:cNvSpPr>
            <a:spLocks noGrp="1"/>
          </p:cNvSpPr>
          <p:nvPr>
            <p:ph type="title"/>
          </p:nvPr>
        </p:nvSpPr>
        <p:spPr>
          <a:xfrm>
            <a:off x="612913" y="921716"/>
            <a:ext cx="10515600" cy="827571"/>
          </a:xfrm>
        </p:spPr>
        <p:txBody>
          <a:bodyPr/>
          <a:lstStyle/>
          <a:p>
            <a:pPr algn="ctr"/>
            <a:r>
              <a:rPr lang="en-ZA" b="1" dirty="0">
                <a:latin typeface="+mn-lt"/>
              </a:rPr>
              <a:t>What is Artificial Intelligence?</a:t>
            </a:r>
          </a:p>
        </p:txBody>
      </p:sp>
      <p:sp>
        <p:nvSpPr>
          <p:cNvPr id="3" name="Content Placeholder 2">
            <a:extLst>
              <a:ext uri="{FF2B5EF4-FFF2-40B4-BE49-F238E27FC236}">
                <a16:creationId xmlns:a16="http://schemas.microsoft.com/office/drawing/2014/main" id="{CBFCCBC3-423C-4E3A-ABD7-C86A7DE0FF69}"/>
              </a:ext>
            </a:extLst>
          </p:cNvPr>
          <p:cNvSpPr>
            <a:spLocks noGrp="1"/>
          </p:cNvSpPr>
          <p:nvPr>
            <p:ph idx="1"/>
          </p:nvPr>
        </p:nvSpPr>
        <p:spPr>
          <a:xfrm>
            <a:off x="838200" y="2173357"/>
            <a:ext cx="10515600" cy="4003606"/>
          </a:xfrm>
        </p:spPr>
        <p:txBody>
          <a:bodyPr>
            <a:normAutofit/>
          </a:bodyPr>
          <a:lstStyle/>
          <a:p>
            <a:pPr>
              <a:lnSpc>
                <a:spcPct val="100000"/>
              </a:lnSpc>
            </a:pPr>
            <a:r>
              <a:rPr lang="en-US" sz="3600" dirty="0"/>
              <a:t>Father of Artificial Intelligence, </a:t>
            </a:r>
            <a:r>
              <a:rPr lang="en-US" sz="3600" b="1" dirty="0"/>
              <a:t>John McCarthy</a:t>
            </a:r>
            <a:r>
              <a:rPr lang="en-US" sz="3600" dirty="0"/>
              <a:t>, describes it as:</a:t>
            </a:r>
          </a:p>
          <a:p>
            <a:pPr marL="457200" lvl="1" indent="0">
              <a:lnSpc>
                <a:spcPct val="100000"/>
              </a:lnSpc>
              <a:buNone/>
            </a:pPr>
            <a:r>
              <a:rPr lang="en-US" sz="3600" dirty="0"/>
              <a:t>“</a:t>
            </a:r>
            <a:r>
              <a:rPr lang="en-US" sz="3600" dirty="0">
                <a:highlight>
                  <a:srgbClr val="FFFF00"/>
                </a:highlight>
              </a:rPr>
              <a:t>The science and engineering of making intelligent machines, especially intelligent computer programs</a:t>
            </a:r>
            <a:r>
              <a:rPr lang="en-US" sz="3600" dirty="0"/>
              <a:t>”.</a:t>
            </a:r>
          </a:p>
          <a:p>
            <a:pPr marL="0" indent="0">
              <a:buNone/>
            </a:pPr>
            <a:endParaRPr lang="en-ZA" dirty="0"/>
          </a:p>
        </p:txBody>
      </p:sp>
    </p:spTree>
    <p:extLst>
      <p:ext uri="{BB962C8B-B14F-4D97-AF65-F5344CB8AC3E}">
        <p14:creationId xmlns:p14="http://schemas.microsoft.com/office/powerpoint/2010/main" val="3650732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EE73-AE2D-4A21-B047-2E9D7FD47EB7}"/>
              </a:ext>
            </a:extLst>
          </p:cNvPr>
          <p:cNvSpPr>
            <a:spLocks noGrp="1"/>
          </p:cNvSpPr>
          <p:nvPr>
            <p:ph type="title"/>
          </p:nvPr>
        </p:nvSpPr>
        <p:spPr>
          <a:xfrm>
            <a:off x="838200" y="365125"/>
            <a:ext cx="10515600" cy="1278145"/>
          </a:xfrm>
        </p:spPr>
        <p:txBody>
          <a:bodyPr>
            <a:normAutofit/>
          </a:bodyPr>
          <a:lstStyle/>
          <a:p>
            <a:r>
              <a:rPr lang="en-ZA" sz="3200" b="1" dirty="0">
                <a:latin typeface="+mn-lt"/>
              </a:rPr>
              <a:t>Goal of AI</a:t>
            </a:r>
          </a:p>
        </p:txBody>
      </p:sp>
      <p:sp>
        <p:nvSpPr>
          <p:cNvPr id="3" name="Content Placeholder 2">
            <a:extLst>
              <a:ext uri="{FF2B5EF4-FFF2-40B4-BE49-F238E27FC236}">
                <a16:creationId xmlns:a16="http://schemas.microsoft.com/office/drawing/2014/main" id="{B019B0BC-4C5B-46D0-AEB4-60E8BB1E32ED}"/>
              </a:ext>
            </a:extLst>
          </p:cNvPr>
          <p:cNvSpPr>
            <a:spLocks noGrp="1"/>
          </p:cNvSpPr>
          <p:nvPr>
            <p:ph idx="1"/>
          </p:nvPr>
        </p:nvSpPr>
        <p:spPr>
          <a:xfrm>
            <a:off x="838200" y="1434495"/>
            <a:ext cx="10515600" cy="4479234"/>
          </a:xfrm>
        </p:spPr>
        <p:txBody>
          <a:bodyPr/>
          <a:lstStyle/>
          <a:p>
            <a:r>
              <a:rPr lang="en-US" dirty="0"/>
              <a:t>Create Expert Systems </a:t>
            </a:r>
          </a:p>
          <a:p>
            <a:r>
              <a:rPr lang="en-US" dirty="0"/>
              <a:t>Implement Human Intelligence in Machines</a:t>
            </a:r>
            <a:endParaRPr lang="en-ZA" dirty="0"/>
          </a:p>
        </p:txBody>
      </p:sp>
      <p:sp>
        <p:nvSpPr>
          <p:cNvPr id="5" name="TextBox 4">
            <a:extLst>
              <a:ext uri="{FF2B5EF4-FFF2-40B4-BE49-F238E27FC236}">
                <a16:creationId xmlns:a16="http://schemas.microsoft.com/office/drawing/2014/main" id="{992BB737-0205-4478-8889-A29D04A0C028}"/>
              </a:ext>
            </a:extLst>
          </p:cNvPr>
          <p:cNvSpPr txBox="1"/>
          <p:nvPr/>
        </p:nvSpPr>
        <p:spPr>
          <a:xfrm>
            <a:off x="722243" y="2651297"/>
            <a:ext cx="6096000" cy="584775"/>
          </a:xfrm>
          <a:prstGeom prst="rect">
            <a:avLst/>
          </a:prstGeom>
          <a:noFill/>
        </p:spPr>
        <p:txBody>
          <a:bodyPr wrap="square">
            <a:spAutoFit/>
          </a:bodyPr>
          <a:lstStyle/>
          <a:p>
            <a:r>
              <a:rPr lang="en-ZA" sz="3200" b="1" dirty="0"/>
              <a:t>What is AI Technique?</a:t>
            </a:r>
          </a:p>
        </p:txBody>
      </p:sp>
      <p:sp>
        <p:nvSpPr>
          <p:cNvPr id="7" name="TextBox 6">
            <a:extLst>
              <a:ext uri="{FF2B5EF4-FFF2-40B4-BE49-F238E27FC236}">
                <a16:creationId xmlns:a16="http://schemas.microsoft.com/office/drawing/2014/main" id="{6DD20433-3787-4905-8DBC-EA6259D071D0}"/>
              </a:ext>
            </a:extLst>
          </p:cNvPr>
          <p:cNvSpPr txBox="1"/>
          <p:nvPr/>
        </p:nvSpPr>
        <p:spPr>
          <a:xfrm>
            <a:off x="838200" y="3236073"/>
            <a:ext cx="10399643" cy="2677656"/>
          </a:xfrm>
          <a:prstGeom prst="rect">
            <a:avLst/>
          </a:prstGeom>
          <a:noFill/>
        </p:spPr>
        <p:txBody>
          <a:bodyPr wrap="square">
            <a:spAutoFit/>
          </a:bodyPr>
          <a:lstStyle/>
          <a:p>
            <a:r>
              <a:rPr lang="en-US" sz="2800" dirty="0"/>
              <a:t>AI Technique is a manner to organize and use the knowledge efficiently in such a way that −</a:t>
            </a:r>
          </a:p>
          <a:p>
            <a:pPr marL="285750" indent="-285750">
              <a:buFont typeface="Arial" panose="020B0604020202020204" pitchFamily="34" charset="0"/>
              <a:buChar char="•"/>
            </a:pPr>
            <a:r>
              <a:rPr lang="en-US" sz="2800" dirty="0"/>
              <a:t>It should be perceivable by the people who provide it.</a:t>
            </a:r>
          </a:p>
          <a:p>
            <a:pPr marL="285750" indent="-285750">
              <a:buFont typeface="Arial" panose="020B0604020202020204" pitchFamily="34" charset="0"/>
              <a:buChar char="•"/>
            </a:pPr>
            <a:r>
              <a:rPr lang="en-US" sz="2800" dirty="0"/>
              <a:t>It should be easily modifiable to correct errors.</a:t>
            </a:r>
          </a:p>
          <a:p>
            <a:pPr marL="285750" indent="-285750">
              <a:buFont typeface="Arial" panose="020B0604020202020204" pitchFamily="34" charset="0"/>
              <a:buChar char="•"/>
            </a:pPr>
            <a:r>
              <a:rPr lang="en-US" sz="2800" dirty="0"/>
              <a:t>It should be useful in many situations though it is incomplete or inaccurate.</a:t>
            </a:r>
          </a:p>
        </p:txBody>
      </p:sp>
    </p:spTree>
    <p:extLst>
      <p:ext uri="{BB962C8B-B14F-4D97-AF65-F5344CB8AC3E}">
        <p14:creationId xmlns:p14="http://schemas.microsoft.com/office/powerpoint/2010/main" val="2346537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35543F-032F-4C01-A0AC-7EA3647855AB}"/>
              </a:ext>
            </a:extLst>
          </p:cNvPr>
          <p:cNvSpPr txBox="1"/>
          <p:nvPr/>
        </p:nvSpPr>
        <p:spPr>
          <a:xfrm>
            <a:off x="1113183" y="747383"/>
            <a:ext cx="10482470" cy="4959499"/>
          </a:xfrm>
          <a:prstGeom prst="rect">
            <a:avLst/>
          </a:prstGeom>
          <a:noFill/>
        </p:spPr>
        <p:txBody>
          <a:bodyPr wrap="square">
            <a:spAutoFit/>
          </a:bodyPr>
          <a:lstStyle/>
          <a:p>
            <a:r>
              <a:rPr lang="en-US" sz="3200" b="1" dirty="0"/>
              <a:t>Application of AI</a:t>
            </a:r>
          </a:p>
          <a:p>
            <a:pPr marL="742950" lvl="1" indent="-285750">
              <a:lnSpc>
                <a:spcPct val="150000"/>
              </a:lnSpc>
              <a:buFont typeface="Arial" panose="020B0604020202020204" pitchFamily="34" charset="0"/>
              <a:buChar char="•"/>
            </a:pPr>
            <a:r>
              <a:rPr lang="en-US" sz="2400" dirty="0"/>
              <a:t>Gaming </a:t>
            </a:r>
          </a:p>
          <a:p>
            <a:pPr marL="742950" lvl="1" indent="-285750">
              <a:lnSpc>
                <a:spcPct val="150000"/>
              </a:lnSpc>
              <a:buFont typeface="Arial" panose="020B0604020202020204" pitchFamily="34" charset="0"/>
              <a:buChar char="•"/>
            </a:pPr>
            <a:r>
              <a:rPr lang="en-US" sz="2400" dirty="0"/>
              <a:t>Natural Language Processing</a:t>
            </a:r>
          </a:p>
          <a:p>
            <a:pPr marL="742950" lvl="1" indent="-285750">
              <a:lnSpc>
                <a:spcPct val="150000"/>
              </a:lnSpc>
              <a:buFont typeface="Arial" panose="020B0604020202020204" pitchFamily="34" charset="0"/>
              <a:buChar char="•"/>
            </a:pPr>
            <a:r>
              <a:rPr lang="en-US" sz="2400" dirty="0"/>
              <a:t>Expert Systems</a:t>
            </a:r>
          </a:p>
          <a:p>
            <a:pPr marL="742950" lvl="1" indent="-285750">
              <a:lnSpc>
                <a:spcPct val="150000"/>
              </a:lnSpc>
              <a:buFont typeface="Arial" panose="020B0604020202020204" pitchFamily="34" charset="0"/>
              <a:buChar char="•"/>
            </a:pPr>
            <a:r>
              <a:rPr lang="en-US" sz="2400" dirty="0"/>
              <a:t>Vision Systems</a:t>
            </a:r>
          </a:p>
          <a:p>
            <a:pPr marL="742950" lvl="1" indent="-285750">
              <a:lnSpc>
                <a:spcPct val="150000"/>
              </a:lnSpc>
              <a:buFont typeface="Arial" panose="020B0604020202020204" pitchFamily="34" charset="0"/>
              <a:buChar char="•"/>
            </a:pPr>
            <a:r>
              <a:rPr lang="en-US" sz="2400" dirty="0"/>
              <a:t>Speech Recognition </a:t>
            </a:r>
          </a:p>
          <a:p>
            <a:pPr marL="742950" lvl="1" indent="-285750">
              <a:lnSpc>
                <a:spcPct val="150000"/>
              </a:lnSpc>
              <a:buFont typeface="Arial" panose="020B0604020202020204" pitchFamily="34" charset="0"/>
              <a:buChar char="•"/>
            </a:pPr>
            <a:r>
              <a:rPr lang="en-US" sz="2400" dirty="0"/>
              <a:t>Handwriting Recognition </a:t>
            </a:r>
          </a:p>
          <a:p>
            <a:pPr marL="742950" lvl="1" indent="-285750">
              <a:lnSpc>
                <a:spcPct val="150000"/>
              </a:lnSpc>
              <a:buFont typeface="Arial" panose="020B0604020202020204" pitchFamily="34" charset="0"/>
              <a:buChar char="•"/>
            </a:pPr>
            <a:r>
              <a:rPr lang="en-US" sz="2400" dirty="0"/>
              <a:t>Intelligent Robots</a:t>
            </a:r>
          </a:p>
          <a:p>
            <a:pPr marL="742950" lvl="1" indent="-285750">
              <a:lnSpc>
                <a:spcPct val="150000"/>
              </a:lnSpc>
              <a:buFont typeface="Arial" panose="020B0604020202020204" pitchFamily="34" charset="0"/>
              <a:buChar char="•"/>
            </a:pPr>
            <a:r>
              <a:rPr lang="en-US" sz="2400" dirty="0"/>
              <a:t>Fuzzy Logic </a:t>
            </a:r>
            <a:endParaRPr lang="en-ZA" sz="2400" dirty="0"/>
          </a:p>
        </p:txBody>
      </p:sp>
      <p:pic>
        <p:nvPicPr>
          <p:cNvPr id="4" name="Picture 3">
            <a:extLst>
              <a:ext uri="{FF2B5EF4-FFF2-40B4-BE49-F238E27FC236}">
                <a16:creationId xmlns:a16="http://schemas.microsoft.com/office/drawing/2014/main" id="{C41F4BFE-EA43-4E20-95BD-9AD45EE55441}"/>
              </a:ext>
            </a:extLst>
          </p:cNvPr>
          <p:cNvPicPr>
            <a:picLocks noChangeAspect="1"/>
          </p:cNvPicPr>
          <p:nvPr/>
        </p:nvPicPr>
        <p:blipFill>
          <a:blip r:embed="rId2"/>
          <a:stretch>
            <a:fillRect/>
          </a:stretch>
        </p:blipFill>
        <p:spPr>
          <a:xfrm>
            <a:off x="5844207" y="1320051"/>
            <a:ext cx="5567341" cy="4405501"/>
          </a:xfrm>
          <a:prstGeom prst="rect">
            <a:avLst/>
          </a:prstGeom>
        </p:spPr>
      </p:pic>
    </p:spTree>
    <p:extLst>
      <p:ext uri="{BB962C8B-B14F-4D97-AF65-F5344CB8AC3E}">
        <p14:creationId xmlns:p14="http://schemas.microsoft.com/office/powerpoint/2010/main" val="291230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BA5EC2-0607-40AE-B9A3-4EE0097AE6D9}"/>
              </a:ext>
            </a:extLst>
          </p:cNvPr>
          <p:cNvSpPr txBox="1"/>
          <p:nvPr/>
        </p:nvSpPr>
        <p:spPr>
          <a:xfrm>
            <a:off x="874644" y="557455"/>
            <a:ext cx="6096000" cy="461665"/>
          </a:xfrm>
          <a:prstGeom prst="rect">
            <a:avLst/>
          </a:prstGeom>
          <a:noFill/>
        </p:spPr>
        <p:txBody>
          <a:bodyPr wrap="square">
            <a:spAutoFit/>
          </a:bodyPr>
          <a:lstStyle/>
          <a:p>
            <a:r>
              <a:rPr lang="en-ZA" sz="2400" b="1" dirty="0"/>
              <a:t>Artificial Intelligence - Neural Networks</a:t>
            </a:r>
          </a:p>
        </p:txBody>
      </p:sp>
      <p:sp>
        <p:nvSpPr>
          <p:cNvPr id="5" name="TextBox 4">
            <a:extLst>
              <a:ext uri="{FF2B5EF4-FFF2-40B4-BE49-F238E27FC236}">
                <a16:creationId xmlns:a16="http://schemas.microsoft.com/office/drawing/2014/main" id="{1F725BE8-4977-42E4-8FD5-337A98EE8CBC}"/>
              </a:ext>
            </a:extLst>
          </p:cNvPr>
          <p:cNvSpPr txBox="1"/>
          <p:nvPr/>
        </p:nvSpPr>
        <p:spPr>
          <a:xfrm>
            <a:off x="874643" y="1184199"/>
            <a:ext cx="10813773" cy="1231106"/>
          </a:xfrm>
          <a:prstGeom prst="rect">
            <a:avLst/>
          </a:prstGeom>
          <a:noFill/>
        </p:spPr>
        <p:txBody>
          <a:bodyPr wrap="square">
            <a:spAutoFit/>
          </a:bodyPr>
          <a:lstStyle/>
          <a:p>
            <a:r>
              <a:rPr lang="en-US" sz="2000" b="1" i="1" dirty="0"/>
              <a:t>What are Artificial Neural Networks (ANNs)?</a:t>
            </a:r>
          </a:p>
          <a:p>
            <a:r>
              <a:rPr lang="en-US" dirty="0"/>
              <a:t>The inventor of the first neurocomputer, Dr. Robert Hecht-Nielsen, defines a neural network as −</a:t>
            </a:r>
          </a:p>
          <a:p>
            <a:r>
              <a:rPr lang="en-US" dirty="0"/>
              <a:t>"...a computing system made up of a number of simple, highly interconnected processing elements, which process information by their dynamic state response to external inputs.”</a:t>
            </a:r>
          </a:p>
        </p:txBody>
      </p:sp>
      <p:sp>
        <p:nvSpPr>
          <p:cNvPr id="7" name="TextBox 6">
            <a:extLst>
              <a:ext uri="{FF2B5EF4-FFF2-40B4-BE49-F238E27FC236}">
                <a16:creationId xmlns:a16="http://schemas.microsoft.com/office/drawing/2014/main" id="{6B2D5F03-89C7-43F9-9C3F-26E1AE7F1A75}"/>
              </a:ext>
            </a:extLst>
          </p:cNvPr>
          <p:cNvSpPr txBox="1"/>
          <p:nvPr/>
        </p:nvSpPr>
        <p:spPr>
          <a:xfrm>
            <a:off x="874643" y="2415305"/>
            <a:ext cx="6096000" cy="400110"/>
          </a:xfrm>
          <a:prstGeom prst="rect">
            <a:avLst/>
          </a:prstGeom>
          <a:noFill/>
        </p:spPr>
        <p:txBody>
          <a:bodyPr wrap="square">
            <a:spAutoFit/>
          </a:bodyPr>
          <a:lstStyle/>
          <a:p>
            <a:r>
              <a:rPr lang="en-ZA" sz="2000" b="1" i="1" dirty="0"/>
              <a:t>Basic Structure of ANNs</a:t>
            </a:r>
          </a:p>
        </p:txBody>
      </p:sp>
      <p:sp>
        <p:nvSpPr>
          <p:cNvPr id="9" name="TextBox 8">
            <a:extLst>
              <a:ext uri="{FF2B5EF4-FFF2-40B4-BE49-F238E27FC236}">
                <a16:creationId xmlns:a16="http://schemas.microsoft.com/office/drawing/2014/main" id="{6C1EFD75-11EB-437B-A2B9-67B4A2DCCD84}"/>
              </a:ext>
            </a:extLst>
          </p:cNvPr>
          <p:cNvSpPr txBox="1"/>
          <p:nvPr/>
        </p:nvSpPr>
        <p:spPr>
          <a:xfrm>
            <a:off x="874642" y="2815415"/>
            <a:ext cx="5910471" cy="3693319"/>
          </a:xfrm>
          <a:prstGeom prst="rect">
            <a:avLst/>
          </a:prstGeom>
          <a:noFill/>
        </p:spPr>
        <p:txBody>
          <a:bodyPr wrap="square">
            <a:spAutoFit/>
          </a:bodyPr>
          <a:lstStyle/>
          <a:p>
            <a:pPr marL="742950" lvl="1" indent="-285750">
              <a:buFont typeface="Arial" panose="020B0604020202020204" pitchFamily="34" charset="0"/>
              <a:buChar char="•"/>
            </a:pPr>
            <a:r>
              <a:rPr lang="en-US" dirty="0"/>
              <a:t>Composed of multiple nodes, which imitate biological neurons of human brain. </a:t>
            </a:r>
          </a:p>
          <a:p>
            <a:pPr marL="742950" lvl="1" indent="-285750">
              <a:buFont typeface="Arial" panose="020B0604020202020204" pitchFamily="34" charset="0"/>
              <a:buChar char="•"/>
            </a:pPr>
            <a:r>
              <a:rPr lang="en-US" dirty="0"/>
              <a:t>The neurons are connected by links, and they interact with each other. </a:t>
            </a:r>
          </a:p>
          <a:p>
            <a:pPr marL="742950" lvl="1" indent="-285750">
              <a:buFont typeface="Arial" panose="020B0604020202020204" pitchFamily="34" charset="0"/>
              <a:buChar char="•"/>
            </a:pPr>
            <a:r>
              <a:rPr lang="en-US" dirty="0"/>
              <a:t>The nodes can take input data and perform simple operations on the data. </a:t>
            </a:r>
          </a:p>
          <a:p>
            <a:pPr marL="742950" lvl="1" indent="-285750">
              <a:buFont typeface="Arial" panose="020B0604020202020204" pitchFamily="34" charset="0"/>
              <a:buChar char="•"/>
            </a:pPr>
            <a:r>
              <a:rPr lang="en-US" dirty="0"/>
              <a:t>The result of these operations is passed to other neurons. </a:t>
            </a:r>
          </a:p>
          <a:p>
            <a:pPr marL="742950" lvl="1" indent="-285750">
              <a:buFont typeface="Arial" panose="020B0604020202020204" pitchFamily="34" charset="0"/>
              <a:buChar char="•"/>
            </a:pPr>
            <a:r>
              <a:rPr lang="en-US" dirty="0"/>
              <a:t>The output at each node is called its activation or node value.</a:t>
            </a:r>
          </a:p>
          <a:p>
            <a:pPr marL="742950" lvl="1" indent="-285750">
              <a:buFont typeface="Arial" panose="020B0604020202020204" pitchFamily="34" charset="0"/>
              <a:buChar char="•"/>
            </a:pPr>
            <a:r>
              <a:rPr lang="en-US" dirty="0"/>
              <a:t>Each link is associated with weight. </a:t>
            </a:r>
          </a:p>
          <a:p>
            <a:pPr marL="742950" lvl="1" indent="-285750">
              <a:buFont typeface="Arial" panose="020B0604020202020204" pitchFamily="34" charset="0"/>
              <a:buChar char="•"/>
            </a:pPr>
            <a:r>
              <a:rPr lang="en-US" dirty="0"/>
              <a:t>ANNs are capable of learning, which takes place by altering weight values. </a:t>
            </a:r>
          </a:p>
        </p:txBody>
      </p:sp>
      <p:pic>
        <p:nvPicPr>
          <p:cNvPr id="10" name="Picture 9">
            <a:extLst>
              <a:ext uri="{FF2B5EF4-FFF2-40B4-BE49-F238E27FC236}">
                <a16:creationId xmlns:a16="http://schemas.microsoft.com/office/drawing/2014/main" id="{278C1B1B-58B5-4A4D-919B-91147194B996}"/>
              </a:ext>
            </a:extLst>
          </p:cNvPr>
          <p:cNvPicPr>
            <a:picLocks noChangeAspect="1"/>
          </p:cNvPicPr>
          <p:nvPr/>
        </p:nvPicPr>
        <p:blipFill>
          <a:blip r:embed="rId2"/>
          <a:stretch>
            <a:fillRect/>
          </a:stretch>
        </p:blipFill>
        <p:spPr>
          <a:xfrm>
            <a:off x="7174485" y="2977236"/>
            <a:ext cx="4142873" cy="3232831"/>
          </a:xfrm>
          <a:prstGeom prst="rect">
            <a:avLst/>
          </a:prstGeom>
        </p:spPr>
      </p:pic>
      <p:sp>
        <p:nvSpPr>
          <p:cNvPr id="12" name="TextBox 11">
            <a:extLst>
              <a:ext uri="{FF2B5EF4-FFF2-40B4-BE49-F238E27FC236}">
                <a16:creationId xmlns:a16="http://schemas.microsoft.com/office/drawing/2014/main" id="{953C0CD8-ADCB-49F8-B3D1-8FD15ED7A008}"/>
              </a:ext>
            </a:extLst>
          </p:cNvPr>
          <p:cNvSpPr txBox="1"/>
          <p:nvPr/>
        </p:nvSpPr>
        <p:spPr>
          <a:xfrm>
            <a:off x="7174485" y="2492249"/>
            <a:ext cx="4659706" cy="369332"/>
          </a:xfrm>
          <a:prstGeom prst="rect">
            <a:avLst/>
          </a:prstGeom>
          <a:noFill/>
        </p:spPr>
        <p:txBody>
          <a:bodyPr wrap="square">
            <a:spAutoFit/>
          </a:bodyPr>
          <a:lstStyle/>
          <a:p>
            <a:r>
              <a:rPr lang="en-US" b="1" dirty="0"/>
              <a:t>The following illustration shows a simple ANN </a:t>
            </a:r>
          </a:p>
        </p:txBody>
      </p:sp>
    </p:spTree>
    <p:extLst>
      <p:ext uri="{BB962C8B-B14F-4D97-AF65-F5344CB8AC3E}">
        <p14:creationId xmlns:p14="http://schemas.microsoft.com/office/powerpoint/2010/main" val="2177881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5C9FDD-14AB-41B8-B321-B2CB76DB258B}"/>
              </a:ext>
            </a:extLst>
          </p:cNvPr>
          <p:cNvSpPr txBox="1"/>
          <p:nvPr/>
        </p:nvSpPr>
        <p:spPr>
          <a:xfrm>
            <a:off x="1046921" y="623717"/>
            <a:ext cx="6096000" cy="461665"/>
          </a:xfrm>
          <a:prstGeom prst="rect">
            <a:avLst/>
          </a:prstGeom>
          <a:noFill/>
        </p:spPr>
        <p:txBody>
          <a:bodyPr wrap="square">
            <a:spAutoFit/>
          </a:bodyPr>
          <a:lstStyle/>
          <a:p>
            <a:r>
              <a:rPr lang="en-US" sz="2400" b="1" dirty="0"/>
              <a:t>Types of Artificial Neural Networks</a:t>
            </a:r>
            <a:endParaRPr lang="en-ZA" sz="2400" b="1" dirty="0"/>
          </a:p>
        </p:txBody>
      </p:sp>
      <p:sp>
        <p:nvSpPr>
          <p:cNvPr id="5" name="TextBox 4">
            <a:extLst>
              <a:ext uri="{FF2B5EF4-FFF2-40B4-BE49-F238E27FC236}">
                <a16:creationId xmlns:a16="http://schemas.microsoft.com/office/drawing/2014/main" id="{F5E54820-E504-4B0F-862E-C296F491C7FF}"/>
              </a:ext>
            </a:extLst>
          </p:cNvPr>
          <p:cNvSpPr txBox="1"/>
          <p:nvPr/>
        </p:nvSpPr>
        <p:spPr>
          <a:xfrm>
            <a:off x="2186608" y="1309456"/>
            <a:ext cx="2716696" cy="400110"/>
          </a:xfrm>
          <a:prstGeom prst="rect">
            <a:avLst/>
          </a:prstGeom>
          <a:noFill/>
        </p:spPr>
        <p:txBody>
          <a:bodyPr wrap="square">
            <a:spAutoFit/>
          </a:bodyPr>
          <a:lstStyle/>
          <a:p>
            <a:r>
              <a:rPr lang="en-ZA" sz="2000" b="1" i="1" dirty="0" err="1"/>
              <a:t>FeedForward</a:t>
            </a:r>
            <a:r>
              <a:rPr lang="en-ZA" sz="2000" b="1" i="1" dirty="0"/>
              <a:t> ANN</a:t>
            </a:r>
          </a:p>
        </p:txBody>
      </p:sp>
      <p:pic>
        <p:nvPicPr>
          <p:cNvPr id="6" name="Picture 5">
            <a:extLst>
              <a:ext uri="{FF2B5EF4-FFF2-40B4-BE49-F238E27FC236}">
                <a16:creationId xmlns:a16="http://schemas.microsoft.com/office/drawing/2014/main" id="{CFB9CBC9-6487-43C4-8C15-97D67C2652DF}"/>
              </a:ext>
            </a:extLst>
          </p:cNvPr>
          <p:cNvPicPr>
            <a:picLocks noChangeAspect="1"/>
          </p:cNvPicPr>
          <p:nvPr/>
        </p:nvPicPr>
        <p:blipFill>
          <a:blip r:embed="rId2"/>
          <a:stretch>
            <a:fillRect/>
          </a:stretch>
        </p:blipFill>
        <p:spPr>
          <a:xfrm>
            <a:off x="901148" y="1933641"/>
            <a:ext cx="4982817" cy="3614902"/>
          </a:xfrm>
          <a:prstGeom prst="rect">
            <a:avLst/>
          </a:prstGeom>
        </p:spPr>
      </p:pic>
      <p:sp>
        <p:nvSpPr>
          <p:cNvPr id="8" name="TextBox 7">
            <a:extLst>
              <a:ext uri="{FF2B5EF4-FFF2-40B4-BE49-F238E27FC236}">
                <a16:creationId xmlns:a16="http://schemas.microsoft.com/office/drawing/2014/main" id="{EEB8E640-49D8-41BD-B02C-4D797D2D66F8}"/>
              </a:ext>
            </a:extLst>
          </p:cNvPr>
          <p:cNvSpPr txBox="1"/>
          <p:nvPr/>
        </p:nvSpPr>
        <p:spPr>
          <a:xfrm>
            <a:off x="7434470" y="1309456"/>
            <a:ext cx="2067339" cy="400110"/>
          </a:xfrm>
          <a:prstGeom prst="rect">
            <a:avLst/>
          </a:prstGeom>
          <a:noFill/>
        </p:spPr>
        <p:txBody>
          <a:bodyPr wrap="square">
            <a:spAutoFit/>
          </a:bodyPr>
          <a:lstStyle/>
          <a:p>
            <a:r>
              <a:rPr lang="en-ZA" sz="2000" b="1" i="1" dirty="0" err="1"/>
              <a:t>FeedBack</a:t>
            </a:r>
            <a:r>
              <a:rPr lang="en-ZA" sz="2000" b="1" i="1" dirty="0"/>
              <a:t> ANN</a:t>
            </a:r>
          </a:p>
        </p:txBody>
      </p:sp>
      <p:pic>
        <p:nvPicPr>
          <p:cNvPr id="9" name="Picture 8">
            <a:extLst>
              <a:ext uri="{FF2B5EF4-FFF2-40B4-BE49-F238E27FC236}">
                <a16:creationId xmlns:a16="http://schemas.microsoft.com/office/drawing/2014/main" id="{F059B354-7CD7-4723-B4E3-593552259B34}"/>
              </a:ext>
            </a:extLst>
          </p:cNvPr>
          <p:cNvPicPr>
            <a:picLocks noChangeAspect="1"/>
          </p:cNvPicPr>
          <p:nvPr/>
        </p:nvPicPr>
        <p:blipFill>
          <a:blip r:embed="rId3"/>
          <a:stretch>
            <a:fillRect/>
          </a:stretch>
        </p:blipFill>
        <p:spPr>
          <a:xfrm>
            <a:off x="6715387" y="1864066"/>
            <a:ext cx="3505504" cy="3684477"/>
          </a:xfrm>
          <a:prstGeom prst="rect">
            <a:avLst/>
          </a:prstGeom>
        </p:spPr>
      </p:pic>
    </p:spTree>
    <p:extLst>
      <p:ext uri="{BB962C8B-B14F-4D97-AF65-F5344CB8AC3E}">
        <p14:creationId xmlns:p14="http://schemas.microsoft.com/office/powerpoint/2010/main" val="311359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CFC45F-9A14-4A12-BF4E-D5569DC3D93C}"/>
              </a:ext>
            </a:extLst>
          </p:cNvPr>
          <p:cNvSpPr txBox="1"/>
          <p:nvPr/>
        </p:nvSpPr>
        <p:spPr>
          <a:xfrm>
            <a:off x="781878" y="714292"/>
            <a:ext cx="9395792" cy="584775"/>
          </a:xfrm>
          <a:prstGeom prst="rect">
            <a:avLst/>
          </a:prstGeom>
          <a:noFill/>
        </p:spPr>
        <p:txBody>
          <a:bodyPr wrap="square">
            <a:spAutoFit/>
          </a:bodyPr>
          <a:lstStyle/>
          <a:p>
            <a:r>
              <a:rPr lang="en-US" sz="3200" b="1" dirty="0"/>
              <a:t>History of AI</a:t>
            </a:r>
          </a:p>
        </p:txBody>
      </p:sp>
      <p:graphicFrame>
        <p:nvGraphicFramePr>
          <p:cNvPr id="4" name="Table 3">
            <a:extLst>
              <a:ext uri="{FF2B5EF4-FFF2-40B4-BE49-F238E27FC236}">
                <a16:creationId xmlns:a16="http://schemas.microsoft.com/office/drawing/2014/main" id="{D847DF4F-AB69-420E-A492-809E2AB6DABE}"/>
              </a:ext>
            </a:extLst>
          </p:cNvPr>
          <p:cNvGraphicFramePr>
            <a:graphicFrameLocks noGrp="1"/>
          </p:cNvGraphicFramePr>
          <p:nvPr>
            <p:extLst>
              <p:ext uri="{D42A27DB-BD31-4B8C-83A1-F6EECF244321}">
                <p14:modId xmlns:p14="http://schemas.microsoft.com/office/powerpoint/2010/main" val="1729079859"/>
              </p:ext>
            </p:extLst>
          </p:nvPr>
        </p:nvGraphicFramePr>
        <p:xfrm>
          <a:off x="1758462" y="1815548"/>
          <a:ext cx="9509760" cy="4328160"/>
        </p:xfrm>
        <a:graphic>
          <a:graphicData uri="http://schemas.openxmlformats.org/drawingml/2006/table">
            <a:tbl>
              <a:tblPr firstRow="1" firstCol="1" bandRow="1">
                <a:tableStyleId>{5C22544A-7EE6-4342-B048-85BDC9FD1C3A}</a:tableStyleId>
              </a:tblPr>
              <a:tblGrid>
                <a:gridCol w="4754880">
                  <a:extLst>
                    <a:ext uri="{9D8B030D-6E8A-4147-A177-3AD203B41FA5}">
                      <a16:colId xmlns:a16="http://schemas.microsoft.com/office/drawing/2014/main" val="1378254169"/>
                    </a:ext>
                  </a:extLst>
                </a:gridCol>
                <a:gridCol w="4754880">
                  <a:extLst>
                    <a:ext uri="{9D8B030D-6E8A-4147-A177-3AD203B41FA5}">
                      <a16:colId xmlns:a16="http://schemas.microsoft.com/office/drawing/2014/main" val="4259726407"/>
                    </a:ext>
                  </a:extLst>
                </a:gridCol>
              </a:tblGrid>
              <a:tr h="1943160">
                <a:tc>
                  <a:txBody>
                    <a:bodyPr/>
                    <a:lstStyle/>
                    <a:p>
                      <a:pPr algn="ctr">
                        <a:lnSpc>
                          <a:spcPct val="107000"/>
                        </a:lnSpc>
                        <a:spcAft>
                          <a:spcPts val="800"/>
                        </a:spcAft>
                      </a:pPr>
                      <a:r>
                        <a:rPr lang="en-ZA" sz="2400" dirty="0">
                          <a:effectLst/>
                        </a:rPr>
                        <a:t>1950</a:t>
                      </a:r>
                      <a:endParaRPr lang="en-Z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marL="30480" marR="30480" algn="just">
                        <a:lnSpc>
                          <a:spcPct val="100000"/>
                        </a:lnSpc>
                        <a:spcBef>
                          <a:spcPts val="600"/>
                        </a:spcBef>
                        <a:spcAft>
                          <a:spcPts val="720"/>
                        </a:spcAft>
                      </a:pPr>
                      <a:r>
                        <a:rPr lang="en-ZA" sz="2400" dirty="0">
                          <a:effectLst/>
                        </a:rPr>
                        <a:t>Alan Turing introduced Turing Test for evaluation of intelligence and published Computing Machinery and Intelligence. Claude Shannon published Detailed Analysis of Chess Playing as a search.</a:t>
                      </a:r>
                      <a:endParaRPr lang="en-Z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500480026"/>
                  </a:ext>
                </a:extLst>
              </a:tr>
              <a:tr h="1366091">
                <a:tc>
                  <a:txBody>
                    <a:bodyPr/>
                    <a:lstStyle/>
                    <a:p>
                      <a:pPr algn="ctr">
                        <a:lnSpc>
                          <a:spcPct val="107000"/>
                        </a:lnSpc>
                        <a:spcAft>
                          <a:spcPts val="800"/>
                        </a:spcAft>
                      </a:pPr>
                      <a:r>
                        <a:rPr lang="en-ZA" sz="2400">
                          <a:effectLst/>
                        </a:rPr>
                        <a:t>1956</a:t>
                      </a:r>
                      <a:endParaRPr lang="en-ZA"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marL="30480" marR="30480" algn="just">
                        <a:lnSpc>
                          <a:spcPct val="100000"/>
                        </a:lnSpc>
                        <a:spcBef>
                          <a:spcPts val="600"/>
                        </a:spcBef>
                        <a:spcAft>
                          <a:spcPts val="720"/>
                        </a:spcAft>
                      </a:pPr>
                      <a:r>
                        <a:rPr lang="en-ZA" sz="2400" dirty="0">
                          <a:effectLst/>
                        </a:rPr>
                        <a:t>John McCarthy coined the term Artificial Intelligence. Demonstration of the first running AI program at Carnegie Mellon University.</a:t>
                      </a:r>
                      <a:endParaRPr lang="en-Z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020729710"/>
                  </a:ext>
                </a:extLst>
              </a:tr>
            </a:tbl>
          </a:graphicData>
        </a:graphic>
      </p:graphicFrame>
    </p:spTree>
    <p:extLst>
      <p:ext uri="{BB962C8B-B14F-4D97-AF65-F5344CB8AC3E}">
        <p14:creationId xmlns:p14="http://schemas.microsoft.com/office/powerpoint/2010/main" val="224946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D2DAEE-405A-4B0E-9C5F-750D3D692319}"/>
              </a:ext>
            </a:extLst>
          </p:cNvPr>
          <p:cNvSpPr txBox="1"/>
          <p:nvPr/>
        </p:nvSpPr>
        <p:spPr>
          <a:xfrm>
            <a:off x="1046922" y="597212"/>
            <a:ext cx="6096000" cy="584775"/>
          </a:xfrm>
          <a:prstGeom prst="rect">
            <a:avLst/>
          </a:prstGeom>
          <a:noFill/>
        </p:spPr>
        <p:txBody>
          <a:bodyPr wrap="square">
            <a:spAutoFit/>
          </a:bodyPr>
          <a:lstStyle/>
          <a:p>
            <a:r>
              <a:rPr lang="en-US" sz="3200" b="1" dirty="0"/>
              <a:t>What is Intelligence Composed of?</a:t>
            </a:r>
            <a:endParaRPr lang="en-ZA" sz="3200" b="1" dirty="0"/>
          </a:p>
        </p:txBody>
      </p:sp>
      <p:sp>
        <p:nvSpPr>
          <p:cNvPr id="5" name="TextBox 4">
            <a:extLst>
              <a:ext uri="{FF2B5EF4-FFF2-40B4-BE49-F238E27FC236}">
                <a16:creationId xmlns:a16="http://schemas.microsoft.com/office/drawing/2014/main" id="{415D2009-5002-472D-A133-BE4A1D34C8FB}"/>
              </a:ext>
            </a:extLst>
          </p:cNvPr>
          <p:cNvSpPr txBox="1"/>
          <p:nvPr/>
        </p:nvSpPr>
        <p:spPr>
          <a:xfrm>
            <a:off x="1046922" y="1362454"/>
            <a:ext cx="7620000" cy="2308324"/>
          </a:xfrm>
          <a:prstGeom prst="rect">
            <a:avLst/>
          </a:prstGeom>
          <a:noFill/>
        </p:spPr>
        <p:txBody>
          <a:bodyPr wrap="square">
            <a:spAutoFit/>
          </a:bodyPr>
          <a:lstStyle/>
          <a:p>
            <a:r>
              <a:rPr lang="en-US" sz="2400" dirty="0"/>
              <a:t>The intelligence is intangible. It is composed of </a:t>
            </a:r>
          </a:p>
          <a:p>
            <a:pPr marL="742950" lvl="1" indent="-285750">
              <a:buFont typeface="Arial" panose="020B0604020202020204" pitchFamily="34" charset="0"/>
              <a:buChar char="•"/>
            </a:pPr>
            <a:r>
              <a:rPr lang="en-US" sz="2400" dirty="0"/>
              <a:t>Reasoning</a:t>
            </a:r>
          </a:p>
          <a:p>
            <a:pPr marL="742950" lvl="1" indent="-285750">
              <a:buFont typeface="Arial" panose="020B0604020202020204" pitchFamily="34" charset="0"/>
              <a:buChar char="•"/>
            </a:pPr>
            <a:r>
              <a:rPr lang="en-US" sz="2400" dirty="0"/>
              <a:t>Learning</a:t>
            </a:r>
          </a:p>
          <a:p>
            <a:pPr marL="742950" lvl="1" indent="-285750">
              <a:buFont typeface="Arial" panose="020B0604020202020204" pitchFamily="34" charset="0"/>
              <a:buChar char="•"/>
            </a:pPr>
            <a:r>
              <a:rPr lang="en-US" sz="2400" dirty="0"/>
              <a:t>Problem Solving</a:t>
            </a:r>
          </a:p>
          <a:p>
            <a:pPr marL="742950" lvl="1" indent="-285750">
              <a:buFont typeface="Arial" panose="020B0604020202020204" pitchFamily="34" charset="0"/>
              <a:buChar char="•"/>
            </a:pPr>
            <a:r>
              <a:rPr lang="en-US" sz="2400" dirty="0"/>
              <a:t>Perception</a:t>
            </a:r>
          </a:p>
          <a:p>
            <a:pPr marL="742950" lvl="1" indent="-285750">
              <a:buFont typeface="Arial" panose="020B0604020202020204" pitchFamily="34" charset="0"/>
              <a:buChar char="•"/>
            </a:pPr>
            <a:r>
              <a:rPr lang="en-US" sz="2400" dirty="0"/>
              <a:t>Linguistic Intelligence</a:t>
            </a:r>
          </a:p>
        </p:txBody>
      </p:sp>
      <p:pic>
        <p:nvPicPr>
          <p:cNvPr id="6" name="Picture 5">
            <a:extLst>
              <a:ext uri="{FF2B5EF4-FFF2-40B4-BE49-F238E27FC236}">
                <a16:creationId xmlns:a16="http://schemas.microsoft.com/office/drawing/2014/main" id="{1DCB8E64-F55C-4297-A564-5E7A70380512}"/>
              </a:ext>
            </a:extLst>
          </p:cNvPr>
          <p:cNvPicPr>
            <a:picLocks noChangeAspect="1"/>
          </p:cNvPicPr>
          <p:nvPr/>
        </p:nvPicPr>
        <p:blipFill>
          <a:blip r:embed="rId2"/>
          <a:stretch>
            <a:fillRect/>
          </a:stretch>
        </p:blipFill>
        <p:spPr>
          <a:xfrm>
            <a:off x="4856922" y="2067952"/>
            <a:ext cx="6875533" cy="3626874"/>
          </a:xfrm>
          <a:prstGeom prst="rect">
            <a:avLst/>
          </a:prstGeom>
        </p:spPr>
      </p:pic>
    </p:spTree>
    <p:extLst>
      <p:ext uri="{BB962C8B-B14F-4D97-AF65-F5344CB8AC3E}">
        <p14:creationId xmlns:p14="http://schemas.microsoft.com/office/powerpoint/2010/main" val="102095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17309-FDC2-49E3-89A5-31942E4A2BDD}"/>
              </a:ext>
            </a:extLst>
          </p:cNvPr>
          <p:cNvSpPr txBox="1"/>
          <p:nvPr/>
        </p:nvSpPr>
        <p:spPr>
          <a:xfrm>
            <a:off x="569843" y="558752"/>
            <a:ext cx="11383618" cy="880369"/>
          </a:xfrm>
          <a:prstGeom prst="rect">
            <a:avLst/>
          </a:prstGeom>
          <a:noFill/>
        </p:spPr>
        <p:txBody>
          <a:bodyPr wrap="square">
            <a:spAutoFit/>
          </a:bodyPr>
          <a:lstStyle/>
          <a:p>
            <a:pPr>
              <a:lnSpc>
                <a:spcPct val="150000"/>
              </a:lnSpc>
            </a:pPr>
            <a:r>
              <a:rPr lang="en-US" dirty="0"/>
              <a:t>• </a:t>
            </a:r>
            <a:r>
              <a:rPr lang="en-US" b="1" dirty="0"/>
              <a:t>Reasoning</a:t>
            </a:r>
            <a:r>
              <a:rPr lang="en-US" dirty="0"/>
              <a:t> − It is the set of processes that enables us to provide basis for judgement, making decisions, and prediction. </a:t>
            </a:r>
          </a:p>
          <a:p>
            <a:pPr>
              <a:lnSpc>
                <a:spcPct val="150000"/>
              </a:lnSpc>
            </a:pPr>
            <a:r>
              <a:rPr lang="en-US" dirty="0"/>
              <a:t>	</a:t>
            </a:r>
            <a:endParaRPr lang="en-ZA" dirty="0"/>
          </a:p>
        </p:txBody>
      </p:sp>
      <p:sp>
        <p:nvSpPr>
          <p:cNvPr id="5" name="TextBox 4">
            <a:extLst>
              <a:ext uri="{FF2B5EF4-FFF2-40B4-BE49-F238E27FC236}">
                <a16:creationId xmlns:a16="http://schemas.microsoft.com/office/drawing/2014/main" id="{5AAEAFAF-C461-4B44-AD00-3645617781BC}"/>
              </a:ext>
            </a:extLst>
          </p:cNvPr>
          <p:cNvSpPr txBox="1"/>
          <p:nvPr/>
        </p:nvSpPr>
        <p:spPr>
          <a:xfrm>
            <a:off x="768625" y="1254455"/>
            <a:ext cx="11065565" cy="369332"/>
          </a:xfrm>
          <a:prstGeom prst="rect">
            <a:avLst/>
          </a:prstGeom>
          <a:noFill/>
        </p:spPr>
        <p:txBody>
          <a:bodyPr wrap="square">
            <a:spAutoFit/>
          </a:bodyPr>
          <a:lstStyle/>
          <a:p>
            <a:r>
              <a:rPr lang="en-US" dirty="0"/>
              <a:t>There are broadly two types :</a:t>
            </a:r>
            <a:endParaRPr lang="en-ZA" dirty="0"/>
          </a:p>
        </p:txBody>
      </p:sp>
      <p:graphicFrame>
        <p:nvGraphicFramePr>
          <p:cNvPr id="7" name="Table 6">
            <a:extLst>
              <a:ext uri="{FF2B5EF4-FFF2-40B4-BE49-F238E27FC236}">
                <a16:creationId xmlns:a16="http://schemas.microsoft.com/office/drawing/2014/main" id="{3FE510F7-21B9-4DB2-A89A-F95E781E5659}"/>
              </a:ext>
            </a:extLst>
          </p:cNvPr>
          <p:cNvGraphicFramePr>
            <a:graphicFrameLocks noGrp="1"/>
          </p:cNvGraphicFramePr>
          <p:nvPr>
            <p:extLst>
              <p:ext uri="{D42A27DB-BD31-4B8C-83A1-F6EECF244321}">
                <p14:modId xmlns:p14="http://schemas.microsoft.com/office/powerpoint/2010/main" val="3247557747"/>
              </p:ext>
            </p:extLst>
          </p:nvPr>
        </p:nvGraphicFramePr>
        <p:xfrm>
          <a:off x="1484244" y="1736035"/>
          <a:ext cx="9011478" cy="3913826"/>
        </p:xfrm>
        <a:graphic>
          <a:graphicData uri="http://schemas.openxmlformats.org/drawingml/2006/table">
            <a:tbl>
              <a:tblPr firstRow="1" firstCol="1" bandRow="1"/>
              <a:tblGrid>
                <a:gridCol w="4871504">
                  <a:extLst>
                    <a:ext uri="{9D8B030D-6E8A-4147-A177-3AD203B41FA5}">
                      <a16:colId xmlns:a16="http://schemas.microsoft.com/office/drawing/2014/main" val="782979901"/>
                    </a:ext>
                  </a:extLst>
                </a:gridCol>
                <a:gridCol w="4139974">
                  <a:extLst>
                    <a:ext uri="{9D8B030D-6E8A-4147-A177-3AD203B41FA5}">
                      <a16:colId xmlns:a16="http://schemas.microsoft.com/office/drawing/2014/main" val="3350903963"/>
                    </a:ext>
                  </a:extLst>
                </a:gridCol>
              </a:tblGrid>
              <a:tr h="450480">
                <a:tc>
                  <a:txBody>
                    <a:bodyPr/>
                    <a:lstStyle/>
                    <a:p>
                      <a:pPr algn="ctr">
                        <a:lnSpc>
                          <a:spcPct val="107000"/>
                        </a:lnSpc>
                        <a:spcAft>
                          <a:spcPts val="1500"/>
                        </a:spcAft>
                      </a:pPr>
                      <a:r>
                        <a:rPr lang="en-ZA" sz="1400" b="1" dirty="0">
                          <a:effectLst/>
                          <a:latin typeface="Arial" panose="020B0604020202020204" pitchFamily="34" charset="0"/>
                          <a:ea typeface="Times New Roman" panose="02020603050405020304" pitchFamily="18" charset="0"/>
                          <a:cs typeface="Times New Roman" panose="02020603050405020304" pitchFamily="18" charset="0"/>
                        </a:rPr>
                        <a:t>Inductive </a:t>
                      </a:r>
                      <a:r>
                        <a:rPr lang="en-ZA"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Reasoning</a:t>
                      </a:r>
                      <a:endParaRPr lang="en-Z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ZA"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Deductive Reasoning</a:t>
                      </a:r>
                      <a:endParaRPr lang="en-ZA"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030204581"/>
                  </a:ext>
                </a:extLst>
              </a:tr>
              <a:tr h="779439">
                <a:tc>
                  <a:txBody>
                    <a:bodyPr/>
                    <a:lstStyle/>
                    <a:p>
                      <a:pPr>
                        <a:lnSpc>
                          <a:spcPct val="107000"/>
                        </a:lnSpc>
                        <a:spcAft>
                          <a:spcPts val="1500"/>
                        </a:spcAft>
                      </a:pPr>
                      <a:r>
                        <a:rPr lang="en-ZA" sz="1400" dirty="0">
                          <a:effectLst/>
                          <a:latin typeface="Arial" panose="020B0604020202020204" pitchFamily="34" charset="0"/>
                          <a:ea typeface="Times New Roman" panose="02020603050405020304" pitchFamily="18" charset="0"/>
                          <a:cs typeface="Times New Roman" panose="02020603050405020304" pitchFamily="18" charset="0"/>
                        </a:rPr>
                        <a:t>It conducts specific observations to makes broad general statements.</a:t>
                      </a:r>
                      <a:endParaRPr lang="en-Z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1500"/>
                        </a:spcAft>
                      </a:pPr>
                      <a:r>
                        <a:rPr lang="en-ZA" sz="1400">
                          <a:effectLst/>
                          <a:latin typeface="Arial" panose="020B0604020202020204" pitchFamily="34" charset="0"/>
                          <a:ea typeface="Times New Roman" panose="02020603050405020304" pitchFamily="18" charset="0"/>
                          <a:cs typeface="Times New Roman" panose="02020603050405020304" pitchFamily="18" charset="0"/>
                        </a:rPr>
                        <a:t>It starts with a general statement and examines the possibilities to reach a specific, logical conclusion.</a:t>
                      </a:r>
                      <a:endParaRPr lang="en-ZA"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9526662"/>
                  </a:ext>
                </a:extLst>
              </a:tr>
              <a:tr h="1108651">
                <a:tc>
                  <a:txBody>
                    <a:bodyPr/>
                    <a:lstStyle/>
                    <a:p>
                      <a:pPr>
                        <a:lnSpc>
                          <a:spcPct val="107000"/>
                        </a:lnSpc>
                        <a:spcAft>
                          <a:spcPts val="1500"/>
                        </a:spcAft>
                      </a:pPr>
                      <a:r>
                        <a:rPr lang="en-ZA" sz="1400">
                          <a:effectLst/>
                          <a:latin typeface="Arial" panose="020B0604020202020204" pitchFamily="34" charset="0"/>
                          <a:ea typeface="Times New Roman" panose="02020603050405020304" pitchFamily="18" charset="0"/>
                          <a:cs typeface="Times New Roman" panose="02020603050405020304" pitchFamily="18" charset="0"/>
                        </a:rPr>
                        <a:t>Even if all of the premises are true in a statement, inductive reasoning allows for the conclusion to be false.</a:t>
                      </a:r>
                      <a:endParaRPr lang="en-ZA"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1500"/>
                        </a:spcAft>
                      </a:pPr>
                      <a:r>
                        <a:rPr lang="en-ZA" sz="1400" dirty="0">
                          <a:effectLst/>
                          <a:latin typeface="Arial" panose="020B0604020202020204" pitchFamily="34" charset="0"/>
                          <a:ea typeface="Times New Roman" panose="02020603050405020304" pitchFamily="18" charset="0"/>
                          <a:cs typeface="Times New Roman" panose="02020603050405020304" pitchFamily="18" charset="0"/>
                        </a:rPr>
                        <a:t>If something is true of a class of things in general, it is also true for all members of that class.</a:t>
                      </a:r>
                      <a:endParaRPr lang="en-Z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28744689"/>
                  </a:ext>
                </a:extLst>
              </a:tr>
              <a:tr h="1528941">
                <a:tc>
                  <a:txBody>
                    <a:bodyPr/>
                    <a:lstStyle/>
                    <a:p>
                      <a:pPr>
                        <a:lnSpc>
                          <a:spcPct val="107000"/>
                        </a:lnSpc>
                        <a:spcAft>
                          <a:spcPts val="1500"/>
                        </a:spcAft>
                      </a:pPr>
                      <a:r>
                        <a:rPr lang="en-ZA" sz="1400">
                          <a:effectLst/>
                          <a:latin typeface="Arial" panose="020B0604020202020204" pitchFamily="34" charset="0"/>
                          <a:ea typeface="Times New Roman" panose="02020603050405020304" pitchFamily="18" charset="0"/>
                          <a:cs typeface="Times New Roman" panose="02020603050405020304" pitchFamily="18" charset="0"/>
                        </a:rPr>
                        <a:t>Example − "Nita is a teacher. Nita is studious. Therefore, All teachers are studious."</a:t>
                      </a:r>
                      <a:endParaRPr lang="en-ZA"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nSpc>
                          <a:spcPct val="107000"/>
                        </a:lnSpc>
                        <a:spcAft>
                          <a:spcPts val="1500"/>
                        </a:spcAft>
                      </a:pPr>
                      <a:r>
                        <a:rPr lang="en-ZA" sz="1400" dirty="0">
                          <a:effectLst/>
                          <a:latin typeface="Arial" panose="020B0604020202020204" pitchFamily="34" charset="0"/>
                          <a:ea typeface="Times New Roman" panose="02020603050405020304" pitchFamily="18" charset="0"/>
                          <a:cs typeface="Times New Roman" panose="02020603050405020304" pitchFamily="18" charset="0"/>
                        </a:rPr>
                        <a:t>Example − "All women of age above 60 years are grandmothers. Shalini is 65 years. Therefore, Shalini is a grandmother."</a:t>
                      </a:r>
                      <a:endParaRPr lang="en-Z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21724295"/>
                  </a:ext>
                </a:extLst>
              </a:tr>
            </a:tbl>
          </a:graphicData>
        </a:graphic>
      </p:graphicFrame>
    </p:spTree>
    <p:extLst>
      <p:ext uri="{BB962C8B-B14F-4D97-AF65-F5344CB8AC3E}">
        <p14:creationId xmlns:p14="http://schemas.microsoft.com/office/powerpoint/2010/main" val="47741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B684CE-CB35-4999-BB70-93847F0A9ABB}"/>
              </a:ext>
            </a:extLst>
          </p:cNvPr>
          <p:cNvSpPr txBox="1"/>
          <p:nvPr/>
        </p:nvSpPr>
        <p:spPr>
          <a:xfrm>
            <a:off x="616532" y="323614"/>
            <a:ext cx="10694504" cy="1692771"/>
          </a:xfrm>
          <a:prstGeom prst="rect">
            <a:avLst/>
          </a:prstGeom>
          <a:noFill/>
        </p:spPr>
        <p:txBody>
          <a:bodyPr wrap="square">
            <a:spAutoFit/>
          </a:bodyPr>
          <a:lstStyle/>
          <a:p>
            <a:r>
              <a:rPr lang="en-US" sz="3200" b="1" dirty="0"/>
              <a:t>AI - Agents &amp; Environments</a:t>
            </a:r>
          </a:p>
          <a:p>
            <a:pPr marL="742950" lvl="1" indent="-285750">
              <a:buFont typeface="Arial" panose="020B0604020202020204" pitchFamily="34" charset="0"/>
              <a:buChar char="•"/>
            </a:pPr>
            <a:r>
              <a:rPr lang="en-US" sz="2400" dirty="0"/>
              <a:t>An AI system is composed of an agent and its environment. </a:t>
            </a:r>
          </a:p>
          <a:p>
            <a:pPr marL="742950" lvl="1" indent="-285750">
              <a:buFont typeface="Arial" panose="020B0604020202020204" pitchFamily="34" charset="0"/>
              <a:buChar char="•"/>
            </a:pPr>
            <a:r>
              <a:rPr lang="en-US" sz="2400" dirty="0"/>
              <a:t>The agents act in their environment. </a:t>
            </a:r>
          </a:p>
          <a:p>
            <a:pPr marL="742950" lvl="1" indent="-285750">
              <a:buFont typeface="Arial" panose="020B0604020202020204" pitchFamily="34" charset="0"/>
              <a:buChar char="•"/>
            </a:pPr>
            <a:r>
              <a:rPr lang="en-US" sz="2400" dirty="0"/>
              <a:t>The environment may contain other agents.</a:t>
            </a:r>
          </a:p>
        </p:txBody>
      </p:sp>
      <p:sp>
        <p:nvSpPr>
          <p:cNvPr id="5" name="TextBox 4">
            <a:extLst>
              <a:ext uri="{FF2B5EF4-FFF2-40B4-BE49-F238E27FC236}">
                <a16:creationId xmlns:a16="http://schemas.microsoft.com/office/drawing/2014/main" id="{71032F7C-50BA-44D0-8148-6E4F6738536C}"/>
              </a:ext>
            </a:extLst>
          </p:cNvPr>
          <p:cNvSpPr txBox="1"/>
          <p:nvPr/>
        </p:nvSpPr>
        <p:spPr>
          <a:xfrm>
            <a:off x="616532" y="2016385"/>
            <a:ext cx="6325364" cy="4524315"/>
          </a:xfrm>
          <a:prstGeom prst="rect">
            <a:avLst/>
          </a:prstGeom>
          <a:noFill/>
        </p:spPr>
        <p:txBody>
          <a:bodyPr wrap="square">
            <a:spAutoFit/>
          </a:bodyPr>
          <a:lstStyle/>
          <a:p>
            <a:r>
              <a:rPr lang="en-US" sz="2400" b="1" dirty="0"/>
              <a:t>An agent is anything that can perceive its environment through sensors and acts upon that environment through effectors.</a:t>
            </a:r>
          </a:p>
          <a:p>
            <a:pPr marL="742950" lvl="1" indent="-285750">
              <a:buFont typeface="Arial" panose="020B0604020202020204" pitchFamily="34" charset="0"/>
              <a:buChar char="•"/>
            </a:pPr>
            <a:r>
              <a:rPr lang="en-US" sz="2400" dirty="0"/>
              <a:t>A </a:t>
            </a:r>
            <a:r>
              <a:rPr lang="en-US" sz="2400" b="1" i="1" dirty="0"/>
              <a:t>human agent </a:t>
            </a:r>
            <a:r>
              <a:rPr lang="en-US" sz="2400" dirty="0"/>
              <a:t>has sensory organs such as eyes, ears, nose, tongue and skin parallel to the sensors, and other organs such as hands, legs, mouth, for effectors.</a:t>
            </a:r>
          </a:p>
          <a:p>
            <a:pPr marL="742950" lvl="1" indent="-285750">
              <a:buFont typeface="Arial" panose="020B0604020202020204" pitchFamily="34" charset="0"/>
              <a:buChar char="•"/>
            </a:pPr>
            <a:r>
              <a:rPr lang="en-US" sz="2400" dirty="0"/>
              <a:t>A </a:t>
            </a:r>
            <a:r>
              <a:rPr lang="en-US" sz="2400" b="1" i="1" dirty="0"/>
              <a:t>robotic agent </a:t>
            </a:r>
            <a:r>
              <a:rPr lang="en-US" sz="2400" dirty="0"/>
              <a:t>replaces cameras and infrared range finders for the sensors, and various motors and actuators for effectors.</a:t>
            </a:r>
          </a:p>
          <a:p>
            <a:pPr marL="742950" lvl="1" indent="-285750">
              <a:buFont typeface="Arial" panose="020B0604020202020204" pitchFamily="34" charset="0"/>
              <a:buChar char="•"/>
            </a:pPr>
            <a:r>
              <a:rPr lang="en-US" sz="2400" dirty="0"/>
              <a:t>A </a:t>
            </a:r>
            <a:r>
              <a:rPr lang="en-US" sz="2400" b="1" i="1" dirty="0"/>
              <a:t>software agent </a:t>
            </a:r>
            <a:r>
              <a:rPr lang="en-US" sz="2400" dirty="0"/>
              <a:t>has encoded bit strings as its programs and actions.</a:t>
            </a:r>
          </a:p>
        </p:txBody>
      </p:sp>
      <p:pic>
        <p:nvPicPr>
          <p:cNvPr id="6" name="Picture 5">
            <a:extLst>
              <a:ext uri="{FF2B5EF4-FFF2-40B4-BE49-F238E27FC236}">
                <a16:creationId xmlns:a16="http://schemas.microsoft.com/office/drawing/2014/main" id="{79CADD4C-8AAF-44EA-A6C3-96D6F51AFCA6}"/>
              </a:ext>
            </a:extLst>
          </p:cNvPr>
          <p:cNvPicPr>
            <a:picLocks noChangeAspect="1"/>
          </p:cNvPicPr>
          <p:nvPr/>
        </p:nvPicPr>
        <p:blipFill>
          <a:blip r:embed="rId2"/>
          <a:stretch>
            <a:fillRect/>
          </a:stretch>
        </p:blipFill>
        <p:spPr>
          <a:xfrm>
            <a:off x="6941897" y="2311806"/>
            <a:ext cx="5015642" cy="3104255"/>
          </a:xfrm>
          <a:prstGeom prst="rect">
            <a:avLst/>
          </a:prstGeom>
        </p:spPr>
      </p:pic>
    </p:spTree>
    <p:extLst>
      <p:ext uri="{BB962C8B-B14F-4D97-AF65-F5344CB8AC3E}">
        <p14:creationId xmlns:p14="http://schemas.microsoft.com/office/powerpoint/2010/main" val="302576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2876C3-301F-4BA3-B396-0A420968B404}"/>
              </a:ext>
            </a:extLst>
          </p:cNvPr>
          <p:cNvSpPr txBox="1"/>
          <p:nvPr/>
        </p:nvSpPr>
        <p:spPr>
          <a:xfrm>
            <a:off x="849311" y="775913"/>
            <a:ext cx="6098344" cy="584775"/>
          </a:xfrm>
          <a:prstGeom prst="rect">
            <a:avLst/>
          </a:prstGeom>
          <a:noFill/>
        </p:spPr>
        <p:txBody>
          <a:bodyPr wrap="square">
            <a:spAutoFit/>
          </a:bodyPr>
          <a:lstStyle/>
          <a:p>
            <a:r>
              <a:rPr lang="en-US" sz="3200" b="1" dirty="0"/>
              <a:t>What is Ideal Rational Agent?</a:t>
            </a:r>
            <a:endParaRPr lang="en-ZA" sz="3200" b="1" dirty="0"/>
          </a:p>
        </p:txBody>
      </p:sp>
      <p:sp>
        <p:nvSpPr>
          <p:cNvPr id="6" name="TextBox 5">
            <a:extLst>
              <a:ext uri="{FF2B5EF4-FFF2-40B4-BE49-F238E27FC236}">
                <a16:creationId xmlns:a16="http://schemas.microsoft.com/office/drawing/2014/main" id="{971A4C70-67FD-43BB-AF27-F75FC393BD44}"/>
              </a:ext>
            </a:extLst>
          </p:cNvPr>
          <p:cNvSpPr txBox="1"/>
          <p:nvPr/>
        </p:nvSpPr>
        <p:spPr>
          <a:xfrm>
            <a:off x="851655" y="1530052"/>
            <a:ext cx="10386188" cy="5358518"/>
          </a:xfrm>
          <a:prstGeom prst="rect">
            <a:avLst/>
          </a:prstGeom>
          <a:noFill/>
        </p:spPr>
        <p:txBody>
          <a:bodyPr wrap="square">
            <a:spAutoFit/>
          </a:bodyPr>
          <a:lstStyle/>
          <a:p>
            <a:r>
              <a:rPr lang="en-US" sz="2400" b="1" i="1" dirty="0"/>
              <a:t>An ideal rational agent is the one, which is capable of doing expected actions to maximize its performance measure, on the basis of −</a:t>
            </a:r>
          </a:p>
          <a:p>
            <a:pPr marL="742950" lvl="1" indent="-285750">
              <a:lnSpc>
                <a:spcPct val="150000"/>
              </a:lnSpc>
              <a:buFont typeface="Arial" panose="020B0604020202020204" pitchFamily="34" charset="0"/>
              <a:buChar char="•"/>
            </a:pPr>
            <a:r>
              <a:rPr lang="en-US" sz="2400" dirty="0"/>
              <a:t>Its percept sequence</a:t>
            </a:r>
          </a:p>
          <a:p>
            <a:pPr marL="742950" lvl="1" indent="-285750">
              <a:lnSpc>
                <a:spcPct val="150000"/>
              </a:lnSpc>
              <a:buFont typeface="Arial" panose="020B0604020202020204" pitchFamily="34" charset="0"/>
              <a:buChar char="•"/>
            </a:pPr>
            <a:r>
              <a:rPr lang="en-US" sz="2400" dirty="0"/>
              <a:t>Its built-in knowledge base</a:t>
            </a:r>
          </a:p>
          <a:p>
            <a:pPr>
              <a:lnSpc>
                <a:spcPct val="150000"/>
              </a:lnSpc>
            </a:pPr>
            <a:r>
              <a:rPr lang="en-US" sz="2400" b="1" i="1" dirty="0"/>
              <a:t>Rationality of an agent depends on the following −</a:t>
            </a:r>
          </a:p>
          <a:p>
            <a:pPr marL="742950" lvl="1" indent="-285750">
              <a:lnSpc>
                <a:spcPct val="150000"/>
              </a:lnSpc>
              <a:buFont typeface="Arial" panose="020B0604020202020204" pitchFamily="34" charset="0"/>
              <a:buChar char="•"/>
            </a:pPr>
            <a:r>
              <a:rPr lang="en-US" dirty="0"/>
              <a:t>The performance measures, which determine the degree of success.</a:t>
            </a:r>
          </a:p>
          <a:p>
            <a:pPr marL="742950" lvl="1" indent="-285750">
              <a:lnSpc>
                <a:spcPct val="150000"/>
              </a:lnSpc>
              <a:buFont typeface="Arial" panose="020B0604020202020204" pitchFamily="34" charset="0"/>
              <a:buChar char="•"/>
            </a:pPr>
            <a:r>
              <a:rPr lang="en-US" dirty="0"/>
              <a:t>Agent’s Percept Sequence till now.</a:t>
            </a:r>
          </a:p>
          <a:p>
            <a:pPr marL="742950" lvl="1" indent="-285750">
              <a:lnSpc>
                <a:spcPct val="150000"/>
              </a:lnSpc>
              <a:buFont typeface="Arial" panose="020B0604020202020204" pitchFamily="34" charset="0"/>
              <a:buChar char="•"/>
            </a:pPr>
            <a:r>
              <a:rPr lang="en-US" dirty="0"/>
              <a:t>The agent’s prior knowledge about the environment.</a:t>
            </a:r>
          </a:p>
          <a:p>
            <a:pPr marL="742950" lvl="1" indent="-285750">
              <a:lnSpc>
                <a:spcPct val="150000"/>
              </a:lnSpc>
              <a:buFont typeface="Arial" panose="020B0604020202020204" pitchFamily="34" charset="0"/>
              <a:buChar char="•"/>
            </a:pPr>
            <a:r>
              <a:rPr lang="en-US" dirty="0"/>
              <a:t>The actions that the agent can carry out.</a:t>
            </a:r>
          </a:p>
          <a:p>
            <a:pPr marL="742950" lvl="1" indent="-285750">
              <a:lnSpc>
                <a:spcPct val="150000"/>
              </a:lnSpc>
              <a:buFont typeface="Arial" panose="020B0604020202020204" pitchFamily="34" charset="0"/>
              <a:buChar char="•"/>
            </a:pPr>
            <a:r>
              <a:rPr lang="en-US"/>
              <a:t>A </a:t>
            </a:r>
            <a:r>
              <a:rPr lang="en-US" dirty="0"/>
              <a:t>rational agent always performs right action, where the right action means the action that causes the agent to be most successful in the given percept sequence. The problem the agent solves is characterized by Performance Measure, Environment, Actuators, and Sensors (PEAS).</a:t>
            </a:r>
          </a:p>
        </p:txBody>
      </p:sp>
    </p:spTree>
    <p:extLst>
      <p:ext uri="{BB962C8B-B14F-4D97-AF65-F5344CB8AC3E}">
        <p14:creationId xmlns:p14="http://schemas.microsoft.com/office/powerpoint/2010/main" val="3811172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549AF2-3CCC-4A89-AC6D-69CC8CF8B11D}"/>
              </a:ext>
            </a:extLst>
          </p:cNvPr>
          <p:cNvSpPr txBox="1"/>
          <p:nvPr/>
        </p:nvSpPr>
        <p:spPr>
          <a:xfrm>
            <a:off x="901147" y="637475"/>
            <a:ext cx="11078818" cy="2185214"/>
          </a:xfrm>
          <a:prstGeom prst="rect">
            <a:avLst/>
          </a:prstGeom>
          <a:noFill/>
        </p:spPr>
        <p:txBody>
          <a:bodyPr wrap="square">
            <a:spAutoFit/>
          </a:bodyPr>
          <a:lstStyle/>
          <a:p>
            <a:r>
              <a:rPr lang="en-US" sz="2400" b="1" dirty="0"/>
              <a:t>PEAS REPRESENTATION</a:t>
            </a:r>
          </a:p>
          <a:p>
            <a:r>
              <a:rPr lang="en-US" sz="2800" dirty="0">
                <a:highlight>
                  <a:srgbClr val="FFFF00"/>
                </a:highlight>
              </a:rPr>
              <a:t>P</a:t>
            </a:r>
            <a:r>
              <a:rPr lang="en-US" sz="2800" dirty="0"/>
              <a:t>: Performance measure </a:t>
            </a:r>
          </a:p>
          <a:p>
            <a:r>
              <a:rPr lang="en-US" sz="2800" dirty="0">
                <a:highlight>
                  <a:srgbClr val="FFFF00"/>
                </a:highlight>
              </a:rPr>
              <a:t>E</a:t>
            </a:r>
            <a:r>
              <a:rPr lang="en-US" sz="2800" dirty="0"/>
              <a:t>: Environment</a:t>
            </a:r>
          </a:p>
          <a:p>
            <a:r>
              <a:rPr lang="en-US" sz="2800" dirty="0">
                <a:highlight>
                  <a:srgbClr val="FFFF00"/>
                </a:highlight>
              </a:rPr>
              <a:t>A</a:t>
            </a:r>
            <a:r>
              <a:rPr lang="en-US" sz="2800" dirty="0"/>
              <a:t>: Actuators</a:t>
            </a:r>
          </a:p>
          <a:p>
            <a:r>
              <a:rPr lang="en-US" sz="2800" dirty="0">
                <a:highlight>
                  <a:srgbClr val="FFFF00"/>
                </a:highlight>
              </a:rPr>
              <a:t>S</a:t>
            </a:r>
            <a:r>
              <a:rPr lang="en-US" sz="2800" dirty="0"/>
              <a:t>: Sensors</a:t>
            </a:r>
          </a:p>
        </p:txBody>
      </p:sp>
      <p:sp>
        <p:nvSpPr>
          <p:cNvPr id="5" name="TextBox 4">
            <a:extLst>
              <a:ext uri="{FF2B5EF4-FFF2-40B4-BE49-F238E27FC236}">
                <a16:creationId xmlns:a16="http://schemas.microsoft.com/office/drawing/2014/main" id="{FC10E2AB-4011-445F-B52B-86A4B65DC55F}"/>
              </a:ext>
            </a:extLst>
          </p:cNvPr>
          <p:cNvSpPr txBox="1"/>
          <p:nvPr/>
        </p:nvSpPr>
        <p:spPr>
          <a:xfrm>
            <a:off x="834887" y="2822689"/>
            <a:ext cx="11211338" cy="3539430"/>
          </a:xfrm>
          <a:prstGeom prst="rect">
            <a:avLst/>
          </a:prstGeom>
          <a:noFill/>
        </p:spPr>
        <p:txBody>
          <a:bodyPr wrap="square">
            <a:spAutoFit/>
          </a:bodyPr>
          <a:lstStyle/>
          <a:p>
            <a:r>
              <a:rPr lang="en-ZA" sz="2800" b="1" dirty="0"/>
              <a:t>EXAMPLE 1: Self-driving car </a:t>
            </a:r>
          </a:p>
          <a:p>
            <a:r>
              <a:rPr lang="en-ZA" sz="2800" dirty="0"/>
              <a:t>PEAS representation will be:</a:t>
            </a:r>
          </a:p>
          <a:p>
            <a:pPr marL="800100" lvl="1" indent="-342900">
              <a:buFont typeface="Arial" panose="020B0604020202020204" pitchFamily="34" charset="0"/>
              <a:buChar char="•"/>
            </a:pPr>
            <a:r>
              <a:rPr lang="en-ZA" sz="2800" dirty="0">
                <a:highlight>
                  <a:srgbClr val="FFFF00"/>
                </a:highlight>
              </a:rPr>
              <a:t>Performance</a:t>
            </a:r>
            <a:r>
              <a:rPr lang="en-ZA" sz="2800" dirty="0"/>
              <a:t>: Safety, time, legal drive, comfort</a:t>
            </a:r>
          </a:p>
          <a:p>
            <a:pPr marL="800100" lvl="1" indent="-342900">
              <a:buFont typeface="Arial" panose="020B0604020202020204" pitchFamily="34" charset="0"/>
              <a:buChar char="•"/>
            </a:pPr>
            <a:r>
              <a:rPr lang="en-ZA" sz="2800" dirty="0">
                <a:highlight>
                  <a:srgbClr val="FFFF00"/>
                </a:highlight>
              </a:rPr>
              <a:t>Environment:</a:t>
            </a:r>
            <a:r>
              <a:rPr lang="en-ZA" sz="2800" dirty="0"/>
              <a:t> Roads, other vehicles, road signs, pedestrian</a:t>
            </a:r>
          </a:p>
          <a:p>
            <a:pPr marL="800100" lvl="1" indent="-342900">
              <a:buFont typeface="Arial" panose="020B0604020202020204" pitchFamily="34" charset="0"/>
              <a:buChar char="•"/>
            </a:pPr>
            <a:r>
              <a:rPr lang="en-ZA" sz="2800" dirty="0">
                <a:highlight>
                  <a:srgbClr val="FFFF00"/>
                </a:highlight>
              </a:rPr>
              <a:t>Actuators: </a:t>
            </a:r>
            <a:r>
              <a:rPr lang="en-ZA" sz="2800" dirty="0"/>
              <a:t>Steering, accelerator, brake, signal, horn</a:t>
            </a:r>
          </a:p>
          <a:p>
            <a:pPr marL="800100" lvl="1" indent="-342900">
              <a:buFont typeface="Arial" panose="020B0604020202020204" pitchFamily="34" charset="0"/>
              <a:buChar char="•"/>
            </a:pPr>
            <a:r>
              <a:rPr lang="en-ZA" sz="2800" dirty="0">
                <a:highlight>
                  <a:srgbClr val="FFFF00"/>
                </a:highlight>
              </a:rPr>
              <a:t>Sensors:</a:t>
            </a:r>
            <a:r>
              <a:rPr lang="en-ZA" sz="2800" dirty="0"/>
              <a:t> Camera, GPS, speedometer, odometer, accelerometer, sonar.</a:t>
            </a:r>
          </a:p>
          <a:p>
            <a:r>
              <a:rPr lang="en-ZA" sz="2800" b="1" dirty="0"/>
              <a:t>EXAMPLE 2: </a:t>
            </a:r>
          </a:p>
          <a:p>
            <a:r>
              <a:rPr lang="en-ZA" sz="2800" dirty="0"/>
              <a:t>PEAS description of a robot soccer player AND robot soccer team:</a:t>
            </a:r>
          </a:p>
        </p:txBody>
      </p:sp>
    </p:spTree>
    <p:extLst>
      <p:ext uri="{BB962C8B-B14F-4D97-AF65-F5344CB8AC3E}">
        <p14:creationId xmlns:p14="http://schemas.microsoft.com/office/powerpoint/2010/main" val="256886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9BE083-3557-4A10-9B7A-D8BBAA3D4276}"/>
              </a:ext>
            </a:extLst>
          </p:cNvPr>
          <p:cNvSpPr txBox="1"/>
          <p:nvPr/>
        </p:nvSpPr>
        <p:spPr>
          <a:xfrm>
            <a:off x="914400" y="943402"/>
            <a:ext cx="10813774" cy="2031325"/>
          </a:xfrm>
          <a:prstGeom prst="rect">
            <a:avLst/>
          </a:prstGeom>
          <a:noFill/>
        </p:spPr>
        <p:txBody>
          <a:bodyPr wrap="square">
            <a:spAutoFit/>
          </a:bodyPr>
          <a:lstStyle/>
          <a:p>
            <a:pPr marL="342900" lvl="0" indent="-342900">
              <a:buFont typeface="Symbol" panose="05050102010706020507" pitchFamily="18" charset="2"/>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Performance measure (The output which we get from the agent):</a:t>
            </a:r>
            <a:r>
              <a:rPr lang="en-US" sz="1400" dirty="0">
                <a:effectLst/>
                <a:latin typeface="Arial" panose="020B0604020202020204" pitchFamily="34" charset="0"/>
                <a:ea typeface="Calibri" panose="020F0502020204030204" pitchFamily="34" charset="0"/>
                <a:cs typeface="Arial" panose="020B0604020202020204" pitchFamily="34" charset="0"/>
              </a:rPr>
              <a:t> To play the soccer game, defend, attack, create goals and to win the soccer game. </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buFont typeface="Symbol" panose="05050102010706020507" pitchFamily="18" charset="2"/>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Environment (All the surrounding things and conditions of an agent fall in this section):</a:t>
            </a:r>
            <a:r>
              <a:rPr lang="en-US" sz="1400" dirty="0">
                <a:effectLst/>
                <a:latin typeface="Arial" panose="020B0604020202020204" pitchFamily="34" charset="0"/>
                <a:ea typeface="Calibri" panose="020F0502020204030204" pitchFamily="34" charset="0"/>
                <a:cs typeface="Arial" panose="020B0604020202020204" pitchFamily="34" charset="0"/>
              </a:rPr>
              <a:t> The soccer field with perimeters, team members, opposition team player, a referee, audience, ball.</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buFont typeface="Symbol" panose="05050102010706020507" pitchFamily="18" charset="2"/>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Actuator (The devices, hardware or software through which the agent performs any actions or processes any information to produce a result are the actuators of the agent):</a:t>
            </a:r>
            <a:r>
              <a:rPr lang="en-US" sz="1400" dirty="0">
                <a:effectLst/>
                <a:latin typeface="Arial" panose="020B0604020202020204" pitchFamily="34" charset="0"/>
                <a:ea typeface="Calibri" panose="020F0502020204030204" pitchFamily="34" charset="0"/>
                <a:cs typeface="Arial" panose="020B0604020202020204" pitchFamily="34" charset="0"/>
              </a:rPr>
              <a:t> Body of robot, Navigator, legs of robot, view detector for robot, tackling, passing ball, shooting.</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spcAft>
                <a:spcPts val="1000"/>
              </a:spcAft>
              <a:buFont typeface="Symbol" panose="05050102010706020507" pitchFamily="18" charset="2"/>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Sensors</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en-US" sz="1400" b="1" dirty="0">
                <a:effectLst/>
                <a:latin typeface="Arial" panose="020B0604020202020204" pitchFamily="34" charset="0"/>
                <a:ea typeface="Calibri" panose="020F0502020204030204" pitchFamily="34" charset="0"/>
                <a:cs typeface="Arial" panose="020B0604020202020204" pitchFamily="34" charset="0"/>
              </a:rPr>
              <a:t>The devices through which the agent observes and perceives its environment):</a:t>
            </a:r>
            <a:r>
              <a:rPr lang="en-US" sz="1400" dirty="0">
                <a:effectLst/>
                <a:latin typeface="Arial" panose="020B0604020202020204" pitchFamily="34" charset="0"/>
                <a:ea typeface="Calibri" panose="020F0502020204030204" pitchFamily="34" charset="0"/>
                <a:cs typeface="Arial" panose="020B0604020202020204" pitchFamily="34" charset="0"/>
              </a:rPr>
              <a:t> Camera, communicators (links among team members), sensors (orientation and touch). Camera locates the position of the ball on the floor.</a:t>
            </a:r>
            <a:endParaRPr lang="en-ZA"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8CE6E900-815C-41C3-8C4E-5662987F257F}"/>
              </a:ext>
            </a:extLst>
          </p:cNvPr>
          <p:cNvSpPr txBox="1"/>
          <p:nvPr/>
        </p:nvSpPr>
        <p:spPr>
          <a:xfrm>
            <a:off x="914400" y="3737499"/>
            <a:ext cx="10363200" cy="2416046"/>
          </a:xfrm>
          <a:prstGeom prst="rect">
            <a:avLst/>
          </a:prstGeom>
          <a:noFill/>
        </p:spPr>
        <p:txBody>
          <a:bodyPr wrap="square">
            <a:spAutoFit/>
          </a:bodyPr>
          <a:lstStyle/>
          <a:p>
            <a:pPr marL="285750" indent="-285750">
              <a:spcAft>
                <a:spcPts val="1000"/>
              </a:spcAft>
              <a:buFont typeface="Arial" panose="020B0604020202020204" pitchFamily="34" charset="0"/>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Performance measure:</a:t>
            </a:r>
            <a:r>
              <a:rPr lang="en-US" sz="1400" dirty="0">
                <a:effectLst/>
                <a:latin typeface="Arial" panose="020B0604020202020204" pitchFamily="34" charset="0"/>
                <a:ea typeface="Calibri" panose="020F0502020204030204" pitchFamily="34" charset="0"/>
                <a:cs typeface="Arial" panose="020B0604020202020204" pitchFamily="34" charset="0"/>
              </a:rPr>
              <a:t> Coordinated,  play the soccer game as a team, defend and attack where it benefits the team, create and score goals in order to win the game. Each player is intended to perform their specific actions at the appropriate time and as a way of contributing to the overall action.</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spcAft>
                <a:spcPts val="1000"/>
              </a:spcAft>
              <a:buFont typeface="Arial" panose="020B0604020202020204" pitchFamily="34" charset="0"/>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Environment (operational) software system that manages computer hardware and software resources: </a:t>
            </a:r>
            <a:r>
              <a:rPr lang="en-US" sz="1400" dirty="0">
                <a:effectLst/>
                <a:latin typeface="Arial" panose="020B0604020202020204" pitchFamily="34" charset="0"/>
                <a:ea typeface="Calibri" panose="020F0502020204030204" pitchFamily="34" charset="0"/>
                <a:cs typeface="Arial" panose="020B0604020202020204" pitchFamily="34" charset="0"/>
              </a:rPr>
              <a:t>Opposing team. Communication infrastructure (wireless network for communication between team players). Software system (software systems must interact with external software components). Interaction mode, this is to achieve scalable agent environment, it is important to provide agents with efficient means for perceptions, actions, and interactions..  </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spcAft>
                <a:spcPts val="1000"/>
              </a:spcAft>
              <a:buFont typeface="Arial" panose="020B0604020202020204" pitchFamily="34" charset="0"/>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Actuator:</a:t>
            </a:r>
            <a:r>
              <a:rPr lang="en-US" sz="1400" dirty="0">
                <a:effectLst/>
                <a:latin typeface="Arial" panose="020B0604020202020204" pitchFamily="34" charset="0"/>
                <a:ea typeface="Calibri" panose="020F0502020204030204" pitchFamily="34" charset="0"/>
                <a:cs typeface="Arial" panose="020B0604020202020204" pitchFamily="34" charset="0"/>
              </a:rPr>
              <a:t> Collaboration, Number of robots per team, Navigator, legs of robot (reflex motors), view detector for robot</a:t>
            </a:r>
            <a:endParaRPr lang="en-ZA"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spcAft>
                <a:spcPts val="1000"/>
              </a:spcAft>
              <a:buFont typeface="Arial" panose="020B0604020202020204" pitchFamily="34" charset="0"/>
              <a:buChar char="•"/>
            </a:pPr>
            <a:r>
              <a:rPr lang="en-US" sz="1400" b="1" dirty="0">
                <a:effectLst/>
                <a:latin typeface="Arial" panose="020B0604020202020204" pitchFamily="34" charset="0"/>
                <a:ea typeface="Calibri" panose="020F0502020204030204" pitchFamily="34" charset="0"/>
                <a:cs typeface="Arial" panose="020B0604020202020204" pitchFamily="34" charset="0"/>
              </a:rPr>
              <a:t>Sensors:</a:t>
            </a:r>
            <a:r>
              <a:rPr lang="en-US" sz="1400" dirty="0">
                <a:effectLst/>
                <a:latin typeface="Arial" panose="020B0604020202020204" pitchFamily="34" charset="0"/>
                <a:ea typeface="Calibri" panose="020F0502020204030204" pitchFamily="34" charset="0"/>
                <a:cs typeface="Arial" panose="020B0604020202020204" pitchFamily="34" charset="0"/>
              </a:rPr>
              <a:t> Camera, communicators (links among team members), sound sensors and touch sensors (for impact).</a:t>
            </a:r>
            <a:endParaRPr lang="en-ZA"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23001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6230C-8AE8-4C48-AA0F-2C51C47C93E9}"/>
              </a:ext>
            </a:extLst>
          </p:cNvPr>
          <p:cNvSpPr>
            <a:spLocks noGrp="1"/>
          </p:cNvSpPr>
          <p:nvPr>
            <p:ph type="title"/>
          </p:nvPr>
        </p:nvSpPr>
        <p:spPr>
          <a:xfrm>
            <a:off x="944217" y="1027043"/>
            <a:ext cx="10515600" cy="1325563"/>
          </a:xfrm>
        </p:spPr>
        <p:txBody>
          <a:bodyPr/>
          <a:lstStyle/>
          <a:p>
            <a:r>
              <a:rPr lang="en-ZA" dirty="0"/>
              <a:t>TYPES OF AGENTS</a:t>
            </a:r>
          </a:p>
        </p:txBody>
      </p:sp>
      <p:sp>
        <p:nvSpPr>
          <p:cNvPr id="3" name="Content Placeholder 2">
            <a:extLst>
              <a:ext uri="{FF2B5EF4-FFF2-40B4-BE49-F238E27FC236}">
                <a16:creationId xmlns:a16="http://schemas.microsoft.com/office/drawing/2014/main" id="{D89C76C9-85A4-4416-9F2E-C5CD9C371652}"/>
              </a:ext>
            </a:extLst>
          </p:cNvPr>
          <p:cNvSpPr>
            <a:spLocks noGrp="1"/>
          </p:cNvSpPr>
          <p:nvPr>
            <p:ph idx="1"/>
          </p:nvPr>
        </p:nvSpPr>
        <p:spPr>
          <a:xfrm>
            <a:off x="944217" y="2713521"/>
            <a:ext cx="10515600" cy="3117436"/>
          </a:xfrm>
        </p:spPr>
        <p:txBody>
          <a:bodyPr/>
          <a:lstStyle/>
          <a:p>
            <a:pPr marL="1143000" marR="0" lvl="2" indent="-228600" algn="l" defTabSz="914400" rtl="0" eaLnBrk="1" fontAlgn="auto" latinLnBrk="0" hangingPunct="1">
              <a:lnSpc>
                <a:spcPct val="100000"/>
              </a:lnSpc>
              <a:spcBef>
                <a:spcPts val="50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Simple Reflex Agent</a:t>
            </a:r>
          </a:p>
          <a:p>
            <a:pPr marL="1143000" marR="0" lvl="2" indent="-228600" algn="l" defTabSz="914400" rtl="0" eaLnBrk="1" fontAlgn="auto" latinLnBrk="0" hangingPunct="1">
              <a:lnSpc>
                <a:spcPct val="100000"/>
              </a:lnSpc>
              <a:spcBef>
                <a:spcPts val="50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Model-based reflex agent</a:t>
            </a:r>
          </a:p>
          <a:p>
            <a:pPr marL="1143000" marR="0" lvl="2" indent="-228600" algn="l" defTabSz="914400" rtl="0" eaLnBrk="1" fontAlgn="auto" latinLnBrk="0" hangingPunct="1">
              <a:lnSpc>
                <a:spcPct val="100000"/>
              </a:lnSpc>
              <a:spcBef>
                <a:spcPts val="50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Goal-based agents</a:t>
            </a:r>
          </a:p>
          <a:p>
            <a:pPr marL="1143000" marR="0" lvl="2" indent="-228600" algn="l" defTabSz="914400" rtl="0" eaLnBrk="1" fontAlgn="auto" latinLnBrk="0" hangingPunct="1">
              <a:lnSpc>
                <a:spcPct val="100000"/>
              </a:lnSpc>
              <a:spcBef>
                <a:spcPts val="50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Utility-based agent</a:t>
            </a:r>
          </a:p>
          <a:p>
            <a:pPr marL="1143000" marR="0" lvl="2" indent="-228600" algn="l" defTabSz="914400" rtl="0" eaLnBrk="1" fontAlgn="auto" latinLnBrk="0" hangingPunct="1">
              <a:lnSpc>
                <a:spcPct val="100000"/>
              </a:lnSpc>
              <a:spcBef>
                <a:spcPts val="500"/>
              </a:spcBef>
              <a:spcAft>
                <a:spcPts val="0"/>
              </a:spcAft>
              <a:buClrTx/>
              <a:buSzTx/>
              <a:buFont typeface="Wingdings" panose="05000000000000000000" pitchFamily="2" charset="2"/>
              <a:buChar char="Ø"/>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Learning agent</a:t>
            </a:r>
          </a:p>
          <a:p>
            <a:pPr marL="0" indent="0">
              <a:buNone/>
            </a:pPr>
            <a:endParaRPr lang="en-ZA" dirty="0"/>
          </a:p>
        </p:txBody>
      </p:sp>
    </p:spTree>
    <p:extLst>
      <p:ext uri="{BB962C8B-B14F-4D97-AF65-F5344CB8AC3E}">
        <p14:creationId xmlns:p14="http://schemas.microsoft.com/office/powerpoint/2010/main" val="3195923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B9AB5D-7E46-4A52-B63B-D50A9C00C757}"/>
              </a:ext>
            </a:extLst>
          </p:cNvPr>
          <p:cNvSpPr txBox="1"/>
          <p:nvPr/>
        </p:nvSpPr>
        <p:spPr>
          <a:xfrm>
            <a:off x="795130" y="517699"/>
            <a:ext cx="6096000" cy="584775"/>
          </a:xfrm>
          <a:prstGeom prst="rect">
            <a:avLst/>
          </a:prstGeom>
          <a:noFill/>
        </p:spPr>
        <p:txBody>
          <a:bodyPr wrap="square">
            <a:spAutoFit/>
          </a:bodyPr>
          <a:lstStyle/>
          <a:p>
            <a:r>
              <a:rPr lang="en-US" sz="3200" b="1" dirty="0"/>
              <a:t>The Structure of Intelligent Agents</a:t>
            </a:r>
            <a:endParaRPr lang="en-ZA" sz="3200" b="1" dirty="0"/>
          </a:p>
        </p:txBody>
      </p:sp>
      <p:sp>
        <p:nvSpPr>
          <p:cNvPr id="5" name="TextBox 4">
            <a:extLst>
              <a:ext uri="{FF2B5EF4-FFF2-40B4-BE49-F238E27FC236}">
                <a16:creationId xmlns:a16="http://schemas.microsoft.com/office/drawing/2014/main" id="{2F5DDB37-C4FB-4485-8C33-2969C55618AA}"/>
              </a:ext>
            </a:extLst>
          </p:cNvPr>
          <p:cNvSpPr txBox="1"/>
          <p:nvPr/>
        </p:nvSpPr>
        <p:spPr>
          <a:xfrm>
            <a:off x="795130" y="1102474"/>
            <a:ext cx="4280453" cy="646331"/>
          </a:xfrm>
          <a:prstGeom prst="rect">
            <a:avLst/>
          </a:prstGeom>
          <a:noFill/>
        </p:spPr>
        <p:txBody>
          <a:bodyPr wrap="square">
            <a:spAutoFit/>
          </a:bodyPr>
          <a:lstStyle/>
          <a:p>
            <a:r>
              <a:rPr lang="en-US" b="1" i="1" dirty="0"/>
              <a:t>Condition-Action Rule </a:t>
            </a:r>
            <a:r>
              <a:rPr lang="en-US" dirty="0"/>
              <a:t>− It is a rule that maps a state (condition) to an action.</a:t>
            </a:r>
            <a:endParaRPr lang="en-ZA" dirty="0"/>
          </a:p>
        </p:txBody>
      </p:sp>
      <p:pic>
        <p:nvPicPr>
          <p:cNvPr id="6" name="Picture 5">
            <a:extLst>
              <a:ext uri="{FF2B5EF4-FFF2-40B4-BE49-F238E27FC236}">
                <a16:creationId xmlns:a16="http://schemas.microsoft.com/office/drawing/2014/main" id="{7F36DC55-3FA4-4163-A122-B6C96E692A52}"/>
              </a:ext>
            </a:extLst>
          </p:cNvPr>
          <p:cNvPicPr>
            <a:picLocks noChangeAspect="1"/>
          </p:cNvPicPr>
          <p:nvPr/>
        </p:nvPicPr>
        <p:blipFill>
          <a:blip r:embed="rId2"/>
          <a:stretch>
            <a:fillRect/>
          </a:stretch>
        </p:blipFill>
        <p:spPr>
          <a:xfrm>
            <a:off x="278295" y="2078049"/>
            <a:ext cx="4572000" cy="3408351"/>
          </a:xfrm>
          <a:prstGeom prst="rect">
            <a:avLst/>
          </a:prstGeom>
        </p:spPr>
      </p:pic>
      <p:sp>
        <p:nvSpPr>
          <p:cNvPr id="8" name="TextBox 7">
            <a:extLst>
              <a:ext uri="{FF2B5EF4-FFF2-40B4-BE49-F238E27FC236}">
                <a16:creationId xmlns:a16="http://schemas.microsoft.com/office/drawing/2014/main" id="{120BF44A-F842-4E3C-836A-350032EB11A9}"/>
              </a:ext>
            </a:extLst>
          </p:cNvPr>
          <p:cNvSpPr txBox="1"/>
          <p:nvPr/>
        </p:nvSpPr>
        <p:spPr>
          <a:xfrm>
            <a:off x="5539409" y="1084109"/>
            <a:ext cx="6096000" cy="646331"/>
          </a:xfrm>
          <a:prstGeom prst="rect">
            <a:avLst/>
          </a:prstGeom>
          <a:noFill/>
        </p:spPr>
        <p:txBody>
          <a:bodyPr wrap="square">
            <a:spAutoFit/>
          </a:bodyPr>
          <a:lstStyle/>
          <a:p>
            <a:r>
              <a:rPr lang="en-US" b="1" i="1" dirty="0"/>
              <a:t>Model Based Reflex Agents</a:t>
            </a:r>
          </a:p>
          <a:p>
            <a:r>
              <a:rPr lang="en-US" dirty="0"/>
              <a:t>They use a model of the world to choose their actions. </a:t>
            </a:r>
          </a:p>
        </p:txBody>
      </p:sp>
      <p:pic>
        <p:nvPicPr>
          <p:cNvPr id="9" name="Picture 8">
            <a:extLst>
              <a:ext uri="{FF2B5EF4-FFF2-40B4-BE49-F238E27FC236}">
                <a16:creationId xmlns:a16="http://schemas.microsoft.com/office/drawing/2014/main" id="{FC1A1A33-344F-455B-94EB-88614B9A641B}"/>
              </a:ext>
            </a:extLst>
          </p:cNvPr>
          <p:cNvPicPr>
            <a:picLocks noChangeAspect="1"/>
          </p:cNvPicPr>
          <p:nvPr/>
        </p:nvPicPr>
        <p:blipFill>
          <a:blip r:embed="rId3"/>
          <a:stretch>
            <a:fillRect/>
          </a:stretch>
        </p:blipFill>
        <p:spPr>
          <a:xfrm>
            <a:off x="5790441" y="2078049"/>
            <a:ext cx="5023334" cy="3408351"/>
          </a:xfrm>
          <a:prstGeom prst="rect">
            <a:avLst/>
          </a:prstGeom>
        </p:spPr>
      </p:pic>
    </p:spTree>
    <p:extLst>
      <p:ext uri="{BB962C8B-B14F-4D97-AF65-F5344CB8AC3E}">
        <p14:creationId xmlns:p14="http://schemas.microsoft.com/office/powerpoint/2010/main" val="808131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215013-4C76-4D10-B0A9-2885E9DDD320}"/>
              </a:ext>
            </a:extLst>
          </p:cNvPr>
          <p:cNvSpPr txBox="1"/>
          <p:nvPr/>
        </p:nvSpPr>
        <p:spPr>
          <a:xfrm>
            <a:off x="940905" y="699846"/>
            <a:ext cx="4890052" cy="923330"/>
          </a:xfrm>
          <a:prstGeom prst="rect">
            <a:avLst/>
          </a:prstGeom>
          <a:noFill/>
        </p:spPr>
        <p:txBody>
          <a:bodyPr wrap="square">
            <a:spAutoFit/>
          </a:bodyPr>
          <a:lstStyle/>
          <a:p>
            <a:r>
              <a:rPr lang="en-US" b="1" i="1" dirty="0"/>
              <a:t>Goal Based Agents</a:t>
            </a:r>
          </a:p>
          <a:p>
            <a:r>
              <a:rPr lang="en-US" dirty="0"/>
              <a:t>They choose their actions in order to achieve goals. </a:t>
            </a:r>
          </a:p>
        </p:txBody>
      </p:sp>
      <p:pic>
        <p:nvPicPr>
          <p:cNvPr id="4" name="Picture 3">
            <a:extLst>
              <a:ext uri="{FF2B5EF4-FFF2-40B4-BE49-F238E27FC236}">
                <a16:creationId xmlns:a16="http://schemas.microsoft.com/office/drawing/2014/main" id="{D8772F81-201F-4DA7-BE65-D47FEA19DBB4}"/>
              </a:ext>
            </a:extLst>
          </p:cNvPr>
          <p:cNvPicPr>
            <a:picLocks noChangeAspect="1"/>
          </p:cNvPicPr>
          <p:nvPr/>
        </p:nvPicPr>
        <p:blipFill>
          <a:blip r:embed="rId2"/>
          <a:stretch>
            <a:fillRect/>
          </a:stretch>
        </p:blipFill>
        <p:spPr>
          <a:xfrm>
            <a:off x="841133" y="1902362"/>
            <a:ext cx="5254868" cy="3358955"/>
          </a:xfrm>
          <a:prstGeom prst="rect">
            <a:avLst/>
          </a:prstGeom>
        </p:spPr>
      </p:pic>
      <p:sp>
        <p:nvSpPr>
          <p:cNvPr id="6" name="TextBox 5">
            <a:extLst>
              <a:ext uri="{FF2B5EF4-FFF2-40B4-BE49-F238E27FC236}">
                <a16:creationId xmlns:a16="http://schemas.microsoft.com/office/drawing/2014/main" id="{8C554499-CF2E-49C7-9D7E-B012FDC3CC2C}"/>
              </a:ext>
            </a:extLst>
          </p:cNvPr>
          <p:cNvSpPr txBox="1"/>
          <p:nvPr/>
        </p:nvSpPr>
        <p:spPr>
          <a:xfrm>
            <a:off x="6811618" y="699846"/>
            <a:ext cx="4598504" cy="923330"/>
          </a:xfrm>
          <a:prstGeom prst="rect">
            <a:avLst/>
          </a:prstGeom>
          <a:noFill/>
        </p:spPr>
        <p:txBody>
          <a:bodyPr wrap="square">
            <a:spAutoFit/>
          </a:bodyPr>
          <a:lstStyle/>
          <a:p>
            <a:r>
              <a:rPr lang="en-US" b="1" i="1" dirty="0"/>
              <a:t>Utility Based Agents</a:t>
            </a:r>
          </a:p>
          <a:p>
            <a:r>
              <a:rPr lang="en-US" dirty="0"/>
              <a:t>They choose actions based on a preference (utility) for each state.</a:t>
            </a:r>
          </a:p>
        </p:txBody>
      </p:sp>
      <p:pic>
        <p:nvPicPr>
          <p:cNvPr id="7" name="Picture 6">
            <a:extLst>
              <a:ext uri="{FF2B5EF4-FFF2-40B4-BE49-F238E27FC236}">
                <a16:creationId xmlns:a16="http://schemas.microsoft.com/office/drawing/2014/main" id="{6FBA1418-083B-458B-ADE9-8D07FAEB6FA1}"/>
              </a:ext>
            </a:extLst>
          </p:cNvPr>
          <p:cNvPicPr>
            <a:picLocks noChangeAspect="1"/>
          </p:cNvPicPr>
          <p:nvPr/>
        </p:nvPicPr>
        <p:blipFill>
          <a:blip r:embed="rId3"/>
          <a:stretch>
            <a:fillRect/>
          </a:stretch>
        </p:blipFill>
        <p:spPr>
          <a:xfrm>
            <a:off x="6592271" y="1902362"/>
            <a:ext cx="5254868" cy="3358954"/>
          </a:xfrm>
          <a:prstGeom prst="rect">
            <a:avLst/>
          </a:prstGeom>
        </p:spPr>
      </p:pic>
    </p:spTree>
    <p:extLst>
      <p:ext uri="{BB962C8B-B14F-4D97-AF65-F5344CB8AC3E}">
        <p14:creationId xmlns:p14="http://schemas.microsoft.com/office/powerpoint/2010/main" val="1064374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5D6D2B-9FF0-4A27-B4DD-29D68BF1BCA1}"/>
              </a:ext>
            </a:extLst>
          </p:cNvPr>
          <p:cNvSpPr txBox="1"/>
          <p:nvPr/>
        </p:nvSpPr>
        <p:spPr>
          <a:xfrm>
            <a:off x="1126435" y="955021"/>
            <a:ext cx="8070574" cy="584775"/>
          </a:xfrm>
          <a:prstGeom prst="rect">
            <a:avLst/>
          </a:prstGeom>
          <a:noFill/>
        </p:spPr>
        <p:txBody>
          <a:bodyPr wrap="square">
            <a:spAutoFit/>
          </a:bodyPr>
          <a:lstStyle/>
          <a:p>
            <a:r>
              <a:rPr lang="en-ZA" sz="3200" b="1" dirty="0"/>
              <a:t>Agent = Architecture + Agent program </a:t>
            </a:r>
          </a:p>
        </p:txBody>
      </p:sp>
      <p:sp>
        <p:nvSpPr>
          <p:cNvPr id="5" name="TextBox 4">
            <a:extLst>
              <a:ext uri="{FF2B5EF4-FFF2-40B4-BE49-F238E27FC236}">
                <a16:creationId xmlns:a16="http://schemas.microsoft.com/office/drawing/2014/main" id="{798CDD80-DCF3-4EF6-A250-E2FED96FF5B4}"/>
              </a:ext>
            </a:extLst>
          </p:cNvPr>
          <p:cNvSpPr txBox="1"/>
          <p:nvPr/>
        </p:nvSpPr>
        <p:spPr>
          <a:xfrm>
            <a:off x="1126435" y="1969462"/>
            <a:ext cx="10561982" cy="584775"/>
          </a:xfrm>
          <a:prstGeom prst="rect">
            <a:avLst/>
          </a:prstGeom>
          <a:noFill/>
        </p:spPr>
        <p:txBody>
          <a:bodyPr wrap="square">
            <a:spAutoFit/>
          </a:bodyPr>
          <a:lstStyle/>
          <a:p>
            <a:r>
              <a:rPr lang="en-US" sz="3200" b="1" dirty="0"/>
              <a:t>Architecture</a:t>
            </a:r>
            <a:r>
              <a:rPr lang="en-US" sz="2800" b="1" dirty="0"/>
              <a:t>: </a:t>
            </a:r>
            <a:r>
              <a:rPr lang="en-US" sz="2800" dirty="0"/>
              <a:t>Architecture is machinery that an AI agent executes on.</a:t>
            </a:r>
            <a:endParaRPr lang="en-ZA" sz="2800" dirty="0"/>
          </a:p>
        </p:txBody>
      </p:sp>
      <p:sp>
        <p:nvSpPr>
          <p:cNvPr id="7" name="TextBox 6">
            <a:extLst>
              <a:ext uri="{FF2B5EF4-FFF2-40B4-BE49-F238E27FC236}">
                <a16:creationId xmlns:a16="http://schemas.microsoft.com/office/drawing/2014/main" id="{082A1E82-76E3-4BCA-9BC3-D62435E0B96A}"/>
              </a:ext>
            </a:extLst>
          </p:cNvPr>
          <p:cNvSpPr txBox="1"/>
          <p:nvPr/>
        </p:nvSpPr>
        <p:spPr>
          <a:xfrm>
            <a:off x="1126435" y="2782669"/>
            <a:ext cx="10959548" cy="1569660"/>
          </a:xfrm>
          <a:prstGeom prst="rect">
            <a:avLst/>
          </a:prstGeom>
          <a:noFill/>
        </p:spPr>
        <p:txBody>
          <a:bodyPr wrap="square">
            <a:spAutoFit/>
          </a:bodyPr>
          <a:lstStyle/>
          <a:p>
            <a:r>
              <a:rPr lang="en-US" sz="3200" b="1" dirty="0"/>
              <a:t>Agent program: </a:t>
            </a:r>
            <a:r>
              <a:rPr lang="en-US" sz="3200" dirty="0"/>
              <a:t>Agent program is an implementation of agent function. An agent program executes on the physical architecture to produce function f.</a:t>
            </a:r>
            <a:endParaRPr lang="en-ZA" sz="3200" dirty="0"/>
          </a:p>
        </p:txBody>
      </p:sp>
    </p:spTree>
    <p:extLst>
      <p:ext uri="{BB962C8B-B14F-4D97-AF65-F5344CB8AC3E}">
        <p14:creationId xmlns:p14="http://schemas.microsoft.com/office/powerpoint/2010/main" val="3079189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C2A2C0-BA72-43EA-BACA-98D2E94914FE}"/>
              </a:ext>
            </a:extLst>
          </p:cNvPr>
          <p:cNvSpPr txBox="1"/>
          <p:nvPr/>
        </p:nvSpPr>
        <p:spPr>
          <a:xfrm>
            <a:off x="1061345" y="588010"/>
            <a:ext cx="8798271" cy="5940088"/>
          </a:xfrm>
          <a:prstGeom prst="rect">
            <a:avLst/>
          </a:prstGeom>
          <a:noFill/>
        </p:spPr>
        <p:txBody>
          <a:bodyPr wrap="square">
            <a:spAutoFit/>
          </a:bodyPr>
          <a:lstStyle/>
          <a:p>
            <a:r>
              <a:rPr lang="en-US" sz="2000" b="1" dirty="0"/>
              <a:t>The Nature of Environments</a:t>
            </a:r>
          </a:p>
          <a:p>
            <a:pPr marL="285750" indent="-285750">
              <a:buFont typeface="Wingdings" panose="05000000000000000000" pitchFamily="2" charset="2"/>
              <a:buChar char="q"/>
            </a:pPr>
            <a:r>
              <a:rPr lang="en-US" dirty="0"/>
              <a:t>Some programs operate in the entirely artificial environment confined to:</a:t>
            </a:r>
          </a:p>
          <a:p>
            <a:pPr marL="742950" lvl="1" indent="-285750">
              <a:buFont typeface="Arial" panose="020B0604020202020204" pitchFamily="34" charset="0"/>
              <a:buChar char="•"/>
            </a:pPr>
            <a:r>
              <a:rPr lang="en-US" dirty="0"/>
              <a:t>keyboard input</a:t>
            </a:r>
          </a:p>
          <a:p>
            <a:pPr marL="742950" lvl="1" indent="-285750">
              <a:buFont typeface="Arial" panose="020B0604020202020204" pitchFamily="34" charset="0"/>
              <a:buChar char="•"/>
            </a:pPr>
            <a:r>
              <a:rPr lang="en-US" dirty="0"/>
              <a:t>Database</a:t>
            </a:r>
          </a:p>
          <a:p>
            <a:pPr marL="742950" lvl="1" indent="-285750">
              <a:buFont typeface="Arial" panose="020B0604020202020204" pitchFamily="34" charset="0"/>
              <a:buChar char="•"/>
            </a:pPr>
            <a:r>
              <a:rPr lang="en-US" dirty="0"/>
              <a:t>Computer file systems </a:t>
            </a:r>
          </a:p>
          <a:p>
            <a:pPr marL="742950" lvl="1" indent="-285750">
              <a:buFont typeface="Arial" panose="020B0604020202020204" pitchFamily="34" charset="0"/>
              <a:buChar char="•"/>
            </a:pPr>
            <a:r>
              <a:rPr lang="en-US" dirty="0"/>
              <a:t>Character output on a screen.</a:t>
            </a:r>
          </a:p>
          <a:p>
            <a:pPr marL="285750" indent="-285750">
              <a:buFont typeface="Wingdings" panose="05000000000000000000" pitchFamily="2" charset="2"/>
              <a:buChar char="q"/>
            </a:pPr>
            <a:r>
              <a:rPr lang="en-US" dirty="0"/>
              <a:t>In contrast, some software agents (software robots or softbots) exist in rich, unlimited softbots domains. The simulator has a very detailed, complex environment. The software agent needs to choose from a long array of actions in real time. </a:t>
            </a:r>
          </a:p>
          <a:p>
            <a:pPr marL="285750" indent="-285750">
              <a:buFont typeface="Wingdings" panose="05000000000000000000" pitchFamily="2" charset="2"/>
              <a:buChar char="q"/>
            </a:pPr>
            <a:r>
              <a:rPr lang="en-US" dirty="0"/>
              <a:t>The most famous artificial environment is the Turing Test environment, in which one real and other artificial agents are tested on equal ground. This is a very challenging environment as it is highly difficult for a software agent to perform as well as a human.</a:t>
            </a:r>
          </a:p>
          <a:p>
            <a:pPr marL="285750" indent="-285750">
              <a:buFont typeface="Wingdings" panose="05000000000000000000" pitchFamily="2" charset="2"/>
              <a:buChar char="q"/>
            </a:pPr>
            <a:r>
              <a:rPr lang="en-US" b="1" dirty="0">
                <a:highlight>
                  <a:srgbClr val="FFFF00"/>
                </a:highlight>
              </a:rPr>
              <a:t>Turing Test</a:t>
            </a:r>
          </a:p>
          <a:p>
            <a:pPr marL="742950" lvl="1" indent="-285750">
              <a:buFont typeface="Arial" panose="020B0604020202020204" pitchFamily="34" charset="0"/>
              <a:buChar char="•"/>
            </a:pPr>
            <a:r>
              <a:rPr lang="en-US" dirty="0"/>
              <a:t>The success of an intelligent behavior of a system can be measured with Turing Test.</a:t>
            </a:r>
          </a:p>
          <a:p>
            <a:pPr marL="742950" lvl="1" indent="-285750">
              <a:buFont typeface="Arial" panose="020B0604020202020204" pitchFamily="34" charset="0"/>
              <a:buChar char="•"/>
            </a:pPr>
            <a:r>
              <a:rPr lang="en-US" dirty="0"/>
              <a:t>Two persons and a machine to be evaluated participate in the test. Out of the two persons, one plays the role of the tester. Each of them sits in different rooms. The tester is unaware of who is machine and who is a human. He interrogates the questions by typing and sending them to both intelligences, to which he receives typed responses.</a:t>
            </a:r>
          </a:p>
          <a:p>
            <a:pPr marL="742950" lvl="1" indent="-285750">
              <a:buFont typeface="Arial" panose="020B0604020202020204" pitchFamily="34" charset="0"/>
              <a:buChar char="•"/>
            </a:pPr>
            <a:r>
              <a:rPr lang="en-US" dirty="0"/>
              <a:t>This test aims at fooling the tester. If the tester fails to determine machine’s response from the human response, then the machine is said to be intelligent.</a:t>
            </a:r>
          </a:p>
        </p:txBody>
      </p:sp>
    </p:spTree>
    <p:extLst>
      <p:ext uri="{BB962C8B-B14F-4D97-AF65-F5344CB8AC3E}">
        <p14:creationId xmlns:p14="http://schemas.microsoft.com/office/powerpoint/2010/main" val="3805521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8E8D8C-27BE-4004-8B62-D471353E01FC}"/>
              </a:ext>
            </a:extLst>
          </p:cNvPr>
          <p:cNvSpPr txBox="1"/>
          <p:nvPr/>
        </p:nvSpPr>
        <p:spPr>
          <a:xfrm>
            <a:off x="967408" y="1289932"/>
            <a:ext cx="10959548" cy="4524315"/>
          </a:xfrm>
          <a:prstGeom prst="rect">
            <a:avLst/>
          </a:prstGeom>
          <a:noFill/>
        </p:spPr>
        <p:txBody>
          <a:bodyPr wrap="square">
            <a:spAutoFit/>
          </a:bodyPr>
          <a:lstStyle/>
          <a:p>
            <a:r>
              <a:rPr lang="en-US" sz="2400" b="1" dirty="0"/>
              <a:t>Properties of Environment</a:t>
            </a:r>
          </a:p>
          <a:p>
            <a:endParaRPr lang="en-US" sz="2400" b="1" dirty="0"/>
          </a:p>
          <a:p>
            <a:pPr marL="285750" indent="-285750">
              <a:buFont typeface="Arial" panose="020B0604020202020204" pitchFamily="34" charset="0"/>
              <a:buChar char="•"/>
            </a:pPr>
            <a:r>
              <a:rPr lang="en-US" sz="2000" b="1" i="1" dirty="0"/>
              <a:t>Discrete / Continuous </a:t>
            </a:r>
            <a:r>
              <a:rPr lang="en-US" sz="2000" dirty="0"/>
              <a:t>− If there are a limited number of distinct, clearly defined, states of the environment, the environment is discrete (For example, chess); otherwise, it is continuous (For example, driving).</a:t>
            </a:r>
          </a:p>
          <a:p>
            <a:pPr marL="285750" indent="-285750">
              <a:buFont typeface="Arial" panose="020B0604020202020204" pitchFamily="34" charset="0"/>
              <a:buChar char="•"/>
            </a:pPr>
            <a:r>
              <a:rPr lang="en-US" sz="2000" b="1" i="1" dirty="0"/>
              <a:t>Observable / Partially Observable </a:t>
            </a:r>
            <a:r>
              <a:rPr lang="en-US" sz="2000" dirty="0"/>
              <a:t>− If it is possible to determine the complete state of the environment at each time point from the percepts it is observable; otherwise, it is only partially observable.</a:t>
            </a:r>
          </a:p>
          <a:p>
            <a:pPr marL="285750" indent="-285750">
              <a:buFont typeface="Arial" panose="020B0604020202020204" pitchFamily="34" charset="0"/>
              <a:buChar char="•"/>
            </a:pPr>
            <a:r>
              <a:rPr lang="en-US" sz="2000" b="1" i="1" dirty="0"/>
              <a:t>Static / Dynamic </a:t>
            </a:r>
            <a:r>
              <a:rPr lang="en-US" sz="2000" dirty="0"/>
              <a:t>− If the environment does not change while an agent is acting, then it is static; otherwise, it is dynamic.</a:t>
            </a:r>
          </a:p>
          <a:p>
            <a:pPr marL="285750" indent="-285750">
              <a:buFont typeface="Arial" panose="020B0604020202020204" pitchFamily="34" charset="0"/>
              <a:buChar char="•"/>
            </a:pPr>
            <a:r>
              <a:rPr lang="en-US" sz="2000" b="1" i="1" dirty="0"/>
              <a:t>Deterministic vs Stochastic </a:t>
            </a:r>
            <a:r>
              <a:rPr lang="en-US" sz="2000" dirty="0"/>
              <a:t>- If an agent's current state and selected action can completely determine the next state of the environment, then such environment is called a deterministic environment. A stochastic environment is random in nature and cannot be determined completely by an agent. In a deterministic, fully observable environment, agent does not need to worry about uncertainty.</a:t>
            </a:r>
          </a:p>
        </p:txBody>
      </p:sp>
    </p:spTree>
    <p:extLst>
      <p:ext uri="{BB962C8B-B14F-4D97-AF65-F5344CB8AC3E}">
        <p14:creationId xmlns:p14="http://schemas.microsoft.com/office/powerpoint/2010/main" val="1735556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D39DB-61F6-4853-A020-EA3695E9B2A7}"/>
              </a:ext>
            </a:extLst>
          </p:cNvPr>
          <p:cNvSpPr txBox="1"/>
          <p:nvPr/>
        </p:nvSpPr>
        <p:spPr>
          <a:xfrm>
            <a:off x="1033669" y="1407398"/>
            <a:ext cx="10628243" cy="3847207"/>
          </a:xfrm>
          <a:prstGeom prst="rect">
            <a:avLst/>
          </a:prstGeom>
          <a:noFill/>
        </p:spPr>
        <p:txBody>
          <a:bodyPr wrap="square">
            <a:spAutoFit/>
          </a:bodyPr>
          <a:lstStyle/>
          <a:p>
            <a:r>
              <a:rPr lang="en-US" sz="2400" b="1" dirty="0"/>
              <a:t>Properties of Environment cont. </a:t>
            </a:r>
          </a:p>
          <a:p>
            <a:endParaRPr lang="en-US" sz="2000" dirty="0"/>
          </a:p>
          <a:p>
            <a:pPr marL="342900" indent="-342900">
              <a:buFont typeface="Arial" panose="020B0604020202020204" pitchFamily="34" charset="0"/>
              <a:buChar char="•"/>
            </a:pPr>
            <a:r>
              <a:rPr lang="en-US" sz="2000" b="1" i="1" dirty="0"/>
              <a:t>Single agent / Multiple agents </a:t>
            </a:r>
            <a:r>
              <a:rPr lang="en-US" sz="2000" dirty="0"/>
              <a:t>− The environment may contain other agents which may be of the same or different kind as that of the agent.</a:t>
            </a:r>
          </a:p>
          <a:p>
            <a:pPr marL="342900" indent="-342900">
              <a:buFont typeface="Arial" panose="020B0604020202020204" pitchFamily="34" charset="0"/>
              <a:buChar char="•"/>
            </a:pPr>
            <a:r>
              <a:rPr lang="en-US" sz="2000" b="1" i="1" dirty="0"/>
              <a:t>Accessible / Inaccessible </a:t>
            </a:r>
            <a:r>
              <a:rPr lang="en-US" sz="2000" dirty="0"/>
              <a:t>− If the agent’s sensory apparatus can have access to the complete state of the environment, then the environment is accessible to that agent.</a:t>
            </a:r>
          </a:p>
          <a:p>
            <a:pPr marL="342900" indent="-342900">
              <a:buFont typeface="Arial" panose="020B0604020202020204" pitchFamily="34" charset="0"/>
              <a:buChar char="•"/>
            </a:pPr>
            <a:r>
              <a:rPr lang="en-US" sz="2000" b="1" i="1" dirty="0"/>
              <a:t>Deterministic / Non-deterministic </a:t>
            </a:r>
            <a:r>
              <a:rPr lang="en-US" sz="2000" dirty="0"/>
              <a:t>− If the next state of the environment is completely determined by the current state and the actions of the agent, then the environment is deterministic; otherwise, it is non-deterministic.</a:t>
            </a:r>
          </a:p>
          <a:p>
            <a:pPr marL="342900" indent="-342900">
              <a:buFont typeface="Arial" panose="020B0604020202020204" pitchFamily="34" charset="0"/>
              <a:buChar char="•"/>
            </a:pPr>
            <a:r>
              <a:rPr lang="en-US" sz="2000" b="1" i="1" dirty="0"/>
              <a:t>Episodic / Non-episodic </a:t>
            </a:r>
            <a:r>
              <a:rPr lang="en-US" sz="2000" dirty="0"/>
              <a:t>− In an episodic environment, each episode consists of the agent perceiving and then acting. The quality of its action depends just on the episode itself. Subsequent episodes do not depend on the actions in.</a:t>
            </a:r>
          </a:p>
        </p:txBody>
      </p:sp>
    </p:spTree>
    <p:extLst>
      <p:ext uri="{BB962C8B-B14F-4D97-AF65-F5344CB8AC3E}">
        <p14:creationId xmlns:p14="http://schemas.microsoft.com/office/powerpoint/2010/main" val="294045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DF4442-FB85-4C49-B5F3-109A74FBC45B}"/>
              </a:ext>
            </a:extLst>
          </p:cNvPr>
          <p:cNvSpPr txBox="1"/>
          <p:nvPr/>
        </p:nvSpPr>
        <p:spPr>
          <a:xfrm>
            <a:off x="768626" y="650221"/>
            <a:ext cx="6096000" cy="523220"/>
          </a:xfrm>
          <a:prstGeom prst="rect">
            <a:avLst/>
          </a:prstGeom>
          <a:noFill/>
        </p:spPr>
        <p:txBody>
          <a:bodyPr wrap="square">
            <a:spAutoFit/>
          </a:bodyPr>
          <a:lstStyle/>
          <a:p>
            <a:r>
              <a:rPr lang="en-ZA" sz="2800" b="1" dirty="0"/>
              <a:t>AI - Popular Search Algorithms</a:t>
            </a:r>
          </a:p>
        </p:txBody>
      </p:sp>
      <p:sp>
        <p:nvSpPr>
          <p:cNvPr id="5" name="TextBox 4">
            <a:extLst>
              <a:ext uri="{FF2B5EF4-FFF2-40B4-BE49-F238E27FC236}">
                <a16:creationId xmlns:a16="http://schemas.microsoft.com/office/drawing/2014/main" id="{DBE9EF03-1BBA-4343-986B-87EF14448880}"/>
              </a:ext>
            </a:extLst>
          </p:cNvPr>
          <p:cNvSpPr txBox="1"/>
          <p:nvPr/>
        </p:nvSpPr>
        <p:spPr>
          <a:xfrm>
            <a:off x="768625" y="1173441"/>
            <a:ext cx="10906539" cy="4893647"/>
          </a:xfrm>
          <a:prstGeom prst="rect">
            <a:avLst/>
          </a:prstGeom>
          <a:noFill/>
        </p:spPr>
        <p:txBody>
          <a:bodyPr wrap="square">
            <a:spAutoFit/>
          </a:bodyPr>
          <a:lstStyle/>
          <a:p>
            <a:r>
              <a:rPr lang="en-US" sz="2400" b="1" i="1" dirty="0"/>
              <a:t>Search Terminology</a:t>
            </a:r>
          </a:p>
          <a:p>
            <a:pPr marL="285750" indent="-285750">
              <a:buFont typeface="Arial" panose="020B0604020202020204" pitchFamily="34" charset="0"/>
              <a:buChar char="•"/>
            </a:pPr>
            <a:r>
              <a:rPr lang="en-US" sz="2400" b="1" i="1" dirty="0"/>
              <a:t>Problem Space </a:t>
            </a:r>
            <a:r>
              <a:rPr lang="en-US" sz="2400" dirty="0"/>
              <a:t>− It is the environment in which the search takes place. (A set of states and set of operators to change those states)</a:t>
            </a:r>
          </a:p>
          <a:p>
            <a:pPr marL="285750" indent="-285750">
              <a:buFont typeface="Arial" panose="020B0604020202020204" pitchFamily="34" charset="0"/>
              <a:buChar char="•"/>
            </a:pPr>
            <a:r>
              <a:rPr lang="en-US" sz="2400" b="1" i="1" dirty="0"/>
              <a:t>Problem Instance </a:t>
            </a:r>
            <a:r>
              <a:rPr lang="en-US" sz="2400" dirty="0"/>
              <a:t>− It is Initial state + Goal state.</a:t>
            </a:r>
          </a:p>
          <a:p>
            <a:pPr marL="285750" indent="-285750">
              <a:buFont typeface="Arial" panose="020B0604020202020204" pitchFamily="34" charset="0"/>
              <a:buChar char="•"/>
            </a:pPr>
            <a:r>
              <a:rPr lang="en-US" sz="2400" b="1" i="1" dirty="0"/>
              <a:t>Problem Space Graph </a:t>
            </a:r>
            <a:r>
              <a:rPr lang="en-US" sz="2400" dirty="0"/>
              <a:t>− It represents problem state. States are shown by nodes and operators are shown by edges.</a:t>
            </a:r>
          </a:p>
          <a:p>
            <a:pPr marL="285750" indent="-285750">
              <a:buFont typeface="Arial" panose="020B0604020202020204" pitchFamily="34" charset="0"/>
              <a:buChar char="•"/>
            </a:pPr>
            <a:r>
              <a:rPr lang="en-US" sz="2400" b="1" i="1" dirty="0"/>
              <a:t>Depth of a problem </a:t>
            </a:r>
            <a:r>
              <a:rPr lang="en-US" sz="2400" dirty="0"/>
              <a:t>− Length of a shortest path or shortest sequence of operators from Initial State to goal state.</a:t>
            </a:r>
          </a:p>
          <a:p>
            <a:pPr marL="285750" indent="-285750">
              <a:buFont typeface="Arial" panose="020B0604020202020204" pitchFamily="34" charset="0"/>
              <a:buChar char="•"/>
            </a:pPr>
            <a:r>
              <a:rPr lang="en-US" sz="2400" b="1" i="1" dirty="0"/>
              <a:t>Space Complexity </a:t>
            </a:r>
            <a:r>
              <a:rPr lang="en-US" sz="2400" dirty="0"/>
              <a:t>− The maximum number of nodes that are stored in memory.</a:t>
            </a:r>
          </a:p>
          <a:p>
            <a:pPr marL="285750" indent="-285750">
              <a:buFont typeface="Arial" panose="020B0604020202020204" pitchFamily="34" charset="0"/>
              <a:buChar char="•"/>
            </a:pPr>
            <a:r>
              <a:rPr lang="en-US" sz="2400" b="1" i="1" dirty="0"/>
              <a:t>Time Complexity </a:t>
            </a:r>
            <a:r>
              <a:rPr lang="en-US" sz="2400" dirty="0"/>
              <a:t>− The maximum number of nodes that are created.</a:t>
            </a:r>
          </a:p>
          <a:p>
            <a:pPr marL="285750" indent="-285750">
              <a:buFont typeface="Arial" panose="020B0604020202020204" pitchFamily="34" charset="0"/>
              <a:buChar char="•"/>
            </a:pPr>
            <a:r>
              <a:rPr lang="en-US" sz="2400" b="1" i="1" dirty="0"/>
              <a:t>Admissibility</a:t>
            </a:r>
            <a:r>
              <a:rPr lang="en-US" sz="2400" dirty="0"/>
              <a:t> − A property of an algorithm to always find an optimal solution.</a:t>
            </a:r>
          </a:p>
          <a:p>
            <a:pPr marL="285750" indent="-285750">
              <a:buFont typeface="Arial" panose="020B0604020202020204" pitchFamily="34" charset="0"/>
              <a:buChar char="•"/>
            </a:pPr>
            <a:r>
              <a:rPr lang="en-US" sz="2400" b="1" i="1" dirty="0"/>
              <a:t>Branching Factor </a:t>
            </a:r>
            <a:r>
              <a:rPr lang="en-US" sz="2400" dirty="0"/>
              <a:t>− The average number of child nodes in the problem space graph.</a:t>
            </a:r>
          </a:p>
          <a:p>
            <a:pPr marL="285750" indent="-285750">
              <a:buFont typeface="Arial" panose="020B0604020202020204" pitchFamily="34" charset="0"/>
              <a:buChar char="•"/>
            </a:pPr>
            <a:r>
              <a:rPr lang="en-US" sz="2400" b="1" i="1" dirty="0"/>
              <a:t>Depth </a:t>
            </a:r>
            <a:r>
              <a:rPr lang="en-US" sz="2400" dirty="0"/>
              <a:t>− Length of the shortest path from initial state to goal state.</a:t>
            </a:r>
          </a:p>
        </p:txBody>
      </p:sp>
    </p:spTree>
    <p:extLst>
      <p:ext uri="{BB962C8B-B14F-4D97-AF65-F5344CB8AC3E}">
        <p14:creationId xmlns:p14="http://schemas.microsoft.com/office/powerpoint/2010/main" val="837356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BBE52B-7198-44ED-9608-8BE60459C2B0}"/>
              </a:ext>
            </a:extLst>
          </p:cNvPr>
          <p:cNvSpPr txBox="1"/>
          <p:nvPr/>
        </p:nvSpPr>
        <p:spPr>
          <a:xfrm>
            <a:off x="834886" y="676441"/>
            <a:ext cx="11078817" cy="4624343"/>
          </a:xfrm>
          <a:prstGeom prst="rect">
            <a:avLst/>
          </a:prstGeom>
          <a:noFill/>
        </p:spPr>
        <p:txBody>
          <a:bodyPr wrap="square">
            <a:spAutoFit/>
          </a:bodyPr>
          <a:lstStyle/>
          <a:p>
            <a:r>
              <a:rPr lang="en-US" sz="2800" b="1" dirty="0"/>
              <a:t>SEARCH</a:t>
            </a:r>
          </a:p>
          <a:p>
            <a:endParaRPr lang="en-US" sz="1050" b="1" dirty="0"/>
          </a:p>
          <a:p>
            <a:r>
              <a:rPr lang="en-US" dirty="0"/>
              <a:t>Searching is a step-by-step procedure to solve a search-problem in each search space. </a:t>
            </a:r>
          </a:p>
          <a:p>
            <a:r>
              <a:rPr lang="en-US" dirty="0"/>
              <a:t>A search </a:t>
            </a:r>
            <a:r>
              <a:rPr lang="en-US" sz="2000" b="1" dirty="0"/>
              <a:t>problem </a:t>
            </a:r>
            <a:r>
              <a:rPr lang="en-US" dirty="0"/>
              <a:t>can have three main factors:</a:t>
            </a:r>
          </a:p>
          <a:p>
            <a:pPr marL="742950" lvl="1" indent="-285750">
              <a:buFont typeface="Arial" panose="020B0604020202020204" pitchFamily="34" charset="0"/>
              <a:buChar char="•"/>
            </a:pPr>
            <a:r>
              <a:rPr lang="en-US" dirty="0"/>
              <a:t>Search Space: Search space represents a set of possible solutions, which a system may have.</a:t>
            </a:r>
          </a:p>
          <a:p>
            <a:pPr marL="742950" lvl="1" indent="-285750">
              <a:buFont typeface="Arial" panose="020B0604020202020204" pitchFamily="34" charset="0"/>
              <a:buChar char="•"/>
            </a:pPr>
            <a:r>
              <a:rPr lang="en-US" dirty="0"/>
              <a:t>Start State: It is a state from where agent begins the search.</a:t>
            </a:r>
          </a:p>
          <a:p>
            <a:pPr marL="742950" lvl="1" indent="-285750">
              <a:buFont typeface="Arial" panose="020B0604020202020204" pitchFamily="34" charset="0"/>
              <a:buChar char="•"/>
            </a:pPr>
            <a:r>
              <a:rPr lang="en-US" dirty="0"/>
              <a:t>Goal test: It is a function which observe the current state and returns whether the goal state is achieved or not.</a:t>
            </a:r>
          </a:p>
          <a:p>
            <a:endParaRPr lang="en-US" dirty="0"/>
          </a:p>
          <a:p>
            <a:r>
              <a:rPr lang="en-US" sz="2000" b="1" dirty="0"/>
              <a:t>COMPONENTS OF A SEARCH PROBLEM</a:t>
            </a:r>
          </a:p>
          <a:p>
            <a:pPr marL="742950" lvl="1" indent="-285750">
              <a:buFont typeface="Arial" panose="020B0604020202020204" pitchFamily="34" charset="0"/>
              <a:buChar char="•"/>
            </a:pPr>
            <a:r>
              <a:rPr lang="en-US" dirty="0"/>
              <a:t>Search tree</a:t>
            </a:r>
          </a:p>
          <a:p>
            <a:pPr marL="742950" lvl="1" indent="-285750">
              <a:buFont typeface="Arial" panose="020B0604020202020204" pitchFamily="34" charset="0"/>
              <a:buChar char="•"/>
            </a:pPr>
            <a:r>
              <a:rPr lang="en-US" dirty="0"/>
              <a:t>Actions</a:t>
            </a:r>
          </a:p>
          <a:p>
            <a:pPr marL="742950" lvl="1" indent="-285750">
              <a:buFont typeface="Arial" panose="020B0604020202020204" pitchFamily="34" charset="0"/>
              <a:buChar char="•"/>
            </a:pPr>
            <a:r>
              <a:rPr lang="en-US" dirty="0"/>
              <a:t>Transition model</a:t>
            </a:r>
          </a:p>
          <a:p>
            <a:pPr marL="742950" lvl="1" indent="-285750">
              <a:buFont typeface="Arial" panose="020B0604020202020204" pitchFamily="34" charset="0"/>
              <a:buChar char="•"/>
            </a:pPr>
            <a:r>
              <a:rPr lang="en-US" dirty="0"/>
              <a:t>Path Cost</a:t>
            </a:r>
          </a:p>
          <a:p>
            <a:pPr marL="742950" lvl="1" indent="-285750">
              <a:buFont typeface="Arial" panose="020B0604020202020204" pitchFamily="34" charset="0"/>
              <a:buChar char="•"/>
            </a:pPr>
            <a:r>
              <a:rPr lang="en-US" dirty="0"/>
              <a:t>Solution</a:t>
            </a:r>
          </a:p>
          <a:p>
            <a:pPr marL="742950" lvl="1" indent="-285750">
              <a:buFont typeface="Arial" panose="020B0604020202020204" pitchFamily="34" charset="0"/>
              <a:buChar char="•"/>
            </a:pPr>
            <a:r>
              <a:rPr lang="en-US" dirty="0"/>
              <a:t>Optimal Solution</a:t>
            </a:r>
            <a:endParaRPr lang="en-ZA" dirty="0"/>
          </a:p>
        </p:txBody>
      </p:sp>
    </p:spTree>
    <p:extLst>
      <p:ext uri="{BB962C8B-B14F-4D97-AF65-F5344CB8AC3E}">
        <p14:creationId xmlns:p14="http://schemas.microsoft.com/office/powerpoint/2010/main" val="424457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0A9E3E-C4C3-4A48-BA24-364ADC4F5D6A}"/>
              </a:ext>
            </a:extLst>
          </p:cNvPr>
          <p:cNvSpPr txBox="1"/>
          <p:nvPr/>
        </p:nvSpPr>
        <p:spPr>
          <a:xfrm>
            <a:off x="583094" y="566027"/>
            <a:ext cx="11317357" cy="1292662"/>
          </a:xfrm>
          <a:prstGeom prst="rect">
            <a:avLst/>
          </a:prstGeom>
          <a:noFill/>
        </p:spPr>
        <p:txBody>
          <a:bodyPr wrap="square">
            <a:spAutoFit/>
          </a:bodyPr>
          <a:lstStyle/>
          <a:p>
            <a:r>
              <a:rPr lang="en-US" sz="2400" b="1" dirty="0"/>
              <a:t>Types of search algorithms</a:t>
            </a:r>
          </a:p>
          <a:p>
            <a:endParaRPr lang="en-US" dirty="0"/>
          </a:p>
          <a:p>
            <a:r>
              <a:rPr lang="en-US" dirty="0"/>
              <a:t>Based on the search problems we can classify the search algorithms into uninformed (Blind search) search and informed search (Heuristic search) algorithms.</a:t>
            </a:r>
            <a:endParaRPr lang="en-ZA" dirty="0"/>
          </a:p>
        </p:txBody>
      </p:sp>
      <p:pic>
        <p:nvPicPr>
          <p:cNvPr id="5" name="Picture 4">
            <a:extLst>
              <a:ext uri="{FF2B5EF4-FFF2-40B4-BE49-F238E27FC236}">
                <a16:creationId xmlns:a16="http://schemas.microsoft.com/office/drawing/2014/main" id="{4BE68F55-2699-4E55-A93F-1C7F2290B411}"/>
              </a:ext>
            </a:extLst>
          </p:cNvPr>
          <p:cNvPicPr>
            <a:picLocks noChangeAspect="1"/>
          </p:cNvPicPr>
          <p:nvPr/>
        </p:nvPicPr>
        <p:blipFill>
          <a:blip r:embed="rId2"/>
          <a:stretch>
            <a:fillRect/>
          </a:stretch>
        </p:blipFill>
        <p:spPr>
          <a:xfrm>
            <a:off x="1617786" y="1858689"/>
            <a:ext cx="9425352" cy="4809397"/>
          </a:xfrm>
          <a:prstGeom prst="rect">
            <a:avLst/>
          </a:prstGeom>
        </p:spPr>
      </p:pic>
    </p:spTree>
    <p:extLst>
      <p:ext uri="{BB962C8B-B14F-4D97-AF65-F5344CB8AC3E}">
        <p14:creationId xmlns:p14="http://schemas.microsoft.com/office/powerpoint/2010/main" val="3787071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D852D-D4DF-4365-BA07-FDE91641D0E1}"/>
              </a:ext>
            </a:extLst>
          </p:cNvPr>
          <p:cNvSpPr txBox="1"/>
          <p:nvPr/>
        </p:nvSpPr>
        <p:spPr>
          <a:xfrm>
            <a:off x="715617" y="636969"/>
            <a:ext cx="9713844" cy="5447645"/>
          </a:xfrm>
          <a:prstGeom prst="rect">
            <a:avLst/>
          </a:prstGeom>
          <a:noFill/>
        </p:spPr>
        <p:txBody>
          <a:bodyPr wrap="square">
            <a:spAutoFit/>
          </a:bodyPr>
          <a:lstStyle/>
          <a:p>
            <a:r>
              <a:rPr lang="en-ZA" sz="2400" b="1" dirty="0"/>
              <a:t>TYPES OF SEARCH ALGORITHMS</a:t>
            </a:r>
          </a:p>
          <a:p>
            <a:pPr marL="285750" indent="-285750">
              <a:buFont typeface="Arial" panose="020B0604020202020204" pitchFamily="34" charset="0"/>
              <a:buChar char="•"/>
            </a:pPr>
            <a:r>
              <a:rPr lang="en-ZA" b="1" dirty="0"/>
              <a:t>Brute-Force Search Strategies</a:t>
            </a:r>
          </a:p>
          <a:p>
            <a:pPr marL="742950" lvl="1" indent="-285750">
              <a:buFont typeface="Wingdings" panose="05000000000000000000" pitchFamily="2" charset="2"/>
              <a:buChar char="§"/>
            </a:pPr>
            <a:r>
              <a:rPr lang="en-ZA" dirty="0"/>
              <a:t>Breadth-First Search</a:t>
            </a:r>
          </a:p>
          <a:p>
            <a:pPr marL="742950" lvl="1" indent="-285750">
              <a:buFont typeface="Wingdings" panose="05000000000000000000" pitchFamily="2" charset="2"/>
              <a:buChar char="§"/>
            </a:pPr>
            <a:r>
              <a:rPr lang="en-ZA" dirty="0"/>
              <a:t>Depth-First Search</a:t>
            </a:r>
          </a:p>
          <a:p>
            <a:pPr marL="742950" lvl="1" indent="-285750">
              <a:buFont typeface="Wingdings" panose="05000000000000000000" pitchFamily="2" charset="2"/>
              <a:buChar char="§"/>
            </a:pPr>
            <a:r>
              <a:rPr lang="en-ZA" dirty="0"/>
              <a:t>Bidirectional Search</a:t>
            </a:r>
          </a:p>
          <a:p>
            <a:pPr marL="742950" lvl="1" indent="-285750">
              <a:buFont typeface="Wingdings" panose="05000000000000000000" pitchFamily="2" charset="2"/>
              <a:buChar char="§"/>
            </a:pPr>
            <a:r>
              <a:rPr lang="en-ZA" dirty="0"/>
              <a:t>Uniform Cost Search</a:t>
            </a:r>
          </a:p>
          <a:p>
            <a:pPr marL="742950" lvl="1" indent="-285750">
              <a:buFont typeface="Wingdings" panose="05000000000000000000" pitchFamily="2" charset="2"/>
              <a:buChar char="§"/>
            </a:pPr>
            <a:r>
              <a:rPr lang="en-ZA" dirty="0"/>
              <a:t>Iterative Deepening Depth-First Search</a:t>
            </a:r>
          </a:p>
          <a:p>
            <a:pPr marL="285750" indent="-285750">
              <a:buFont typeface="Arial" panose="020B0604020202020204" pitchFamily="34" charset="0"/>
              <a:buChar char="•"/>
            </a:pPr>
            <a:r>
              <a:rPr lang="en-ZA" b="1" dirty="0"/>
              <a:t>Informed (Heuristic) Search Strategies</a:t>
            </a:r>
          </a:p>
          <a:p>
            <a:pPr marL="742950" lvl="1" indent="-285750">
              <a:buFont typeface="Wingdings" panose="05000000000000000000" pitchFamily="2" charset="2"/>
              <a:buChar char="§"/>
            </a:pPr>
            <a:r>
              <a:rPr lang="en-ZA" dirty="0"/>
              <a:t>Heuristic Evaluation Functions</a:t>
            </a:r>
          </a:p>
          <a:p>
            <a:pPr marL="742950" lvl="1" indent="-285750">
              <a:buFont typeface="Wingdings" panose="05000000000000000000" pitchFamily="2" charset="2"/>
              <a:buChar char="§"/>
            </a:pPr>
            <a:r>
              <a:rPr lang="en-ZA" dirty="0"/>
              <a:t>Pure Heuristic Search</a:t>
            </a:r>
          </a:p>
          <a:p>
            <a:pPr marL="742950" lvl="1" indent="-285750">
              <a:buFont typeface="Wingdings" panose="05000000000000000000" pitchFamily="2" charset="2"/>
              <a:buChar char="§"/>
            </a:pPr>
            <a:r>
              <a:rPr lang="en-ZA" dirty="0"/>
              <a:t>Best First Search</a:t>
            </a:r>
          </a:p>
          <a:p>
            <a:pPr marL="742950" lvl="1" indent="-285750">
              <a:buFont typeface="Wingdings" panose="05000000000000000000" pitchFamily="2" charset="2"/>
              <a:buChar char="§"/>
            </a:pPr>
            <a:r>
              <a:rPr lang="en-ZA" dirty="0"/>
              <a:t>The A Algorithm</a:t>
            </a:r>
          </a:p>
          <a:p>
            <a:pPr marL="742950" lvl="1" indent="-285750">
              <a:buFont typeface="Wingdings" panose="05000000000000000000" pitchFamily="2" charset="2"/>
              <a:buChar char="§"/>
            </a:pPr>
            <a:r>
              <a:rPr lang="en-ZA" dirty="0"/>
              <a:t>The A* Algorithm</a:t>
            </a:r>
          </a:p>
          <a:p>
            <a:pPr marL="742950" lvl="1" indent="-285750">
              <a:buFont typeface="Wingdings" panose="05000000000000000000" pitchFamily="2" charset="2"/>
              <a:buChar char="§"/>
            </a:pPr>
            <a:r>
              <a:rPr lang="en-ZA" dirty="0"/>
              <a:t>Greedy Best First Search</a:t>
            </a:r>
          </a:p>
          <a:p>
            <a:pPr marL="285750" indent="-285750">
              <a:buFont typeface="Arial" panose="020B0604020202020204" pitchFamily="34" charset="0"/>
              <a:buChar char="•"/>
            </a:pPr>
            <a:r>
              <a:rPr lang="en-ZA" b="1" dirty="0"/>
              <a:t>Local Search Algorithms</a:t>
            </a:r>
          </a:p>
          <a:p>
            <a:pPr marL="742950" lvl="1" indent="-285750">
              <a:buFont typeface="Wingdings" panose="05000000000000000000" pitchFamily="2" charset="2"/>
              <a:buChar char="§"/>
            </a:pPr>
            <a:r>
              <a:rPr lang="en-ZA" dirty="0"/>
              <a:t>Hill-Climbing Search</a:t>
            </a:r>
          </a:p>
          <a:p>
            <a:pPr marL="742950" lvl="1" indent="-285750">
              <a:buFont typeface="Wingdings" panose="05000000000000000000" pitchFamily="2" charset="2"/>
              <a:buChar char="§"/>
            </a:pPr>
            <a:r>
              <a:rPr lang="en-ZA" dirty="0"/>
              <a:t>Greedy Hill Climbing</a:t>
            </a:r>
          </a:p>
          <a:p>
            <a:pPr marL="742950" lvl="1" indent="-285750">
              <a:buFont typeface="Wingdings" panose="05000000000000000000" pitchFamily="2" charset="2"/>
              <a:buChar char="§"/>
            </a:pPr>
            <a:r>
              <a:rPr lang="en-ZA" dirty="0"/>
              <a:t>Branch and Bound Techniques</a:t>
            </a:r>
          </a:p>
          <a:p>
            <a:endParaRPr lang="en-ZA" dirty="0"/>
          </a:p>
        </p:txBody>
      </p:sp>
    </p:spTree>
    <p:extLst>
      <p:ext uri="{BB962C8B-B14F-4D97-AF65-F5344CB8AC3E}">
        <p14:creationId xmlns:p14="http://schemas.microsoft.com/office/powerpoint/2010/main" val="422409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572A22-A8E6-47FD-A034-A836B28812CA}"/>
              </a:ext>
            </a:extLst>
          </p:cNvPr>
          <p:cNvSpPr txBox="1"/>
          <p:nvPr/>
        </p:nvSpPr>
        <p:spPr>
          <a:xfrm>
            <a:off x="663780" y="342988"/>
            <a:ext cx="11382445" cy="3970318"/>
          </a:xfrm>
          <a:prstGeom prst="rect">
            <a:avLst/>
          </a:prstGeom>
          <a:noFill/>
        </p:spPr>
        <p:txBody>
          <a:bodyPr wrap="square">
            <a:spAutoFit/>
          </a:bodyPr>
          <a:lstStyle/>
          <a:p>
            <a:r>
              <a:rPr lang="en-US" b="1" dirty="0"/>
              <a:t>Breadth-first Search:</a:t>
            </a:r>
          </a:p>
          <a:p>
            <a:pPr marL="742950" lvl="1" indent="-285750">
              <a:buFont typeface="Arial" panose="020B0604020202020204" pitchFamily="34" charset="0"/>
              <a:buChar char="•"/>
            </a:pPr>
            <a:r>
              <a:rPr lang="en-US" dirty="0"/>
              <a:t>Breadth-first search is the most common search strategy for traversing a tree or graph. </a:t>
            </a:r>
          </a:p>
          <a:p>
            <a:pPr marL="742950" lvl="1" indent="-285750">
              <a:buFont typeface="Arial" panose="020B0604020202020204" pitchFamily="34" charset="0"/>
              <a:buChar char="•"/>
            </a:pPr>
            <a:r>
              <a:rPr lang="en-US" dirty="0"/>
              <a:t>This algorithm searches breadthwise in a tree or graph, so it is called breadth-first search.</a:t>
            </a:r>
          </a:p>
          <a:p>
            <a:pPr marL="742950" lvl="1" indent="-285750">
              <a:buFont typeface="Arial" panose="020B0604020202020204" pitchFamily="34" charset="0"/>
              <a:buChar char="•"/>
            </a:pPr>
            <a:r>
              <a:rPr lang="en-US" dirty="0"/>
              <a:t>BFS algorithm starts searching from the root node of the tree and expands all successor node at the current level before moving to nodes of next level.</a:t>
            </a:r>
          </a:p>
          <a:p>
            <a:pPr marL="742950" lvl="1" indent="-285750">
              <a:buFont typeface="Arial" panose="020B0604020202020204" pitchFamily="34" charset="0"/>
              <a:buChar char="•"/>
            </a:pPr>
            <a:r>
              <a:rPr lang="en-US" dirty="0"/>
              <a:t>The breadth-first search algorithm is an example of a general-graph search algorithm.</a:t>
            </a:r>
          </a:p>
          <a:p>
            <a:pPr marL="742950" lvl="1" indent="-285750">
              <a:buFont typeface="Arial" panose="020B0604020202020204" pitchFamily="34" charset="0"/>
              <a:buChar char="•"/>
            </a:pPr>
            <a:r>
              <a:rPr lang="en-US" dirty="0"/>
              <a:t>Breadth-first search implemented using FIFO queue data structure.</a:t>
            </a:r>
          </a:p>
          <a:p>
            <a:r>
              <a:rPr lang="en-US" b="1" i="1" dirty="0"/>
              <a:t>Advantages:</a:t>
            </a:r>
          </a:p>
          <a:p>
            <a:pPr marL="742950" lvl="1" indent="-285750">
              <a:buFont typeface="Arial" panose="020B0604020202020204" pitchFamily="34" charset="0"/>
              <a:buChar char="•"/>
            </a:pPr>
            <a:r>
              <a:rPr lang="en-US" dirty="0"/>
              <a:t>BFS will provide a solution if any solution exists.</a:t>
            </a:r>
          </a:p>
          <a:p>
            <a:pPr marL="742950" lvl="1" indent="-285750">
              <a:buFont typeface="Arial" panose="020B0604020202020204" pitchFamily="34" charset="0"/>
              <a:buChar char="•"/>
            </a:pPr>
            <a:r>
              <a:rPr lang="en-US" dirty="0"/>
              <a:t>If there are more than one solutions for a given problem, then BFS will provide the minimal solution which requires the least number of steps.</a:t>
            </a:r>
          </a:p>
          <a:p>
            <a:r>
              <a:rPr lang="en-US" b="1" i="1" dirty="0"/>
              <a:t>Disadvantages:</a:t>
            </a:r>
          </a:p>
          <a:p>
            <a:pPr marL="742950" lvl="1" indent="-285750">
              <a:buFont typeface="Arial" panose="020B0604020202020204" pitchFamily="34" charset="0"/>
              <a:buChar char="•"/>
            </a:pPr>
            <a:r>
              <a:rPr lang="en-US" dirty="0"/>
              <a:t>It requires lots of memory since each level of the tree must be saved into memory to expand the next level.</a:t>
            </a:r>
          </a:p>
          <a:p>
            <a:pPr marL="742950" lvl="1" indent="-285750">
              <a:buFont typeface="Arial" panose="020B0604020202020204" pitchFamily="34" charset="0"/>
              <a:buChar char="•"/>
            </a:pPr>
            <a:r>
              <a:rPr lang="en-US" dirty="0"/>
              <a:t>BFS needs lots of time if the solution is far away from the root node.</a:t>
            </a:r>
            <a:endParaRPr lang="en-ZA" dirty="0"/>
          </a:p>
        </p:txBody>
      </p:sp>
      <p:pic>
        <p:nvPicPr>
          <p:cNvPr id="5" name="Picture 4">
            <a:extLst>
              <a:ext uri="{FF2B5EF4-FFF2-40B4-BE49-F238E27FC236}">
                <a16:creationId xmlns:a16="http://schemas.microsoft.com/office/drawing/2014/main" id="{2175B861-5A9C-4015-B746-65FD7B6F9BF6}"/>
              </a:ext>
            </a:extLst>
          </p:cNvPr>
          <p:cNvPicPr>
            <a:picLocks noChangeAspect="1"/>
          </p:cNvPicPr>
          <p:nvPr/>
        </p:nvPicPr>
        <p:blipFill>
          <a:blip r:embed="rId2"/>
          <a:stretch>
            <a:fillRect/>
          </a:stretch>
        </p:blipFill>
        <p:spPr>
          <a:xfrm>
            <a:off x="6877879" y="4187687"/>
            <a:ext cx="4439478" cy="2458278"/>
          </a:xfrm>
          <a:prstGeom prst="rect">
            <a:avLst/>
          </a:prstGeom>
        </p:spPr>
      </p:pic>
    </p:spTree>
    <p:extLst>
      <p:ext uri="{BB962C8B-B14F-4D97-AF65-F5344CB8AC3E}">
        <p14:creationId xmlns:p14="http://schemas.microsoft.com/office/powerpoint/2010/main" val="3763710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1C840E-9E04-4691-9CDD-D5B954444C55}"/>
              </a:ext>
            </a:extLst>
          </p:cNvPr>
          <p:cNvSpPr txBox="1"/>
          <p:nvPr/>
        </p:nvSpPr>
        <p:spPr>
          <a:xfrm>
            <a:off x="530087" y="257844"/>
            <a:ext cx="11410122" cy="1785104"/>
          </a:xfrm>
          <a:prstGeom prst="rect">
            <a:avLst/>
          </a:prstGeom>
          <a:noFill/>
        </p:spPr>
        <p:txBody>
          <a:bodyPr wrap="square">
            <a:spAutoFit/>
          </a:bodyPr>
          <a:lstStyle/>
          <a:p>
            <a:r>
              <a:rPr lang="en-US" sz="2000" b="1" dirty="0"/>
              <a:t>Depth-first Search</a:t>
            </a:r>
          </a:p>
          <a:p>
            <a:pPr marL="742950" lvl="1" indent="-285750">
              <a:buFont typeface="Arial" panose="020B0604020202020204" pitchFamily="34" charset="0"/>
              <a:buChar char="•"/>
            </a:pPr>
            <a:r>
              <a:rPr lang="en-US" dirty="0"/>
              <a:t>Depth-first search is a recursive algorithm for traversing a tree or graph data structure.</a:t>
            </a:r>
          </a:p>
          <a:p>
            <a:pPr marL="742950" lvl="1" indent="-285750">
              <a:buFont typeface="Arial" panose="020B0604020202020204" pitchFamily="34" charset="0"/>
              <a:buChar char="•"/>
            </a:pPr>
            <a:r>
              <a:rPr lang="en-US" dirty="0"/>
              <a:t>It is called the depth-first search because it starts from the root node and follows each path to its greatest depth node before moving to the next path.</a:t>
            </a:r>
          </a:p>
          <a:p>
            <a:pPr marL="742950" lvl="1" indent="-285750">
              <a:buFont typeface="Arial" panose="020B0604020202020204" pitchFamily="34" charset="0"/>
              <a:buChar char="•"/>
            </a:pPr>
            <a:r>
              <a:rPr lang="en-US" dirty="0"/>
              <a:t>DFS uses a stack data structure for its implementation.</a:t>
            </a:r>
          </a:p>
          <a:p>
            <a:pPr marL="742950" lvl="1" indent="-285750">
              <a:buFont typeface="Arial" panose="020B0604020202020204" pitchFamily="34" charset="0"/>
              <a:buChar char="•"/>
            </a:pPr>
            <a:r>
              <a:rPr lang="en-US" dirty="0"/>
              <a:t>The process of the DFS algorithm is like the BFS algorithm.</a:t>
            </a:r>
            <a:endParaRPr lang="en-ZA" dirty="0"/>
          </a:p>
        </p:txBody>
      </p:sp>
      <p:sp>
        <p:nvSpPr>
          <p:cNvPr id="5" name="TextBox 4">
            <a:extLst>
              <a:ext uri="{FF2B5EF4-FFF2-40B4-BE49-F238E27FC236}">
                <a16:creationId xmlns:a16="http://schemas.microsoft.com/office/drawing/2014/main" id="{0A76C447-7969-45E6-A209-C8B17134BB06}"/>
              </a:ext>
            </a:extLst>
          </p:cNvPr>
          <p:cNvSpPr txBox="1"/>
          <p:nvPr/>
        </p:nvSpPr>
        <p:spPr>
          <a:xfrm>
            <a:off x="530086" y="2042948"/>
            <a:ext cx="11237843" cy="1508105"/>
          </a:xfrm>
          <a:prstGeom prst="rect">
            <a:avLst/>
          </a:prstGeom>
          <a:noFill/>
        </p:spPr>
        <p:txBody>
          <a:bodyPr wrap="square">
            <a:spAutoFit/>
          </a:bodyPr>
          <a:lstStyle/>
          <a:p>
            <a:r>
              <a:rPr lang="en-US" sz="2000" b="1" i="1" dirty="0"/>
              <a:t>Advantage:</a:t>
            </a:r>
          </a:p>
          <a:p>
            <a:pPr marL="742950" lvl="1" indent="-285750">
              <a:buFont typeface="Arial" panose="020B0604020202020204" pitchFamily="34" charset="0"/>
              <a:buChar char="•"/>
            </a:pPr>
            <a:r>
              <a:rPr lang="en-US" dirty="0"/>
              <a:t>DFS requires very less memory as it only needs to store a stack of the nodes on the path from root node to the current node.</a:t>
            </a:r>
          </a:p>
          <a:p>
            <a:pPr marL="742950" lvl="1" indent="-285750">
              <a:buFont typeface="Arial" panose="020B0604020202020204" pitchFamily="34" charset="0"/>
              <a:buChar char="•"/>
            </a:pPr>
            <a:r>
              <a:rPr lang="en-US" dirty="0"/>
              <a:t>It takes less time to reach to the goal node than BFS algorithm (if it traverses in the right path).</a:t>
            </a:r>
          </a:p>
          <a:p>
            <a:r>
              <a:rPr lang="en-US" b="1" i="1" dirty="0"/>
              <a:t>Disadvantage:</a:t>
            </a:r>
          </a:p>
        </p:txBody>
      </p:sp>
      <p:sp>
        <p:nvSpPr>
          <p:cNvPr id="7" name="TextBox 6">
            <a:extLst>
              <a:ext uri="{FF2B5EF4-FFF2-40B4-BE49-F238E27FC236}">
                <a16:creationId xmlns:a16="http://schemas.microsoft.com/office/drawing/2014/main" id="{E2CAC1A1-65B7-4A6D-828A-CEBC221C46A6}"/>
              </a:ext>
            </a:extLst>
          </p:cNvPr>
          <p:cNvSpPr txBox="1"/>
          <p:nvPr/>
        </p:nvSpPr>
        <p:spPr>
          <a:xfrm>
            <a:off x="530085" y="3614724"/>
            <a:ext cx="11410122" cy="646331"/>
          </a:xfrm>
          <a:prstGeom prst="rect">
            <a:avLst/>
          </a:prstGeom>
          <a:noFill/>
        </p:spPr>
        <p:txBody>
          <a:bodyPr wrap="square">
            <a:spAutoFit/>
          </a:bodyPr>
          <a:lstStyle/>
          <a:p>
            <a:pPr marL="742950" lvl="1" indent="-285750">
              <a:buFont typeface="Arial" panose="020B0604020202020204" pitchFamily="34" charset="0"/>
              <a:buChar char="•"/>
            </a:pPr>
            <a:r>
              <a:rPr lang="en-US" dirty="0"/>
              <a:t>There is the possibility that many states keep re-occurring, and there is no guarantee of finding the solution.</a:t>
            </a:r>
          </a:p>
          <a:p>
            <a:pPr marL="742950" lvl="1" indent="-285750">
              <a:buFont typeface="Arial" panose="020B0604020202020204" pitchFamily="34" charset="0"/>
              <a:buChar char="•"/>
            </a:pPr>
            <a:r>
              <a:rPr lang="en-US" dirty="0"/>
              <a:t>DFS algorithm goes for deep down searching and sometimes it may go to the infinite loop.</a:t>
            </a:r>
            <a:endParaRPr lang="en-ZA" dirty="0"/>
          </a:p>
        </p:txBody>
      </p:sp>
      <p:pic>
        <p:nvPicPr>
          <p:cNvPr id="9" name="Picture 8">
            <a:extLst>
              <a:ext uri="{FF2B5EF4-FFF2-40B4-BE49-F238E27FC236}">
                <a16:creationId xmlns:a16="http://schemas.microsoft.com/office/drawing/2014/main" id="{15736EB6-944B-4C99-A410-293569787036}"/>
              </a:ext>
            </a:extLst>
          </p:cNvPr>
          <p:cNvPicPr>
            <a:picLocks noChangeAspect="1"/>
          </p:cNvPicPr>
          <p:nvPr/>
        </p:nvPicPr>
        <p:blipFill>
          <a:blip r:embed="rId2"/>
          <a:stretch>
            <a:fillRect/>
          </a:stretch>
        </p:blipFill>
        <p:spPr>
          <a:xfrm>
            <a:off x="6844746" y="4261055"/>
            <a:ext cx="3955776" cy="2458862"/>
          </a:xfrm>
          <a:prstGeom prst="rect">
            <a:avLst/>
          </a:prstGeom>
        </p:spPr>
      </p:pic>
    </p:spTree>
    <p:extLst>
      <p:ext uri="{BB962C8B-B14F-4D97-AF65-F5344CB8AC3E}">
        <p14:creationId xmlns:p14="http://schemas.microsoft.com/office/powerpoint/2010/main" val="947322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37E696-2C14-4DAB-AD34-3F745A40C8BE}"/>
              </a:ext>
            </a:extLst>
          </p:cNvPr>
          <p:cNvSpPr txBox="1"/>
          <p:nvPr/>
        </p:nvSpPr>
        <p:spPr>
          <a:xfrm>
            <a:off x="569842" y="162199"/>
            <a:ext cx="11198087" cy="4278094"/>
          </a:xfrm>
          <a:prstGeom prst="rect">
            <a:avLst/>
          </a:prstGeom>
          <a:noFill/>
        </p:spPr>
        <p:txBody>
          <a:bodyPr wrap="square">
            <a:spAutoFit/>
          </a:bodyPr>
          <a:lstStyle/>
          <a:p>
            <a:r>
              <a:rPr lang="en-US" sz="2000" b="1" dirty="0"/>
              <a:t>Depth-Limited Search Algorithm:</a:t>
            </a:r>
          </a:p>
          <a:p>
            <a:pPr marL="742950" lvl="1" indent="-285750">
              <a:buFont typeface="Arial" panose="020B0604020202020204" pitchFamily="34" charset="0"/>
              <a:buChar char="•"/>
            </a:pPr>
            <a:r>
              <a:rPr lang="en-US" dirty="0"/>
              <a:t>A depth-limited search algorithm is similar to depth-first search with a predetermined limit. </a:t>
            </a:r>
          </a:p>
          <a:p>
            <a:pPr marL="742950" lvl="1" indent="-285750">
              <a:buFont typeface="Arial" panose="020B0604020202020204" pitchFamily="34" charset="0"/>
              <a:buChar char="•"/>
            </a:pPr>
            <a:r>
              <a:rPr lang="en-US" dirty="0"/>
              <a:t>Depth-limited search can solve the drawback of the infinite path in the Depth-first search. </a:t>
            </a:r>
          </a:p>
          <a:p>
            <a:pPr marL="742950" lvl="1" indent="-285750">
              <a:buFont typeface="Arial" panose="020B0604020202020204" pitchFamily="34" charset="0"/>
              <a:buChar char="•"/>
            </a:pPr>
            <a:r>
              <a:rPr lang="en-US" dirty="0"/>
              <a:t>In this algorithm, the node at the depth limit will treat as it has no successor nodes further.</a:t>
            </a:r>
          </a:p>
          <a:p>
            <a:pPr marL="742950" lvl="1" indent="-285750">
              <a:buFont typeface="Arial" panose="020B0604020202020204" pitchFamily="34" charset="0"/>
              <a:buChar char="•"/>
            </a:pPr>
            <a:endParaRPr lang="en-US" dirty="0"/>
          </a:p>
          <a:p>
            <a:r>
              <a:rPr lang="en-US" b="1" i="1" dirty="0"/>
              <a:t>Depth-limited search can be terminated with two Conditions of failure:</a:t>
            </a:r>
          </a:p>
          <a:p>
            <a:endParaRPr lang="en-US" dirty="0"/>
          </a:p>
          <a:p>
            <a:pPr marL="742950" lvl="1" indent="-285750">
              <a:buFont typeface="Arial" panose="020B0604020202020204" pitchFamily="34" charset="0"/>
              <a:buChar char="•"/>
            </a:pPr>
            <a:r>
              <a:rPr lang="en-US" dirty="0"/>
              <a:t>Standard failure value: It indicates that problem does not have any solution.</a:t>
            </a:r>
          </a:p>
          <a:p>
            <a:pPr marL="742950" lvl="1" indent="-285750">
              <a:buFont typeface="Arial" panose="020B0604020202020204" pitchFamily="34" charset="0"/>
              <a:buChar char="•"/>
            </a:pPr>
            <a:r>
              <a:rPr lang="en-US" dirty="0"/>
              <a:t>Cutoff failure value: It defines no solution for the problem within a given depth limit.</a:t>
            </a:r>
          </a:p>
          <a:p>
            <a:r>
              <a:rPr lang="en-US" b="1" i="1" dirty="0"/>
              <a:t>Advantages:</a:t>
            </a:r>
          </a:p>
          <a:p>
            <a:r>
              <a:rPr lang="en-US" dirty="0"/>
              <a:t>Depth-limited search is Memory efficient.</a:t>
            </a:r>
          </a:p>
          <a:p>
            <a:r>
              <a:rPr lang="en-US" b="1" i="1" dirty="0"/>
              <a:t>Disadvantages:</a:t>
            </a:r>
          </a:p>
          <a:p>
            <a:pPr marL="742950" lvl="1" indent="-285750">
              <a:buFont typeface="Arial" panose="020B0604020202020204" pitchFamily="34" charset="0"/>
              <a:buChar char="•"/>
            </a:pPr>
            <a:r>
              <a:rPr lang="en-US" dirty="0"/>
              <a:t>Depth-limited search also has a disadvantage of incompleteness.</a:t>
            </a:r>
          </a:p>
          <a:p>
            <a:pPr marL="742950" lvl="1" indent="-285750">
              <a:buFont typeface="Arial" panose="020B0604020202020204" pitchFamily="34" charset="0"/>
              <a:buChar char="•"/>
            </a:pPr>
            <a:r>
              <a:rPr lang="en-US" dirty="0"/>
              <a:t>It may not be optimal if the problem has more than one solution.</a:t>
            </a:r>
          </a:p>
          <a:p>
            <a:r>
              <a:rPr lang="en-US" b="1" dirty="0"/>
              <a:t>Example:</a:t>
            </a:r>
            <a:endParaRPr lang="en-ZA" b="1" dirty="0"/>
          </a:p>
        </p:txBody>
      </p:sp>
      <p:pic>
        <p:nvPicPr>
          <p:cNvPr id="5" name="Picture 4">
            <a:extLst>
              <a:ext uri="{FF2B5EF4-FFF2-40B4-BE49-F238E27FC236}">
                <a16:creationId xmlns:a16="http://schemas.microsoft.com/office/drawing/2014/main" id="{F691E282-D205-4FA8-98A8-2504736ACCAD}"/>
              </a:ext>
            </a:extLst>
          </p:cNvPr>
          <p:cNvPicPr>
            <a:picLocks noChangeAspect="1"/>
          </p:cNvPicPr>
          <p:nvPr/>
        </p:nvPicPr>
        <p:blipFill>
          <a:blip r:embed="rId2"/>
          <a:stretch>
            <a:fillRect/>
          </a:stretch>
        </p:blipFill>
        <p:spPr>
          <a:xfrm>
            <a:off x="4033628" y="4389961"/>
            <a:ext cx="4270513" cy="2305840"/>
          </a:xfrm>
          <a:prstGeom prst="rect">
            <a:avLst/>
          </a:prstGeom>
        </p:spPr>
      </p:pic>
    </p:spTree>
    <p:extLst>
      <p:ext uri="{BB962C8B-B14F-4D97-AF65-F5344CB8AC3E}">
        <p14:creationId xmlns:p14="http://schemas.microsoft.com/office/powerpoint/2010/main" val="2703768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779AC-6394-4670-BDB4-8C6A9B16BBD1}"/>
              </a:ext>
            </a:extLst>
          </p:cNvPr>
          <p:cNvSpPr txBox="1"/>
          <p:nvPr/>
        </p:nvSpPr>
        <p:spPr>
          <a:xfrm>
            <a:off x="624023" y="199807"/>
            <a:ext cx="11196915" cy="3970318"/>
          </a:xfrm>
          <a:prstGeom prst="rect">
            <a:avLst/>
          </a:prstGeom>
          <a:noFill/>
        </p:spPr>
        <p:txBody>
          <a:bodyPr wrap="square">
            <a:spAutoFit/>
          </a:bodyPr>
          <a:lstStyle/>
          <a:p>
            <a:r>
              <a:rPr lang="en-US" b="1" dirty="0"/>
              <a:t>Uniform-cost Search Algorithm:</a:t>
            </a:r>
          </a:p>
          <a:p>
            <a:pPr marL="742950" lvl="1" indent="-285750">
              <a:buFont typeface="Arial" panose="020B0604020202020204" pitchFamily="34" charset="0"/>
              <a:buChar char="•"/>
            </a:pPr>
            <a:r>
              <a:rPr lang="en-US" dirty="0"/>
              <a:t>Uniform-cost search is a searching algorithm used for traversing a weighted tree or graph. </a:t>
            </a:r>
          </a:p>
          <a:p>
            <a:pPr marL="742950" lvl="1" indent="-285750">
              <a:buFont typeface="Arial" panose="020B0604020202020204" pitchFamily="34" charset="0"/>
              <a:buChar char="•"/>
            </a:pPr>
            <a:r>
              <a:rPr lang="en-US" dirty="0"/>
              <a:t>This algorithm comes into play when a different cost is available for each edge. </a:t>
            </a:r>
          </a:p>
          <a:p>
            <a:pPr marL="742950" lvl="1" indent="-285750">
              <a:buFont typeface="Arial" panose="020B0604020202020204" pitchFamily="34" charset="0"/>
              <a:buChar char="•"/>
            </a:pPr>
            <a:r>
              <a:rPr lang="en-US" dirty="0"/>
              <a:t>The primary goal of the uniform-cost search is to find a path to the goal node which has the lowest cumulative cost. Uniform-cost search expands nodes according to their path costs form the root node. </a:t>
            </a:r>
          </a:p>
          <a:p>
            <a:pPr marL="742950" lvl="1" indent="-285750">
              <a:buFont typeface="Arial" panose="020B0604020202020204" pitchFamily="34" charset="0"/>
              <a:buChar char="•"/>
            </a:pPr>
            <a:r>
              <a:rPr lang="en-US" dirty="0"/>
              <a:t>It can be used to solve any graph/tree where the optimal cost is in demand. </a:t>
            </a:r>
          </a:p>
          <a:p>
            <a:pPr marL="742950" lvl="1" indent="-285750">
              <a:buFont typeface="Arial" panose="020B0604020202020204" pitchFamily="34" charset="0"/>
              <a:buChar char="•"/>
            </a:pPr>
            <a:r>
              <a:rPr lang="en-US" dirty="0"/>
              <a:t>A uniform-cost search algorithm is implemented by the priority queue. </a:t>
            </a:r>
          </a:p>
          <a:p>
            <a:pPr marL="742950" lvl="1" indent="-285750">
              <a:buFont typeface="Arial" panose="020B0604020202020204" pitchFamily="34" charset="0"/>
              <a:buChar char="•"/>
            </a:pPr>
            <a:r>
              <a:rPr lang="en-US" dirty="0"/>
              <a:t>It gives maximum priority to the lowest cumulative cost. </a:t>
            </a:r>
          </a:p>
          <a:p>
            <a:pPr marL="742950" lvl="1" indent="-285750">
              <a:buFont typeface="Arial" panose="020B0604020202020204" pitchFamily="34" charset="0"/>
              <a:buChar char="•"/>
            </a:pPr>
            <a:r>
              <a:rPr lang="en-US" dirty="0"/>
              <a:t>Uniform cost search is equivalent to BFS algorithm if the path cost of all edges is the same.</a:t>
            </a:r>
          </a:p>
          <a:p>
            <a:r>
              <a:rPr lang="en-US" b="1" i="1" dirty="0"/>
              <a:t>Advantages:</a:t>
            </a:r>
          </a:p>
          <a:p>
            <a:pPr marL="742950" lvl="1" indent="-285750">
              <a:buFont typeface="Arial" panose="020B0604020202020204" pitchFamily="34" charset="0"/>
              <a:buChar char="•"/>
            </a:pPr>
            <a:r>
              <a:rPr lang="en-US" dirty="0"/>
              <a:t>Uniform cost search is optimal because at every state the path with the least cost is chosen.</a:t>
            </a:r>
          </a:p>
          <a:p>
            <a:r>
              <a:rPr lang="en-US" b="1" i="1" dirty="0"/>
              <a:t>Disadvantages:</a:t>
            </a:r>
          </a:p>
          <a:p>
            <a:pPr marL="742950" lvl="1" indent="-285750">
              <a:buFont typeface="Arial" panose="020B0604020202020204" pitchFamily="34" charset="0"/>
              <a:buChar char="•"/>
            </a:pPr>
            <a:r>
              <a:rPr lang="en-US" dirty="0"/>
              <a:t>It does not care about the number of steps involve in searching and only concerned about path cost. Due to which this algorithm may be stuck in an infinite loop.</a:t>
            </a:r>
            <a:endParaRPr lang="en-ZA" dirty="0"/>
          </a:p>
        </p:txBody>
      </p:sp>
      <p:pic>
        <p:nvPicPr>
          <p:cNvPr id="5" name="Picture 4">
            <a:extLst>
              <a:ext uri="{FF2B5EF4-FFF2-40B4-BE49-F238E27FC236}">
                <a16:creationId xmlns:a16="http://schemas.microsoft.com/office/drawing/2014/main" id="{10F2283D-8F3C-42B4-8396-244304001E7D}"/>
              </a:ext>
            </a:extLst>
          </p:cNvPr>
          <p:cNvPicPr>
            <a:picLocks noChangeAspect="1"/>
          </p:cNvPicPr>
          <p:nvPr/>
        </p:nvPicPr>
        <p:blipFill>
          <a:blip r:embed="rId2"/>
          <a:stretch>
            <a:fillRect/>
          </a:stretch>
        </p:blipFill>
        <p:spPr>
          <a:xfrm>
            <a:off x="6879101" y="3800435"/>
            <a:ext cx="4479183" cy="2857758"/>
          </a:xfrm>
          <a:prstGeom prst="rect">
            <a:avLst/>
          </a:prstGeom>
        </p:spPr>
      </p:pic>
    </p:spTree>
    <p:extLst>
      <p:ext uri="{BB962C8B-B14F-4D97-AF65-F5344CB8AC3E}">
        <p14:creationId xmlns:p14="http://schemas.microsoft.com/office/powerpoint/2010/main" val="3328941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38328A-7216-458D-BDD2-AF5EFAB5DC7D}"/>
              </a:ext>
            </a:extLst>
          </p:cNvPr>
          <p:cNvSpPr txBox="1"/>
          <p:nvPr/>
        </p:nvSpPr>
        <p:spPr>
          <a:xfrm>
            <a:off x="438494" y="117693"/>
            <a:ext cx="11422202" cy="3970318"/>
          </a:xfrm>
          <a:prstGeom prst="rect">
            <a:avLst/>
          </a:prstGeom>
          <a:noFill/>
        </p:spPr>
        <p:txBody>
          <a:bodyPr wrap="square">
            <a:spAutoFit/>
          </a:bodyPr>
          <a:lstStyle/>
          <a:p>
            <a:r>
              <a:rPr lang="en-US" b="1" dirty="0"/>
              <a:t>Iterative deepening depth-first Search:</a:t>
            </a:r>
          </a:p>
          <a:p>
            <a:pPr marL="742950" lvl="1" indent="-285750">
              <a:buFont typeface="Arial" panose="020B0604020202020204" pitchFamily="34" charset="0"/>
              <a:buChar char="•"/>
            </a:pPr>
            <a:r>
              <a:rPr lang="en-US" dirty="0"/>
              <a:t>The iterative deepening algorithm is a combination of DFS and BFS algorithms. </a:t>
            </a:r>
          </a:p>
          <a:p>
            <a:pPr marL="742950" lvl="1" indent="-285750">
              <a:buFont typeface="Arial" panose="020B0604020202020204" pitchFamily="34" charset="0"/>
              <a:buChar char="•"/>
            </a:pPr>
            <a:r>
              <a:rPr lang="en-US" dirty="0"/>
              <a:t>This search algorithm finds out the best depth limit and does it by gradually increasing the limit until a goal is found.</a:t>
            </a:r>
          </a:p>
          <a:p>
            <a:pPr marL="742950" lvl="1" indent="-285750">
              <a:buFont typeface="Arial" panose="020B0604020202020204" pitchFamily="34" charset="0"/>
              <a:buChar char="•"/>
            </a:pPr>
            <a:r>
              <a:rPr lang="en-US" dirty="0"/>
              <a:t>This algorithm performs depth-first search up to a certain "depth limit", and it keeps increasing the depth limit after each iteration until the goal node is found.</a:t>
            </a:r>
          </a:p>
          <a:p>
            <a:pPr marL="742950" lvl="1" indent="-285750">
              <a:buFont typeface="Arial" panose="020B0604020202020204" pitchFamily="34" charset="0"/>
              <a:buChar char="•"/>
            </a:pPr>
            <a:r>
              <a:rPr lang="en-US" dirty="0"/>
              <a:t>This Search algorithm combines the benefits of Breadth-first search's fast search and depth-first search's memory efficiency.</a:t>
            </a:r>
          </a:p>
          <a:p>
            <a:pPr marL="742950" lvl="1" indent="-285750">
              <a:buFont typeface="Arial" panose="020B0604020202020204" pitchFamily="34" charset="0"/>
              <a:buChar char="•"/>
            </a:pPr>
            <a:r>
              <a:rPr lang="en-US" dirty="0"/>
              <a:t>The iterative search algorithm is useful uninformed search when search space is large, and depth of goal node is unknown.</a:t>
            </a:r>
          </a:p>
          <a:p>
            <a:r>
              <a:rPr lang="en-US" b="1" i="1" dirty="0"/>
              <a:t>Advantages:</a:t>
            </a:r>
          </a:p>
          <a:p>
            <a:pPr marL="742950" lvl="1" indent="-285750">
              <a:buFont typeface="Arial" panose="020B0604020202020204" pitchFamily="34" charset="0"/>
              <a:buChar char="•"/>
            </a:pPr>
            <a:r>
              <a:rPr lang="en-US" dirty="0"/>
              <a:t>It combines the benefits of BFS and DFS search algorithm in terms of fast search and memory efficiency.</a:t>
            </a:r>
          </a:p>
          <a:p>
            <a:r>
              <a:rPr lang="en-US" b="1" i="1" dirty="0"/>
              <a:t>Disadvantages:</a:t>
            </a:r>
          </a:p>
          <a:p>
            <a:pPr marL="742950" lvl="1" indent="-285750">
              <a:buFont typeface="Arial" panose="020B0604020202020204" pitchFamily="34" charset="0"/>
              <a:buChar char="•"/>
            </a:pPr>
            <a:r>
              <a:rPr lang="en-US" dirty="0"/>
              <a:t>The main drawback of IDDFS is that it repeats all the work of the previous phase.</a:t>
            </a:r>
            <a:endParaRPr lang="en-ZA" dirty="0"/>
          </a:p>
        </p:txBody>
      </p:sp>
      <p:pic>
        <p:nvPicPr>
          <p:cNvPr id="5" name="Picture 4">
            <a:extLst>
              <a:ext uri="{FF2B5EF4-FFF2-40B4-BE49-F238E27FC236}">
                <a16:creationId xmlns:a16="http://schemas.microsoft.com/office/drawing/2014/main" id="{73CC4A88-57C1-437B-A6F5-ECE0A1AA1C03}"/>
              </a:ext>
            </a:extLst>
          </p:cNvPr>
          <p:cNvPicPr>
            <a:picLocks noChangeAspect="1"/>
          </p:cNvPicPr>
          <p:nvPr/>
        </p:nvPicPr>
        <p:blipFill>
          <a:blip r:embed="rId2"/>
          <a:stretch>
            <a:fillRect/>
          </a:stretch>
        </p:blipFill>
        <p:spPr>
          <a:xfrm>
            <a:off x="7844710" y="3947335"/>
            <a:ext cx="4015986" cy="2652296"/>
          </a:xfrm>
          <a:prstGeom prst="rect">
            <a:avLst/>
          </a:prstGeom>
        </p:spPr>
      </p:pic>
    </p:spTree>
    <p:extLst>
      <p:ext uri="{BB962C8B-B14F-4D97-AF65-F5344CB8AC3E}">
        <p14:creationId xmlns:p14="http://schemas.microsoft.com/office/powerpoint/2010/main" val="2133698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C8B5-BB6D-412A-B7D2-B03C5FFA02CE}"/>
              </a:ext>
            </a:extLst>
          </p:cNvPr>
          <p:cNvSpPr>
            <a:spLocks noGrp="1"/>
          </p:cNvSpPr>
          <p:nvPr>
            <p:ph type="title"/>
          </p:nvPr>
        </p:nvSpPr>
        <p:spPr>
          <a:xfrm>
            <a:off x="838200" y="672747"/>
            <a:ext cx="10515600" cy="715556"/>
          </a:xfrm>
        </p:spPr>
        <p:txBody>
          <a:bodyPr>
            <a:normAutofit/>
          </a:bodyPr>
          <a:lstStyle/>
          <a:p>
            <a:pPr algn="ctr"/>
            <a:r>
              <a:rPr lang="en-ZA" sz="3200" b="1" dirty="0">
                <a:solidFill>
                  <a:schemeClr val="bg1"/>
                </a:solidFill>
                <a:latin typeface="+mn-lt"/>
              </a:rPr>
              <a:t>Types of Machine Learning</a:t>
            </a:r>
          </a:p>
        </p:txBody>
      </p:sp>
      <p:pic>
        <p:nvPicPr>
          <p:cNvPr id="5" name="Content Placeholder 4" descr="Diagram&#10;&#10;Description automatically generated">
            <a:extLst>
              <a:ext uri="{FF2B5EF4-FFF2-40B4-BE49-F238E27FC236}">
                <a16:creationId xmlns:a16="http://schemas.microsoft.com/office/drawing/2014/main" id="{B0B22EEB-1807-4B51-BEA3-D270F9299512}"/>
              </a:ext>
            </a:extLst>
          </p:cNvPr>
          <p:cNvPicPr>
            <a:picLocks noChangeAspect="1"/>
          </p:cNvPicPr>
          <p:nvPr/>
        </p:nvPicPr>
        <p:blipFill>
          <a:blip r:embed="rId2"/>
          <a:stretch>
            <a:fillRect/>
          </a:stretch>
        </p:blipFill>
        <p:spPr>
          <a:xfrm>
            <a:off x="1801685" y="1030525"/>
            <a:ext cx="8834510" cy="4121834"/>
          </a:xfrm>
          <a:prstGeom prst="rect">
            <a:avLst/>
          </a:prstGeom>
        </p:spPr>
      </p:pic>
    </p:spTree>
    <p:extLst>
      <p:ext uri="{BB962C8B-B14F-4D97-AF65-F5344CB8AC3E}">
        <p14:creationId xmlns:p14="http://schemas.microsoft.com/office/powerpoint/2010/main" val="1071734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E2B6-AD40-4AAB-9DA6-1D03F2C0ABBA}"/>
              </a:ext>
            </a:extLst>
          </p:cNvPr>
          <p:cNvSpPr>
            <a:spLocks noGrp="1"/>
          </p:cNvSpPr>
          <p:nvPr>
            <p:ph type="title"/>
          </p:nvPr>
        </p:nvSpPr>
        <p:spPr>
          <a:xfrm>
            <a:off x="838200" y="672747"/>
            <a:ext cx="10515600" cy="715556"/>
          </a:xfrm>
        </p:spPr>
        <p:txBody>
          <a:bodyPr>
            <a:normAutofit/>
          </a:bodyPr>
          <a:lstStyle/>
          <a:p>
            <a:pPr algn="ctr"/>
            <a:r>
              <a:rPr lang="en-ZA" sz="3200" b="1" dirty="0">
                <a:solidFill>
                  <a:schemeClr val="bg1"/>
                </a:solidFill>
                <a:latin typeface="+mn-lt"/>
              </a:rPr>
              <a:t>Supervised Learning</a:t>
            </a:r>
          </a:p>
        </p:txBody>
      </p:sp>
      <p:sp>
        <p:nvSpPr>
          <p:cNvPr id="3" name="Content Placeholder 2">
            <a:extLst>
              <a:ext uri="{FF2B5EF4-FFF2-40B4-BE49-F238E27FC236}">
                <a16:creationId xmlns:a16="http://schemas.microsoft.com/office/drawing/2014/main" id="{BC9F94AF-8876-496D-A05D-49AF3B897981}"/>
              </a:ext>
            </a:extLst>
          </p:cNvPr>
          <p:cNvSpPr>
            <a:spLocks noGrp="1"/>
          </p:cNvSpPr>
          <p:nvPr>
            <p:ph idx="1"/>
          </p:nvPr>
        </p:nvSpPr>
        <p:spPr>
          <a:xfrm>
            <a:off x="980661" y="1597389"/>
            <a:ext cx="9782589" cy="4869671"/>
          </a:xfrm>
        </p:spPr>
        <p:txBody>
          <a:bodyPr>
            <a:noAutofit/>
          </a:bodyPr>
          <a:lstStyle/>
          <a:p>
            <a:pPr>
              <a:lnSpc>
                <a:spcPct val="100000"/>
              </a:lnSpc>
            </a:pPr>
            <a:r>
              <a:rPr lang="en-US" sz="2400" dirty="0"/>
              <a:t>Method in which we provide sample labeled data to the machine learning system in order to train it, and on that basis, it predicts the output.</a:t>
            </a:r>
          </a:p>
          <a:p>
            <a:pPr>
              <a:lnSpc>
                <a:spcPct val="100000"/>
              </a:lnSpc>
            </a:pPr>
            <a:r>
              <a:rPr lang="en-US" sz="2400" dirty="0"/>
              <a:t>The system creates a model using labeled data to understand the datasets and learn about each data, once the training and processing are done then we test the model by providing a sample data to check whether it is predicting the exact output or not.</a:t>
            </a:r>
          </a:p>
          <a:p>
            <a:pPr>
              <a:lnSpc>
                <a:spcPct val="100000"/>
              </a:lnSpc>
            </a:pPr>
            <a:r>
              <a:rPr lang="en-US" sz="2400" dirty="0"/>
              <a:t>The goal of supervised learning is to map input data with the output data. </a:t>
            </a:r>
          </a:p>
          <a:p>
            <a:pPr>
              <a:lnSpc>
                <a:spcPct val="100000"/>
              </a:lnSpc>
            </a:pPr>
            <a:r>
              <a:rPr lang="en-US" sz="2400" dirty="0"/>
              <a:t>Supervised learning can be grouped further in two categories of algorithms:</a:t>
            </a:r>
          </a:p>
          <a:p>
            <a:pPr lvl="2">
              <a:lnSpc>
                <a:spcPct val="100000"/>
              </a:lnSpc>
              <a:buFont typeface="Wingdings" panose="05000000000000000000" pitchFamily="2" charset="2"/>
              <a:buChar char="q"/>
            </a:pPr>
            <a:r>
              <a:rPr lang="en-US" sz="2400" dirty="0"/>
              <a:t>Classification</a:t>
            </a:r>
          </a:p>
          <a:p>
            <a:pPr lvl="2">
              <a:lnSpc>
                <a:spcPct val="100000"/>
              </a:lnSpc>
              <a:buFont typeface="Wingdings" panose="05000000000000000000" pitchFamily="2" charset="2"/>
              <a:buChar char="q"/>
            </a:pPr>
            <a:r>
              <a:rPr lang="en-US" sz="2400" dirty="0"/>
              <a:t>Regression</a:t>
            </a:r>
            <a:endParaRPr lang="en-ZA" sz="2400" dirty="0"/>
          </a:p>
        </p:txBody>
      </p:sp>
    </p:spTree>
    <p:extLst>
      <p:ext uri="{BB962C8B-B14F-4D97-AF65-F5344CB8AC3E}">
        <p14:creationId xmlns:p14="http://schemas.microsoft.com/office/powerpoint/2010/main" val="3847791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2257-7E16-4BC1-A439-069D8B076C86}"/>
              </a:ext>
            </a:extLst>
          </p:cNvPr>
          <p:cNvSpPr>
            <a:spLocks noGrp="1"/>
          </p:cNvSpPr>
          <p:nvPr>
            <p:ph type="title"/>
          </p:nvPr>
        </p:nvSpPr>
        <p:spPr>
          <a:xfrm>
            <a:off x="838200" y="672747"/>
            <a:ext cx="10515600" cy="715556"/>
          </a:xfrm>
        </p:spPr>
        <p:txBody>
          <a:bodyPr>
            <a:normAutofit/>
          </a:bodyPr>
          <a:lstStyle/>
          <a:p>
            <a:pPr marL="228600" marR="0" lvl="0" indent="-228600" algn="ctr" defTabSz="914400" rtl="0" eaLnBrk="1" fontAlgn="auto" latinLnBrk="0" hangingPunct="1">
              <a:spcBef>
                <a:spcPts val="1000"/>
              </a:spcBef>
              <a:spcAft>
                <a:spcPts val="0"/>
              </a:spcAft>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Unsupervised learning</a:t>
            </a:r>
            <a:endParaRPr lang="en-ZA" sz="3200" b="1" dirty="0">
              <a:solidFill>
                <a:schemeClr val="bg1"/>
              </a:solidFill>
            </a:endParaRPr>
          </a:p>
        </p:txBody>
      </p:sp>
      <p:sp>
        <p:nvSpPr>
          <p:cNvPr id="3" name="Content Placeholder 2">
            <a:extLst>
              <a:ext uri="{FF2B5EF4-FFF2-40B4-BE49-F238E27FC236}">
                <a16:creationId xmlns:a16="http://schemas.microsoft.com/office/drawing/2014/main" id="{0ECF124A-928D-4AB6-ABC1-48CA7616B811}"/>
              </a:ext>
            </a:extLst>
          </p:cNvPr>
          <p:cNvSpPr>
            <a:spLocks noGrp="1"/>
          </p:cNvSpPr>
          <p:nvPr>
            <p:ph idx="1"/>
          </p:nvPr>
        </p:nvSpPr>
        <p:spPr>
          <a:xfrm>
            <a:off x="954157" y="1562544"/>
            <a:ext cx="10515600" cy="4643704"/>
          </a:xfrm>
        </p:spPr>
        <p:txBody>
          <a:bodyPr>
            <a:normAutofit/>
          </a:bodyPr>
          <a:lstStyle/>
          <a:p>
            <a:pPr algn="ctr"/>
            <a:endParaRPr lang="en-US" sz="1500" dirty="0"/>
          </a:p>
          <a:p>
            <a:pPr lvl="1">
              <a:lnSpc>
                <a:spcPct val="100000"/>
              </a:lnSpc>
            </a:pPr>
            <a:r>
              <a:rPr lang="en-US" sz="2800" dirty="0"/>
              <a:t>Method in which a machine learns without any supervision.</a:t>
            </a:r>
          </a:p>
          <a:p>
            <a:pPr lvl="1">
              <a:lnSpc>
                <a:spcPct val="100000"/>
              </a:lnSpc>
            </a:pPr>
            <a:r>
              <a:rPr lang="en-US" sz="2800" dirty="0"/>
              <a:t>The training is provided to the machine with the set of data that has not been:</a:t>
            </a:r>
          </a:p>
          <a:p>
            <a:pPr lvl="3">
              <a:lnSpc>
                <a:spcPct val="100000"/>
              </a:lnSpc>
              <a:buFont typeface="Wingdings" panose="05000000000000000000" pitchFamily="2" charset="2"/>
              <a:buChar char="§"/>
            </a:pPr>
            <a:r>
              <a:rPr lang="en-US" sz="2600" dirty="0"/>
              <a:t>labeled</a:t>
            </a:r>
          </a:p>
          <a:p>
            <a:pPr lvl="3">
              <a:lnSpc>
                <a:spcPct val="100000"/>
              </a:lnSpc>
              <a:buFont typeface="Wingdings" panose="05000000000000000000" pitchFamily="2" charset="2"/>
              <a:buChar char="§"/>
            </a:pPr>
            <a:r>
              <a:rPr lang="en-US" sz="2600" dirty="0"/>
              <a:t>classified</a:t>
            </a:r>
          </a:p>
          <a:p>
            <a:pPr lvl="3">
              <a:lnSpc>
                <a:spcPct val="100000"/>
              </a:lnSpc>
              <a:buFont typeface="Wingdings" panose="05000000000000000000" pitchFamily="2" charset="2"/>
              <a:buChar char="§"/>
            </a:pPr>
            <a:r>
              <a:rPr lang="en-US" sz="2600" dirty="0"/>
              <a:t>Categorized</a:t>
            </a:r>
          </a:p>
          <a:p>
            <a:pPr lvl="1">
              <a:lnSpc>
                <a:spcPct val="100000"/>
              </a:lnSpc>
            </a:pPr>
            <a:r>
              <a:rPr lang="en-US" sz="2800" dirty="0"/>
              <a:t>The algorithm needs to act on that data without any supervision.</a:t>
            </a:r>
          </a:p>
          <a:p>
            <a:pPr lvl="1">
              <a:lnSpc>
                <a:spcPct val="100000"/>
              </a:lnSpc>
            </a:pPr>
            <a:r>
              <a:rPr lang="en-US" sz="2800" dirty="0"/>
              <a:t>The goal of unsupervised learning is to restructure the input data into new features or a group of objects with similar patterns.</a:t>
            </a:r>
            <a:endParaRPr lang="en-ZA" sz="2800" dirty="0"/>
          </a:p>
        </p:txBody>
      </p:sp>
    </p:spTree>
    <p:extLst>
      <p:ext uri="{BB962C8B-B14F-4D97-AF65-F5344CB8AC3E}">
        <p14:creationId xmlns:p14="http://schemas.microsoft.com/office/powerpoint/2010/main" val="1388273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51F1-0CAC-47EA-8473-AF86C46B39E3}"/>
              </a:ext>
            </a:extLst>
          </p:cNvPr>
          <p:cNvSpPr>
            <a:spLocks noGrp="1"/>
          </p:cNvSpPr>
          <p:nvPr>
            <p:ph type="title"/>
          </p:nvPr>
        </p:nvSpPr>
        <p:spPr>
          <a:xfrm>
            <a:off x="838200" y="672747"/>
            <a:ext cx="10515600" cy="715556"/>
          </a:xfrm>
        </p:spPr>
        <p:txBody>
          <a:bodyPr>
            <a:normAutofit/>
          </a:bodyPr>
          <a:lstStyle/>
          <a:p>
            <a:pPr algn="ctr"/>
            <a:r>
              <a:rPr lang="en-ZA" sz="3200" b="1">
                <a:solidFill>
                  <a:schemeClr val="bg1"/>
                </a:solidFill>
                <a:latin typeface="+mn-lt"/>
              </a:rPr>
              <a:t>Unsupervised learning cont.</a:t>
            </a:r>
          </a:p>
        </p:txBody>
      </p:sp>
      <p:sp>
        <p:nvSpPr>
          <p:cNvPr id="3" name="Content Placeholder 2">
            <a:extLst>
              <a:ext uri="{FF2B5EF4-FFF2-40B4-BE49-F238E27FC236}">
                <a16:creationId xmlns:a16="http://schemas.microsoft.com/office/drawing/2014/main" id="{8518B28D-90A1-42F5-8E8C-DABD8AAE0B0F}"/>
              </a:ext>
            </a:extLst>
          </p:cNvPr>
          <p:cNvSpPr>
            <a:spLocks noGrp="1"/>
          </p:cNvSpPr>
          <p:nvPr>
            <p:ph idx="1"/>
          </p:nvPr>
        </p:nvSpPr>
        <p:spPr>
          <a:xfrm>
            <a:off x="1139687" y="1835929"/>
            <a:ext cx="9912626" cy="4193810"/>
          </a:xfrm>
        </p:spPr>
        <p:txBody>
          <a:bodyPr>
            <a:normAutofit/>
          </a:bodyPr>
          <a:lstStyle/>
          <a:p>
            <a:pPr>
              <a:lnSpc>
                <a:spcPct val="150000"/>
              </a:lnSpc>
            </a:pPr>
            <a:r>
              <a:rPr lang="en-US" dirty="0"/>
              <a:t>Unsupervised learning does not have predetermined results.</a:t>
            </a:r>
          </a:p>
          <a:p>
            <a:pPr>
              <a:lnSpc>
                <a:spcPct val="150000"/>
              </a:lnSpc>
            </a:pPr>
            <a:r>
              <a:rPr lang="en-US" dirty="0"/>
              <a:t> The machine tries to find useful insights from the huge amount of data. </a:t>
            </a:r>
          </a:p>
          <a:p>
            <a:pPr>
              <a:lnSpc>
                <a:spcPct val="150000"/>
              </a:lnSpc>
            </a:pPr>
            <a:r>
              <a:rPr lang="en-US" dirty="0"/>
              <a:t>It can be further classifieds into two categories of algorithms:</a:t>
            </a:r>
          </a:p>
          <a:p>
            <a:pPr lvl="2">
              <a:lnSpc>
                <a:spcPct val="110000"/>
              </a:lnSpc>
              <a:buFont typeface="Wingdings" panose="05000000000000000000" pitchFamily="2" charset="2"/>
              <a:buChar char="§"/>
            </a:pPr>
            <a:r>
              <a:rPr lang="en-US" sz="2800" dirty="0"/>
              <a:t>Clustering</a:t>
            </a:r>
          </a:p>
          <a:p>
            <a:pPr lvl="2">
              <a:lnSpc>
                <a:spcPct val="110000"/>
              </a:lnSpc>
              <a:buFont typeface="Wingdings" panose="05000000000000000000" pitchFamily="2" charset="2"/>
              <a:buChar char="§"/>
            </a:pPr>
            <a:r>
              <a:rPr lang="en-US" sz="2800" dirty="0"/>
              <a:t>Association</a:t>
            </a:r>
            <a:endParaRPr lang="en-ZA" sz="2800" dirty="0"/>
          </a:p>
        </p:txBody>
      </p:sp>
    </p:spTree>
    <p:extLst>
      <p:ext uri="{BB962C8B-B14F-4D97-AF65-F5344CB8AC3E}">
        <p14:creationId xmlns:p14="http://schemas.microsoft.com/office/powerpoint/2010/main" val="1570402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139B-D5BF-4193-A5F8-4334B2AEE74E}"/>
              </a:ext>
            </a:extLst>
          </p:cNvPr>
          <p:cNvSpPr>
            <a:spLocks noGrp="1"/>
          </p:cNvSpPr>
          <p:nvPr>
            <p:ph type="title"/>
          </p:nvPr>
        </p:nvSpPr>
        <p:spPr>
          <a:xfrm>
            <a:off x="838200" y="672747"/>
            <a:ext cx="10515600" cy="715556"/>
          </a:xfrm>
        </p:spPr>
        <p:txBody>
          <a:bodyPr>
            <a:normAutofit/>
          </a:bodyPr>
          <a:lstStyle/>
          <a:p>
            <a:pPr algn="ctr"/>
            <a:r>
              <a:rPr lang="en-ZA" sz="3200" b="1">
                <a:solidFill>
                  <a:schemeClr val="bg1"/>
                </a:solidFill>
                <a:latin typeface="+mn-lt"/>
              </a:rPr>
              <a:t>Reinforcement Learning</a:t>
            </a:r>
          </a:p>
        </p:txBody>
      </p:sp>
      <p:sp>
        <p:nvSpPr>
          <p:cNvPr id="3" name="Content Placeholder 2">
            <a:extLst>
              <a:ext uri="{FF2B5EF4-FFF2-40B4-BE49-F238E27FC236}">
                <a16:creationId xmlns:a16="http://schemas.microsoft.com/office/drawing/2014/main" id="{E9DFB010-C378-4402-AAD5-291B0840E3FB}"/>
              </a:ext>
            </a:extLst>
          </p:cNvPr>
          <p:cNvSpPr>
            <a:spLocks noGrp="1"/>
          </p:cNvSpPr>
          <p:nvPr>
            <p:ph idx="1"/>
          </p:nvPr>
        </p:nvSpPr>
        <p:spPr>
          <a:xfrm>
            <a:off x="1086678" y="1782922"/>
            <a:ext cx="10018644" cy="4551618"/>
          </a:xfrm>
        </p:spPr>
        <p:txBody>
          <a:bodyPr>
            <a:noAutofit/>
          </a:bodyPr>
          <a:lstStyle/>
          <a:p>
            <a:r>
              <a:rPr lang="en-US" sz="2400" dirty="0"/>
              <a:t>Reinforcement learning is a feedback-based learning method, in which a learning agent gets a reward for each right action and gets a penalty for each wrong action. </a:t>
            </a:r>
          </a:p>
          <a:p>
            <a:r>
              <a:rPr lang="en-US" sz="2400" dirty="0"/>
              <a:t>The agent learns automatically with these feedbacks and improves its performance. </a:t>
            </a:r>
          </a:p>
          <a:p>
            <a:r>
              <a:rPr lang="en-US" sz="2400" dirty="0"/>
              <a:t>In reinforcement learning, the agent interacts with the environment and explores it. </a:t>
            </a:r>
          </a:p>
          <a:p>
            <a:r>
              <a:rPr lang="en-US" sz="2400" dirty="0"/>
              <a:t>The goal of an agent is to get the most reward points, and hence, it improves its performance.</a:t>
            </a:r>
          </a:p>
          <a:p>
            <a:r>
              <a:rPr lang="en-US" sz="2400" dirty="0"/>
              <a:t>The robotic dog, which automatically learns the movement of his arms, is an example of Reinforcement learning.</a:t>
            </a:r>
            <a:endParaRPr lang="en-ZA" sz="2400" dirty="0"/>
          </a:p>
        </p:txBody>
      </p:sp>
    </p:spTree>
    <p:extLst>
      <p:ext uri="{BB962C8B-B14F-4D97-AF65-F5344CB8AC3E}">
        <p14:creationId xmlns:p14="http://schemas.microsoft.com/office/powerpoint/2010/main" val="4031883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396CC5-924F-4EF0-B2D7-961E5B6C9406}"/>
              </a:ext>
            </a:extLst>
          </p:cNvPr>
          <p:cNvSpPr txBox="1"/>
          <p:nvPr/>
        </p:nvSpPr>
        <p:spPr>
          <a:xfrm>
            <a:off x="1073426" y="676725"/>
            <a:ext cx="6096000" cy="461665"/>
          </a:xfrm>
          <a:prstGeom prst="rect">
            <a:avLst/>
          </a:prstGeom>
          <a:noFill/>
        </p:spPr>
        <p:txBody>
          <a:bodyPr wrap="square">
            <a:spAutoFit/>
          </a:bodyPr>
          <a:lstStyle/>
          <a:p>
            <a:r>
              <a:rPr lang="en-ZA" sz="2400" b="1" dirty="0"/>
              <a:t>Machine Learning in ANNs</a:t>
            </a:r>
          </a:p>
        </p:txBody>
      </p:sp>
      <p:sp>
        <p:nvSpPr>
          <p:cNvPr id="5" name="TextBox 4">
            <a:extLst>
              <a:ext uri="{FF2B5EF4-FFF2-40B4-BE49-F238E27FC236}">
                <a16:creationId xmlns:a16="http://schemas.microsoft.com/office/drawing/2014/main" id="{276D505D-FCAD-4FFC-8954-BEEC4C07A060}"/>
              </a:ext>
            </a:extLst>
          </p:cNvPr>
          <p:cNvSpPr txBox="1"/>
          <p:nvPr/>
        </p:nvSpPr>
        <p:spPr>
          <a:xfrm>
            <a:off x="1073426" y="1305341"/>
            <a:ext cx="10084904" cy="1631216"/>
          </a:xfrm>
          <a:prstGeom prst="rect">
            <a:avLst/>
          </a:prstGeom>
          <a:noFill/>
        </p:spPr>
        <p:txBody>
          <a:bodyPr wrap="square">
            <a:spAutoFit/>
          </a:bodyPr>
          <a:lstStyle/>
          <a:p>
            <a:r>
              <a:rPr lang="en-US" sz="2000" b="1" i="1" dirty="0"/>
              <a:t>ANNs are capable of learning, and they need to be trained. There are several learning strategies:</a:t>
            </a:r>
          </a:p>
          <a:p>
            <a:pPr marL="742950" lvl="1" indent="-285750">
              <a:buFont typeface="Arial" panose="020B0604020202020204" pitchFamily="34" charset="0"/>
              <a:buChar char="•"/>
            </a:pPr>
            <a:r>
              <a:rPr lang="en-US" sz="2000" dirty="0"/>
              <a:t>Supervised Learning </a:t>
            </a:r>
          </a:p>
          <a:p>
            <a:pPr marL="742950" lvl="1" indent="-285750">
              <a:buFont typeface="Arial" panose="020B0604020202020204" pitchFamily="34" charset="0"/>
              <a:buChar char="•"/>
            </a:pPr>
            <a:r>
              <a:rPr lang="en-US" sz="2000" dirty="0"/>
              <a:t>Unsupervised Learning </a:t>
            </a:r>
          </a:p>
          <a:p>
            <a:pPr marL="742950" lvl="1" indent="-285750">
              <a:buFont typeface="Arial" panose="020B0604020202020204" pitchFamily="34" charset="0"/>
              <a:buChar char="•"/>
            </a:pPr>
            <a:r>
              <a:rPr lang="en-US" sz="2000" dirty="0"/>
              <a:t>Reinforcement Learning</a:t>
            </a:r>
          </a:p>
        </p:txBody>
      </p:sp>
      <p:sp>
        <p:nvSpPr>
          <p:cNvPr id="7" name="TextBox 6">
            <a:extLst>
              <a:ext uri="{FF2B5EF4-FFF2-40B4-BE49-F238E27FC236}">
                <a16:creationId xmlns:a16="http://schemas.microsoft.com/office/drawing/2014/main" id="{02EF8E00-5498-40A0-B0F9-C73DC1B95318}"/>
              </a:ext>
            </a:extLst>
          </p:cNvPr>
          <p:cNvSpPr txBox="1"/>
          <p:nvPr/>
        </p:nvSpPr>
        <p:spPr>
          <a:xfrm>
            <a:off x="1073426" y="2936557"/>
            <a:ext cx="6096000" cy="400110"/>
          </a:xfrm>
          <a:prstGeom prst="rect">
            <a:avLst/>
          </a:prstGeom>
          <a:noFill/>
        </p:spPr>
        <p:txBody>
          <a:bodyPr wrap="square">
            <a:spAutoFit/>
          </a:bodyPr>
          <a:lstStyle/>
          <a:p>
            <a:r>
              <a:rPr lang="en-ZA" sz="2000" b="1" i="1" dirty="0"/>
              <a:t>Bayesian Networks (BN)</a:t>
            </a:r>
          </a:p>
        </p:txBody>
      </p:sp>
      <p:sp>
        <p:nvSpPr>
          <p:cNvPr id="9" name="TextBox 8">
            <a:extLst>
              <a:ext uri="{FF2B5EF4-FFF2-40B4-BE49-F238E27FC236}">
                <a16:creationId xmlns:a16="http://schemas.microsoft.com/office/drawing/2014/main" id="{7F037DE3-7DBC-40F0-8452-3115E989CB52}"/>
              </a:ext>
            </a:extLst>
          </p:cNvPr>
          <p:cNvSpPr txBox="1"/>
          <p:nvPr/>
        </p:nvSpPr>
        <p:spPr>
          <a:xfrm>
            <a:off x="1073426" y="3275113"/>
            <a:ext cx="10588487" cy="1200329"/>
          </a:xfrm>
          <a:prstGeom prst="rect">
            <a:avLst/>
          </a:prstGeom>
          <a:noFill/>
        </p:spPr>
        <p:txBody>
          <a:bodyPr wrap="square">
            <a:spAutoFit/>
          </a:bodyPr>
          <a:lstStyle/>
          <a:p>
            <a:pPr marL="742950" lvl="1" indent="-285750">
              <a:buFont typeface="Arial" panose="020B0604020202020204" pitchFamily="34" charset="0"/>
              <a:buChar char="•"/>
            </a:pPr>
            <a:r>
              <a:rPr lang="en-US" dirty="0"/>
              <a:t>These are the graphical structures used to represent the probabilistic relationship among a set of random variables. </a:t>
            </a:r>
          </a:p>
          <a:p>
            <a:pPr marL="742950" lvl="1" indent="-285750">
              <a:buFont typeface="Arial" panose="020B0604020202020204" pitchFamily="34" charset="0"/>
              <a:buChar char="•"/>
            </a:pPr>
            <a:r>
              <a:rPr lang="en-US" dirty="0"/>
              <a:t>Bayesian networks are also called Belief Networks or Bayes Nets. </a:t>
            </a:r>
          </a:p>
          <a:p>
            <a:pPr marL="742950" lvl="1" indent="-285750">
              <a:buFont typeface="Arial" panose="020B0604020202020204" pitchFamily="34" charset="0"/>
              <a:buChar char="•"/>
            </a:pPr>
            <a:r>
              <a:rPr lang="en-US" dirty="0"/>
              <a:t>BNs reason about uncertain domain.</a:t>
            </a:r>
            <a:endParaRPr lang="en-ZA" dirty="0"/>
          </a:p>
        </p:txBody>
      </p:sp>
    </p:spTree>
    <p:extLst>
      <p:ext uri="{BB962C8B-B14F-4D97-AF65-F5344CB8AC3E}">
        <p14:creationId xmlns:p14="http://schemas.microsoft.com/office/powerpoint/2010/main" val="919736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FC618-46EB-424D-B4CE-C9BE4B4891D8}"/>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a:solidFill>
                  <a:srgbClr val="FFFFFF"/>
                </a:solidFill>
              </a:rPr>
              <a:t>End of Previous slides</a:t>
            </a:r>
          </a:p>
        </p:txBody>
      </p:sp>
      <p:pic>
        <p:nvPicPr>
          <p:cNvPr id="4" name="Content Placeholder 3">
            <a:extLst>
              <a:ext uri="{FF2B5EF4-FFF2-40B4-BE49-F238E27FC236}">
                <a16:creationId xmlns:a16="http://schemas.microsoft.com/office/drawing/2014/main" id="{64C53830-1C44-490A-B2FB-C68ED886ED3E}"/>
              </a:ext>
            </a:extLst>
          </p:cNvPr>
          <p:cNvPicPr>
            <a:picLocks noGrp="1" noChangeAspect="1"/>
          </p:cNvPicPr>
          <p:nvPr>
            <p:ph idx="1"/>
          </p:nvPr>
        </p:nvPicPr>
        <p:blipFill>
          <a:blip r:embed="rId2"/>
          <a:stretch>
            <a:fillRect/>
          </a:stretch>
        </p:blipFill>
        <p:spPr>
          <a:xfrm>
            <a:off x="675864" y="1498108"/>
            <a:ext cx="4996068" cy="4098857"/>
          </a:xfrm>
          <a:prstGeom prst="rect">
            <a:avLst/>
          </a:prstGeom>
        </p:spPr>
      </p:pic>
      <p:sp>
        <p:nvSpPr>
          <p:cNvPr id="7" name="Rectangle 6">
            <a:extLst>
              <a:ext uri="{FF2B5EF4-FFF2-40B4-BE49-F238E27FC236}">
                <a16:creationId xmlns:a16="http://schemas.microsoft.com/office/drawing/2014/main" id="{AC5E2638-5093-48B9-92FD-D6C88260F582}"/>
              </a:ext>
            </a:extLst>
          </p:cNvPr>
          <p:cNvSpPr/>
          <p:nvPr/>
        </p:nvSpPr>
        <p:spPr>
          <a:xfrm>
            <a:off x="5177932" y="2478770"/>
            <a:ext cx="606324" cy="71719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pic>
        <p:nvPicPr>
          <p:cNvPr id="8" name="Picture 7">
            <a:extLst>
              <a:ext uri="{FF2B5EF4-FFF2-40B4-BE49-F238E27FC236}">
                <a16:creationId xmlns:a16="http://schemas.microsoft.com/office/drawing/2014/main" id="{7DC40DFD-5E8F-4374-97F5-FAF248C2A3A5}"/>
              </a:ext>
            </a:extLst>
          </p:cNvPr>
          <p:cNvPicPr>
            <a:picLocks noChangeAspect="1"/>
          </p:cNvPicPr>
          <p:nvPr/>
        </p:nvPicPr>
        <p:blipFill>
          <a:blip r:embed="rId3"/>
          <a:stretch>
            <a:fillRect/>
          </a:stretch>
        </p:blipFill>
        <p:spPr>
          <a:xfrm>
            <a:off x="6124372" y="1498108"/>
            <a:ext cx="4955510" cy="3459408"/>
          </a:xfrm>
          <a:prstGeom prst="rect">
            <a:avLst/>
          </a:prstGeom>
        </p:spPr>
      </p:pic>
      <p:sp>
        <p:nvSpPr>
          <p:cNvPr id="11" name="Rectangle 10">
            <a:extLst>
              <a:ext uri="{FF2B5EF4-FFF2-40B4-BE49-F238E27FC236}">
                <a16:creationId xmlns:a16="http://schemas.microsoft.com/office/drawing/2014/main" id="{87C363E6-91DE-4378-9F18-4624CE5BF017}"/>
              </a:ext>
            </a:extLst>
          </p:cNvPr>
          <p:cNvSpPr/>
          <p:nvPr/>
        </p:nvSpPr>
        <p:spPr>
          <a:xfrm>
            <a:off x="11079882" y="2532871"/>
            <a:ext cx="606323" cy="6089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3" name="Rectangle 2">
            <a:extLst>
              <a:ext uri="{FF2B5EF4-FFF2-40B4-BE49-F238E27FC236}">
                <a16:creationId xmlns:a16="http://schemas.microsoft.com/office/drawing/2014/main" id="{A57EDB5A-2C6E-47BC-8E4A-FE89A733927B}"/>
              </a:ext>
            </a:extLst>
          </p:cNvPr>
          <p:cNvSpPr/>
          <p:nvPr/>
        </p:nvSpPr>
        <p:spPr>
          <a:xfrm>
            <a:off x="5177932" y="1267477"/>
            <a:ext cx="805744" cy="81311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13" name="Rectangle 12">
            <a:extLst>
              <a:ext uri="{FF2B5EF4-FFF2-40B4-BE49-F238E27FC236}">
                <a16:creationId xmlns:a16="http://schemas.microsoft.com/office/drawing/2014/main" id="{0CC0DB4B-A4DB-4343-9C45-6B2256704344}"/>
              </a:ext>
            </a:extLst>
          </p:cNvPr>
          <p:cNvSpPr/>
          <p:nvPr/>
        </p:nvSpPr>
        <p:spPr>
          <a:xfrm>
            <a:off x="10615257" y="1246142"/>
            <a:ext cx="733348" cy="81311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15" name="TextBox 14">
            <a:extLst>
              <a:ext uri="{FF2B5EF4-FFF2-40B4-BE49-F238E27FC236}">
                <a16:creationId xmlns:a16="http://schemas.microsoft.com/office/drawing/2014/main" id="{B74CA523-2A71-40A3-AA18-43289DA83402}"/>
              </a:ext>
            </a:extLst>
          </p:cNvPr>
          <p:cNvSpPr txBox="1"/>
          <p:nvPr/>
        </p:nvSpPr>
        <p:spPr>
          <a:xfrm>
            <a:off x="6124372" y="5036726"/>
            <a:ext cx="6096000" cy="646331"/>
          </a:xfrm>
          <a:prstGeom prst="rect">
            <a:avLst/>
          </a:prstGeom>
          <a:noFill/>
        </p:spPr>
        <p:txBody>
          <a:bodyPr wrap="square">
            <a:spAutoFit/>
          </a:bodyPr>
          <a:lstStyle/>
          <a:p>
            <a:pPr marL="285750" indent="-285750">
              <a:buFont typeface="Wingdings" panose="05000000000000000000" pitchFamily="2" charset="2"/>
              <a:buChar char="Ø"/>
            </a:pPr>
            <a:r>
              <a:rPr lang="en-US" b="1" dirty="0">
                <a:solidFill>
                  <a:schemeClr val="accent1">
                    <a:lumMod val="50000"/>
                  </a:schemeClr>
                </a:solidFill>
              </a:rPr>
              <a:t>PROLOG, Java, LISP are commonly used programming languages for AI.</a:t>
            </a:r>
            <a:endParaRPr lang="en-ZA" b="1" dirty="0">
              <a:solidFill>
                <a:schemeClr val="accent1">
                  <a:lumMod val="50000"/>
                </a:schemeClr>
              </a:solidFill>
            </a:endParaRPr>
          </a:p>
        </p:txBody>
      </p:sp>
    </p:spTree>
    <p:extLst>
      <p:ext uri="{BB962C8B-B14F-4D97-AF65-F5344CB8AC3E}">
        <p14:creationId xmlns:p14="http://schemas.microsoft.com/office/powerpoint/2010/main" val="2967475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EAC7A690-C2FF-4FBA-A4D8-8FD14FA3980F}"/>
              </a:ext>
            </a:extLst>
          </p:cNvPr>
          <p:cNvSpPr>
            <a:spLocks noGrp="1" noChangeArrowheads="1"/>
          </p:cNvSpPr>
          <p:nvPr>
            <p:ph type="title"/>
          </p:nvPr>
        </p:nvSpPr>
        <p:spPr>
          <a:xfrm>
            <a:off x="642731" y="442914"/>
            <a:ext cx="7620000" cy="1143000"/>
          </a:xfrm>
        </p:spPr>
        <p:txBody>
          <a:bodyPr/>
          <a:lstStyle/>
          <a:p>
            <a:pPr>
              <a:defRPr/>
            </a:pPr>
            <a:r>
              <a:rPr lang="en-US" altLang="en-US" b="1" dirty="0">
                <a:latin typeface="Times New Roman" panose="02020603050405020304" pitchFamily="18" charset="0"/>
              </a:rPr>
              <a:t>What is an expert system?</a:t>
            </a:r>
          </a:p>
        </p:txBody>
      </p:sp>
      <p:sp>
        <p:nvSpPr>
          <p:cNvPr id="7172" name="Rectangle 3">
            <a:extLst>
              <a:ext uri="{FF2B5EF4-FFF2-40B4-BE49-F238E27FC236}">
                <a16:creationId xmlns:a16="http://schemas.microsoft.com/office/drawing/2014/main" id="{201E4F49-4B7D-44E4-8614-0A6A79E6E3C4}"/>
              </a:ext>
            </a:extLst>
          </p:cNvPr>
          <p:cNvSpPr>
            <a:spLocks noGrp="1" noChangeArrowheads="1"/>
          </p:cNvSpPr>
          <p:nvPr>
            <p:ph idx="1"/>
          </p:nvPr>
        </p:nvSpPr>
        <p:spPr>
          <a:xfrm>
            <a:off x="838199" y="1449388"/>
            <a:ext cx="10836965" cy="5272087"/>
          </a:xfrm>
        </p:spPr>
        <p:txBody>
          <a:bodyPr rtlCol="0">
            <a:normAutofit/>
          </a:bodyPr>
          <a:lstStyle/>
          <a:p>
            <a:pPr>
              <a:buNone/>
              <a:defRPr/>
            </a:pPr>
            <a:r>
              <a:rPr lang="en-US" altLang="en-US" dirty="0">
                <a:solidFill>
                  <a:srgbClr val="FFFF00"/>
                </a:solidFill>
                <a:latin typeface="Times New Roman" panose="02020603050405020304" pitchFamily="18" charset="0"/>
              </a:rPr>
              <a:t>	</a:t>
            </a:r>
          </a:p>
          <a:p>
            <a:pPr>
              <a:buNone/>
              <a:defRPr/>
            </a:pPr>
            <a:r>
              <a:rPr lang="en-US" altLang="en-US" dirty="0">
                <a:solidFill>
                  <a:srgbClr val="FFFF00"/>
                </a:solidFill>
                <a:latin typeface="Times New Roman" panose="02020603050405020304" pitchFamily="18" charset="0"/>
              </a:rPr>
              <a:t>	</a:t>
            </a:r>
            <a:r>
              <a:rPr lang="en-US" altLang="en-US" dirty="0">
                <a:latin typeface="Times New Roman" panose="02020603050405020304" pitchFamily="18" charset="0"/>
              </a:rPr>
              <a:t>“An expert system is a computer system that emulates, or acts in all respects, with the decision-making capabilities of a human expert.”</a:t>
            </a:r>
          </a:p>
          <a:p>
            <a:pPr algn="r">
              <a:buNone/>
              <a:defRPr/>
            </a:pPr>
            <a:r>
              <a:rPr lang="en-US" altLang="en-US" dirty="0">
                <a:latin typeface="Times New Roman" panose="02020603050405020304" pitchFamily="18" charset="0"/>
              </a:rPr>
              <a:t>Professor Edward </a:t>
            </a:r>
            <a:r>
              <a:rPr lang="en-US" altLang="en-US" dirty="0" err="1">
                <a:latin typeface="Times New Roman" panose="02020603050405020304" pitchFamily="18" charset="0"/>
              </a:rPr>
              <a:t>Feigenbaum</a:t>
            </a:r>
            <a:endParaRPr lang="en-US" altLang="en-US" dirty="0">
              <a:latin typeface="Times New Roman" panose="02020603050405020304" pitchFamily="18" charset="0"/>
            </a:endParaRPr>
          </a:p>
          <a:p>
            <a:pPr algn="r">
              <a:buNone/>
              <a:defRPr/>
            </a:pPr>
            <a:r>
              <a:rPr lang="en-US" altLang="en-US" dirty="0">
                <a:latin typeface="Times New Roman" panose="02020603050405020304" pitchFamily="18" charset="0"/>
              </a:rPr>
              <a:t>Stanford University</a:t>
            </a:r>
          </a:p>
          <a:p>
            <a:pPr>
              <a:buNone/>
              <a:defRPr/>
            </a:pPr>
            <a:r>
              <a:rPr lang="en-US" altLang="en-US" dirty="0">
                <a:latin typeface="Times New Roman" panose="02020603050405020304" pitchFamily="18" charset="0"/>
              </a:rPr>
              <a:t>Can be considered declarative languages:</a:t>
            </a:r>
          </a:p>
          <a:p>
            <a:pPr>
              <a:defRPr/>
            </a:pPr>
            <a:r>
              <a:rPr lang="en-US" altLang="en-US" dirty="0">
                <a:latin typeface="Times New Roman" panose="02020603050405020304" pitchFamily="18" charset="0"/>
              </a:rPr>
              <a:t>Programmer does not specify how to achieve a goal at the algorithm level.</a:t>
            </a:r>
          </a:p>
          <a:p>
            <a:pPr>
              <a:defRPr/>
            </a:pPr>
            <a:r>
              <a:rPr lang="en-US" altLang="en-US" dirty="0">
                <a:latin typeface="Times New Roman" panose="02020603050405020304" pitchFamily="18" charset="0"/>
              </a:rPr>
              <a:t>Induction-based programming – the program learns by generalizing from a sample.</a:t>
            </a:r>
          </a:p>
          <a:p>
            <a:pPr algn="r">
              <a:buNone/>
              <a:defRPr/>
            </a:pPr>
            <a:endParaRPr lang="en-US" altLang="en-US" dirty="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82FF7-28E9-410E-A549-5FB56546138A}"/>
              </a:ext>
            </a:extLst>
          </p:cNvPr>
          <p:cNvSpPr txBox="1"/>
          <p:nvPr/>
        </p:nvSpPr>
        <p:spPr>
          <a:xfrm>
            <a:off x="609600" y="779358"/>
            <a:ext cx="10363200" cy="3385542"/>
          </a:xfrm>
          <a:prstGeom prst="rect">
            <a:avLst/>
          </a:prstGeom>
          <a:noFill/>
        </p:spPr>
        <p:txBody>
          <a:bodyPr wrap="square">
            <a:spAutoFit/>
          </a:bodyPr>
          <a:lstStyle/>
          <a:p>
            <a:pPr algn="ctr"/>
            <a:r>
              <a:rPr lang="en-US" sz="2800" b="1" dirty="0"/>
              <a:t>EXPERT SYSTEMS</a:t>
            </a:r>
          </a:p>
          <a:p>
            <a:endParaRPr lang="en-US" dirty="0"/>
          </a:p>
          <a:p>
            <a:r>
              <a:rPr lang="en-US" sz="2800" b="1" i="1" dirty="0"/>
              <a:t>Components of Expert System</a:t>
            </a:r>
          </a:p>
          <a:p>
            <a:pPr marL="914400" lvl="1" indent="-457200">
              <a:buFont typeface="Arial" panose="020B0604020202020204" pitchFamily="34" charset="0"/>
              <a:buChar char="•"/>
            </a:pPr>
            <a:r>
              <a:rPr lang="en-US" sz="2800" dirty="0"/>
              <a:t>User Interface</a:t>
            </a:r>
          </a:p>
          <a:p>
            <a:pPr marL="914400" lvl="1" indent="-457200">
              <a:buFont typeface="Arial" panose="020B0604020202020204" pitchFamily="34" charset="0"/>
              <a:buChar char="•"/>
            </a:pPr>
            <a:r>
              <a:rPr lang="en-US" sz="2800" dirty="0"/>
              <a:t>Inference Engine</a:t>
            </a:r>
          </a:p>
          <a:p>
            <a:pPr marL="914400" lvl="1" indent="-457200">
              <a:buFont typeface="Arial" panose="020B0604020202020204" pitchFamily="34" charset="0"/>
              <a:buChar char="•"/>
            </a:pPr>
            <a:r>
              <a:rPr lang="en-US" sz="2800" dirty="0"/>
              <a:t>Knowledge Base</a:t>
            </a:r>
          </a:p>
          <a:p>
            <a:pPr marL="1371600" lvl="2" indent="-457200">
              <a:buFont typeface="Wingdings" panose="05000000000000000000" pitchFamily="2" charset="2"/>
              <a:buChar char="Ø"/>
            </a:pPr>
            <a:r>
              <a:rPr lang="en-US" sz="2800" dirty="0"/>
              <a:t>Factual knowledge</a:t>
            </a:r>
          </a:p>
          <a:p>
            <a:pPr marL="1371600" lvl="2" indent="-457200">
              <a:buFont typeface="Wingdings" panose="05000000000000000000" pitchFamily="2" charset="2"/>
              <a:buChar char="Ø"/>
            </a:pPr>
            <a:r>
              <a:rPr lang="en-US" sz="2800" dirty="0"/>
              <a:t>Heuristic knowledge</a:t>
            </a:r>
            <a:endParaRPr lang="en-ZA" sz="2800" dirty="0"/>
          </a:p>
        </p:txBody>
      </p:sp>
      <p:sp>
        <p:nvSpPr>
          <p:cNvPr id="4" name="TextBox 3">
            <a:extLst>
              <a:ext uri="{FF2B5EF4-FFF2-40B4-BE49-F238E27FC236}">
                <a16:creationId xmlns:a16="http://schemas.microsoft.com/office/drawing/2014/main" id="{F8CAA31D-60A9-4709-AE5E-D179E3047350}"/>
              </a:ext>
            </a:extLst>
          </p:cNvPr>
          <p:cNvSpPr txBox="1"/>
          <p:nvPr/>
        </p:nvSpPr>
        <p:spPr>
          <a:xfrm>
            <a:off x="715616" y="4354852"/>
            <a:ext cx="10548731" cy="954107"/>
          </a:xfrm>
          <a:prstGeom prst="rect">
            <a:avLst/>
          </a:prstGeom>
          <a:noFill/>
        </p:spPr>
        <p:txBody>
          <a:bodyPr wrap="square">
            <a:spAutoFit/>
          </a:bodyPr>
          <a:lstStyle/>
          <a:p>
            <a:r>
              <a:rPr lang="en-US" sz="2800" dirty="0"/>
              <a:t>An expert’s knowledge is specific to a problem domain – medicine, finance, science, engineering, etc.</a:t>
            </a:r>
          </a:p>
        </p:txBody>
      </p:sp>
    </p:spTree>
    <p:extLst>
      <p:ext uri="{BB962C8B-B14F-4D97-AF65-F5344CB8AC3E}">
        <p14:creationId xmlns:p14="http://schemas.microsoft.com/office/powerpoint/2010/main" val="4140632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B14C1868-5746-4AB8-AF92-FE87250570B0}"/>
              </a:ext>
            </a:extLst>
          </p:cNvPr>
          <p:cNvSpPr>
            <a:spLocks noGrp="1" noChangeArrowheads="1"/>
          </p:cNvSpPr>
          <p:nvPr>
            <p:ph type="title"/>
          </p:nvPr>
        </p:nvSpPr>
        <p:spPr>
          <a:xfrm>
            <a:off x="990600" y="354011"/>
            <a:ext cx="7620000" cy="1143000"/>
          </a:xfrm>
        </p:spPr>
        <p:txBody>
          <a:bodyPr/>
          <a:lstStyle/>
          <a:p>
            <a:pPr>
              <a:defRPr/>
            </a:pPr>
            <a:r>
              <a:rPr lang="en-US" altLang="en-US" b="1" dirty="0">
                <a:latin typeface="Times New Roman" panose="02020603050405020304" pitchFamily="18" charset="0"/>
              </a:rPr>
              <a:t>Uncertainty</a:t>
            </a:r>
          </a:p>
        </p:txBody>
      </p:sp>
      <p:sp>
        <p:nvSpPr>
          <p:cNvPr id="20484" name="Rectangle 3">
            <a:extLst>
              <a:ext uri="{FF2B5EF4-FFF2-40B4-BE49-F238E27FC236}">
                <a16:creationId xmlns:a16="http://schemas.microsoft.com/office/drawing/2014/main" id="{B571B87F-4E60-42CC-B7DB-8EAB536FB0D1}"/>
              </a:ext>
            </a:extLst>
          </p:cNvPr>
          <p:cNvSpPr>
            <a:spLocks noGrp="1" noChangeArrowheads="1"/>
          </p:cNvSpPr>
          <p:nvPr>
            <p:ph idx="1"/>
          </p:nvPr>
        </p:nvSpPr>
        <p:spPr>
          <a:xfrm>
            <a:off x="990600" y="1684336"/>
            <a:ext cx="10363200" cy="4297363"/>
          </a:xfrm>
        </p:spPr>
        <p:txBody>
          <a:bodyPr rtlCol="0">
            <a:normAutofit/>
          </a:bodyPr>
          <a:lstStyle/>
          <a:p>
            <a:pPr>
              <a:defRPr/>
            </a:pPr>
            <a:r>
              <a:rPr lang="en-US" altLang="en-US" dirty="0">
                <a:latin typeface="Times New Roman" panose="02020603050405020304" pitchFamily="18" charset="0"/>
              </a:rPr>
              <a:t>Both human experts and expert systems must be able to deal with uncertainty.</a:t>
            </a:r>
          </a:p>
          <a:p>
            <a:pPr>
              <a:defRPr/>
            </a:pPr>
            <a:r>
              <a:rPr lang="en-US" altLang="en-US" dirty="0">
                <a:latin typeface="Times New Roman" panose="02020603050405020304" pitchFamily="18" charset="0"/>
              </a:rPr>
              <a:t>It is easier to program expert systems with shallow knowledge than with deep knowledge.</a:t>
            </a:r>
          </a:p>
          <a:p>
            <a:pPr>
              <a:defRPr/>
            </a:pPr>
            <a:r>
              <a:rPr lang="en-US" altLang="en-US" dirty="0">
                <a:latin typeface="Times New Roman" panose="02020603050405020304" pitchFamily="18" charset="0"/>
              </a:rPr>
              <a:t>Shallow knowledge – based on empirical and heuristic knowledge. Basic or general understanding of a subject. </a:t>
            </a:r>
          </a:p>
          <a:p>
            <a:pPr>
              <a:defRPr/>
            </a:pPr>
            <a:r>
              <a:rPr lang="en-US" altLang="en-US" dirty="0">
                <a:latin typeface="Times New Roman" panose="02020603050405020304" pitchFamily="18" charset="0"/>
              </a:rPr>
              <a:t>Deep knowledge – based on basic structure, function, and behavior of objects.</a:t>
            </a:r>
          </a:p>
        </p:txBody>
      </p:sp>
      <p:sp>
        <p:nvSpPr>
          <p:cNvPr id="20482" name="Slide Number Placeholder 4">
            <a:extLst>
              <a:ext uri="{FF2B5EF4-FFF2-40B4-BE49-F238E27FC236}">
                <a16:creationId xmlns:a16="http://schemas.microsoft.com/office/drawing/2014/main" id="{CF1FBE58-D325-4B77-8F72-5C959578E493}"/>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742950" indent="-28575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nSpc>
                <a:spcPct val="100000"/>
              </a:lnSpc>
              <a:spcBef>
                <a:spcPct val="0"/>
              </a:spcBef>
              <a:buSzTx/>
              <a:buFontTx/>
              <a:buNone/>
            </a:pPr>
            <a:fld id="{C8437578-DBAD-40E9-A9E7-28EFC8586128}" type="slidenum">
              <a:rPr lang="en-US" altLang="en-US" sz="1000">
                <a:latin typeface="Arial" panose="020B0604020202020204" pitchFamily="34" charset="0"/>
              </a:rPr>
              <a:pPr>
                <a:lnSpc>
                  <a:spcPct val="100000"/>
                </a:lnSpc>
                <a:spcBef>
                  <a:spcPct val="0"/>
                </a:spcBef>
                <a:buSzTx/>
                <a:buFontTx/>
                <a:buNone/>
              </a:pPr>
              <a:t>39</a:t>
            </a:fld>
            <a:endParaRPr lang="en-US" altLang="en-US" sz="100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91B2-6FB9-4E06-8F21-5BDA6E924652}"/>
              </a:ext>
            </a:extLst>
          </p:cNvPr>
          <p:cNvSpPr>
            <a:spLocks noGrp="1"/>
          </p:cNvSpPr>
          <p:nvPr>
            <p:ph type="title"/>
          </p:nvPr>
        </p:nvSpPr>
        <p:spPr>
          <a:xfrm>
            <a:off x="838200" y="365126"/>
            <a:ext cx="10515600" cy="893832"/>
          </a:xfrm>
        </p:spPr>
        <p:txBody>
          <a:bodyPr/>
          <a:lstStyle/>
          <a:p>
            <a:r>
              <a:rPr lang="en-ZA" b="1" dirty="0"/>
              <a:t>Bayesian Network</a:t>
            </a:r>
          </a:p>
        </p:txBody>
      </p:sp>
      <p:sp>
        <p:nvSpPr>
          <p:cNvPr id="3" name="Content Placeholder 2">
            <a:extLst>
              <a:ext uri="{FF2B5EF4-FFF2-40B4-BE49-F238E27FC236}">
                <a16:creationId xmlns:a16="http://schemas.microsoft.com/office/drawing/2014/main" id="{2D2E2C56-56EE-4B4C-AB2E-87F7B08F5D09}"/>
              </a:ext>
            </a:extLst>
          </p:cNvPr>
          <p:cNvSpPr>
            <a:spLocks noGrp="1"/>
          </p:cNvSpPr>
          <p:nvPr>
            <p:ph idx="1"/>
          </p:nvPr>
        </p:nvSpPr>
        <p:spPr>
          <a:xfrm>
            <a:off x="838200" y="1414808"/>
            <a:ext cx="10515600" cy="4351338"/>
          </a:xfrm>
        </p:spPr>
        <p:txBody>
          <a:bodyPr/>
          <a:lstStyle/>
          <a:p>
            <a:r>
              <a:rPr lang="en-US" dirty="0"/>
              <a:t>A Bayesian network graph is made up of nodes and Arcs (directed links), where:</a:t>
            </a:r>
            <a:endParaRPr lang="en-ZA" dirty="0"/>
          </a:p>
        </p:txBody>
      </p:sp>
      <p:sp>
        <p:nvSpPr>
          <p:cNvPr id="5" name="TextBox 4">
            <a:extLst>
              <a:ext uri="{FF2B5EF4-FFF2-40B4-BE49-F238E27FC236}">
                <a16:creationId xmlns:a16="http://schemas.microsoft.com/office/drawing/2014/main" id="{B3994D90-0AF4-45E0-B0C0-67B00ECBB103}"/>
              </a:ext>
            </a:extLst>
          </p:cNvPr>
          <p:cNvSpPr txBox="1"/>
          <p:nvPr/>
        </p:nvSpPr>
        <p:spPr>
          <a:xfrm>
            <a:off x="838200" y="2228677"/>
            <a:ext cx="10929730" cy="2677656"/>
          </a:xfrm>
          <a:prstGeom prst="rect">
            <a:avLst/>
          </a:prstGeom>
          <a:noFill/>
        </p:spPr>
        <p:txBody>
          <a:bodyPr wrap="square">
            <a:spAutoFit/>
          </a:bodyPr>
          <a:lstStyle/>
          <a:p>
            <a:pPr marL="742950" lvl="1" indent="-285750">
              <a:buFont typeface="Wingdings" panose="05000000000000000000" pitchFamily="2" charset="2"/>
              <a:buChar char="Ø"/>
            </a:pPr>
            <a:r>
              <a:rPr lang="en-US" sz="2400" dirty="0"/>
              <a:t>Each node corresponds to the random variables, and a variable can be continuous or discrete.</a:t>
            </a:r>
          </a:p>
          <a:p>
            <a:pPr marL="742950" lvl="1" indent="-285750">
              <a:buFont typeface="Wingdings" panose="05000000000000000000" pitchFamily="2" charset="2"/>
              <a:buChar char="Ø"/>
            </a:pPr>
            <a:r>
              <a:rPr lang="en-US" sz="2400" dirty="0"/>
              <a:t>Arc or directed arrows represent the causal relationship or conditional probabilities between random variables. These directed links or arrows connect the pair of nodes in the graph.</a:t>
            </a:r>
          </a:p>
          <a:p>
            <a:pPr marL="742950" lvl="1" indent="-285750">
              <a:buFont typeface="Wingdings" panose="05000000000000000000" pitchFamily="2" charset="2"/>
              <a:buChar char="Ø"/>
            </a:pPr>
            <a:r>
              <a:rPr lang="en-US" sz="2400" dirty="0"/>
              <a:t>These links represent that one node directly influence the other node, and if there is no directed link that means that nodes are independent with each other.</a:t>
            </a:r>
          </a:p>
        </p:txBody>
      </p:sp>
    </p:spTree>
    <p:extLst>
      <p:ext uri="{BB962C8B-B14F-4D97-AF65-F5344CB8AC3E}">
        <p14:creationId xmlns:p14="http://schemas.microsoft.com/office/powerpoint/2010/main" val="3532701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E077-0D95-4303-B19D-EA60850A4E57}"/>
              </a:ext>
            </a:extLst>
          </p:cNvPr>
          <p:cNvSpPr txBox="1"/>
          <p:nvPr/>
        </p:nvSpPr>
        <p:spPr>
          <a:xfrm>
            <a:off x="1404729" y="4668223"/>
            <a:ext cx="10257183" cy="1477328"/>
          </a:xfrm>
          <a:prstGeom prst="rect">
            <a:avLst/>
          </a:prstGeom>
          <a:noFill/>
        </p:spPr>
        <p:txBody>
          <a:bodyPr wrap="square">
            <a:spAutoFit/>
          </a:bodyPr>
          <a:lstStyle/>
          <a:p>
            <a:pPr marL="285750" indent="-285750">
              <a:buFont typeface="Arial" panose="020B0604020202020204" pitchFamily="34" charset="0"/>
              <a:buChar char="•"/>
            </a:pPr>
            <a:r>
              <a:rPr lang="en-US" dirty="0"/>
              <a:t>In the above diagram, A, B, C, and D are random variables represented by the nodes of the network graph.</a:t>
            </a:r>
          </a:p>
          <a:p>
            <a:pPr marL="285750" indent="-285750">
              <a:buFont typeface="Arial" panose="020B0604020202020204" pitchFamily="34" charset="0"/>
              <a:buChar char="•"/>
            </a:pPr>
            <a:r>
              <a:rPr lang="en-US" dirty="0"/>
              <a:t>If we are considering node B, which is connected with node A by a directed arrow, then node A is called the parent of Node B.</a:t>
            </a:r>
          </a:p>
          <a:p>
            <a:pPr marL="285750" indent="-285750">
              <a:buFont typeface="Arial" panose="020B0604020202020204" pitchFamily="34" charset="0"/>
              <a:buChar char="•"/>
            </a:pPr>
            <a:r>
              <a:rPr lang="en-US" dirty="0"/>
              <a:t>Node C is independent of node A.</a:t>
            </a:r>
          </a:p>
        </p:txBody>
      </p:sp>
      <p:pic>
        <p:nvPicPr>
          <p:cNvPr id="5" name="Picture 4">
            <a:extLst>
              <a:ext uri="{FF2B5EF4-FFF2-40B4-BE49-F238E27FC236}">
                <a16:creationId xmlns:a16="http://schemas.microsoft.com/office/drawing/2014/main" id="{B5298FBF-56DE-4B63-B03B-366A05154C55}"/>
              </a:ext>
            </a:extLst>
          </p:cNvPr>
          <p:cNvPicPr>
            <a:picLocks noChangeAspect="1"/>
          </p:cNvPicPr>
          <p:nvPr/>
        </p:nvPicPr>
        <p:blipFill>
          <a:blip r:embed="rId2"/>
          <a:stretch>
            <a:fillRect/>
          </a:stretch>
        </p:blipFill>
        <p:spPr>
          <a:xfrm>
            <a:off x="3273286" y="379829"/>
            <a:ext cx="6349015" cy="3866396"/>
          </a:xfrm>
          <a:prstGeom prst="rect">
            <a:avLst/>
          </a:prstGeom>
        </p:spPr>
      </p:pic>
    </p:spTree>
    <p:extLst>
      <p:ext uri="{BB962C8B-B14F-4D97-AF65-F5344CB8AC3E}">
        <p14:creationId xmlns:p14="http://schemas.microsoft.com/office/powerpoint/2010/main" val="604085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D03F55-DC0B-478A-88F1-763868DC6FBC}"/>
              </a:ext>
            </a:extLst>
          </p:cNvPr>
          <p:cNvSpPr txBox="1"/>
          <p:nvPr/>
        </p:nvSpPr>
        <p:spPr>
          <a:xfrm>
            <a:off x="889068" y="968718"/>
            <a:ext cx="9447628" cy="1200329"/>
          </a:xfrm>
          <a:prstGeom prst="rect">
            <a:avLst/>
          </a:prstGeom>
          <a:noFill/>
        </p:spPr>
        <p:txBody>
          <a:bodyPr wrap="square">
            <a:spAutoFit/>
          </a:bodyPr>
          <a:lstStyle/>
          <a:p>
            <a:r>
              <a:rPr lang="en-US" dirty="0"/>
              <a:t>Uncertainty cont.</a:t>
            </a:r>
          </a:p>
          <a:p>
            <a:endParaRPr lang="en-US" dirty="0"/>
          </a:p>
          <a:p>
            <a:r>
              <a:rPr lang="en-US" b="1" dirty="0"/>
              <a:t>Probability theory </a:t>
            </a:r>
          </a:p>
          <a:p>
            <a:pPr marL="285750" indent="-285750">
              <a:buFont typeface="Arial" panose="020B0604020202020204" pitchFamily="34" charset="0"/>
              <a:buChar char="•"/>
            </a:pPr>
            <a:r>
              <a:rPr lang="en-US" dirty="0"/>
              <a:t>The main tool for dealing with degrees of belief</a:t>
            </a:r>
          </a:p>
        </p:txBody>
      </p:sp>
      <p:sp>
        <p:nvSpPr>
          <p:cNvPr id="5" name="TextBox 4">
            <a:extLst>
              <a:ext uri="{FF2B5EF4-FFF2-40B4-BE49-F238E27FC236}">
                <a16:creationId xmlns:a16="http://schemas.microsoft.com/office/drawing/2014/main" id="{F8FD22FD-0BA8-4490-8038-7C4ACC1E0A16}"/>
              </a:ext>
            </a:extLst>
          </p:cNvPr>
          <p:cNvSpPr txBox="1"/>
          <p:nvPr/>
        </p:nvSpPr>
        <p:spPr>
          <a:xfrm>
            <a:off x="889068" y="2063523"/>
            <a:ext cx="10706584" cy="646331"/>
          </a:xfrm>
          <a:prstGeom prst="rect">
            <a:avLst/>
          </a:prstGeom>
          <a:noFill/>
        </p:spPr>
        <p:txBody>
          <a:bodyPr wrap="square">
            <a:spAutoFit/>
          </a:bodyPr>
          <a:lstStyle/>
          <a:p>
            <a:pPr marL="285750" indent="-285750">
              <a:buFont typeface="Arial" panose="020B0604020202020204" pitchFamily="34" charset="0"/>
              <a:buChar char="•"/>
            </a:pPr>
            <a:r>
              <a:rPr lang="en-US" dirty="0"/>
              <a:t>Probabilities express the agent’s inability to reach a definite decision regarding the truth of a sentence. </a:t>
            </a:r>
          </a:p>
          <a:p>
            <a:pPr marL="285750" indent="-285750">
              <a:buFont typeface="Arial" panose="020B0604020202020204" pitchFamily="34" charset="0"/>
              <a:buChar char="•"/>
            </a:pPr>
            <a:r>
              <a:rPr lang="en-US" dirty="0"/>
              <a:t>Probabilities summarize the agent’s beliefs relative to the evidence.</a:t>
            </a:r>
          </a:p>
        </p:txBody>
      </p:sp>
      <p:sp>
        <p:nvSpPr>
          <p:cNvPr id="7" name="TextBox 6">
            <a:extLst>
              <a:ext uri="{FF2B5EF4-FFF2-40B4-BE49-F238E27FC236}">
                <a16:creationId xmlns:a16="http://schemas.microsoft.com/office/drawing/2014/main" id="{FC43B5A9-8B89-4F1C-869C-81196EB5F368}"/>
              </a:ext>
            </a:extLst>
          </p:cNvPr>
          <p:cNvSpPr txBox="1"/>
          <p:nvPr/>
        </p:nvSpPr>
        <p:spPr>
          <a:xfrm>
            <a:off x="889068" y="2709854"/>
            <a:ext cx="10413864" cy="923330"/>
          </a:xfrm>
          <a:prstGeom prst="rect">
            <a:avLst/>
          </a:prstGeom>
          <a:noFill/>
        </p:spPr>
        <p:txBody>
          <a:bodyPr wrap="square">
            <a:spAutoFit/>
          </a:bodyPr>
          <a:lstStyle/>
          <a:p>
            <a:r>
              <a:rPr lang="en-US" b="1" dirty="0"/>
              <a:t>Utility theory</a:t>
            </a:r>
          </a:p>
          <a:p>
            <a:pPr marL="285750" indent="-285750">
              <a:buFont typeface="Arial" panose="020B0604020202020204" pitchFamily="34" charset="0"/>
              <a:buChar char="•"/>
            </a:pPr>
            <a:r>
              <a:rPr lang="en-US" dirty="0"/>
              <a:t>Used to represent and reason with preference  </a:t>
            </a:r>
          </a:p>
          <a:p>
            <a:pPr marL="285750" indent="-285750">
              <a:buFont typeface="Arial" panose="020B0604020202020204" pitchFamily="34" charset="0"/>
              <a:buChar char="•"/>
            </a:pPr>
            <a:r>
              <a:rPr lang="en-US" dirty="0"/>
              <a:t>UTILITY used in this context is “the quality of being useful,” / practical</a:t>
            </a:r>
            <a:endParaRPr lang="en-ZA" dirty="0"/>
          </a:p>
        </p:txBody>
      </p:sp>
      <p:sp>
        <p:nvSpPr>
          <p:cNvPr id="9" name="TextBox 8">
            <a:extLst>
              <a:ext uri="{FF2B5EF4-FFF2-40B4-BE49-F238E27FC236}">
                <a16:creationId xmlns:a16="http://schemas.microsoft.com/office/drawing/2014/main" id="{E8DD2F4E-A6BE-4F93-B6B1-0C32CF8715A9}"/>
              </a:ext>
            </a:extLst>
          </p:cNvPr>
          <p:cNvSpPr txBox="1"/>
          <p:nvPr/>
        </p:nvSpPr>
        <p:spPr>
          <a:xfrm>
            <a:off x="889068" y="3633184"/>
            <a:ext cx="11011384" cy="369332"/>
          </a:xfrm>
          <a:prstGeom prst="rect">
            <a:avLst/>
          </a:prstGeom>
          <a:noFill/>
        </p:spPr>
        <p:txBody>
          <a:bodyPr wrap="square">
            <a:spAutoFit/>
          </a:bodyPr>
          <a:lstStyle/>
          <a:p>
            <a:pPr marL="285750" indent="-285750">
              <a:buFont typeface="Arial" panose="020B0604020202020204" pitchFamily="34" charset="0"/>
              <a:buChar char="•"/>
            </a:pPr>
            <a:r>
              <a:rPr lang="en-US" dirty="0"/>
              <a:t>AGENT needs PREFERENCE of which possible outcome it prefers among the various plans.</a:t>
            </a:r>
          </a:p>
        </p:txBody>
      </p:sp>
      <p:sp>
        <p:nvSpPr>
          <p:cNvPr id="11" name="TextBox 10">
            <a:extLst>
              <a:ext uri="{FF2B5EF4-FFF2-40B4-BE49-F238E27FC236}">
                <a16:creationId xmlns:a16="http://schemas.microsoft.com/office/drawing/2014/main" id="{EB07DE1E-8B13-49D0-9697-851C9F2AF3B4}"/>
              </a:ext>
            </a:extLst>
          </p:cNvPr>
          <p:cNvSpPr txBox="1"/>
          <p:nvPr/>
        </p:nvSpPr>
        <p:spPr>
          <a:xfrm>
            <a:off x="889067" y="3978173"/>
            <a:ext cx="10706583" cy="2031325"/>
          </a:xfrm>
          <a:prstGeom prst="rect">
            <a:avLst/>
          </a:prstGeom>
          <a:noFill/>
        </p:spPr>
        <p:txBody>
          <a:bodyPr wrap="square">
            <a:spAutoFit/>
          </a:bodyPr>
          <a:lstStyle/>
          <a:p>
            <a:pPr marL="285750" indent="-285750">
              <a:buFont typeface="Arial" panose="020B0604020202020204" pitchFamily="34" charset="0"/>
              <a:buChar char="•"/>
            </a:pPr>
            <a:r>
              <a:rPr lang="en-US" dirty="0"/>
              <a:t>Every state has a degree of usefulness/ utility to an agent</a:t>
            </a:r>
          </a:p>
          <a:p>
            <a:pPr marL="285750" indent="-285750">
              <a:buFont typeface="Arial" panose="020B0604020202020204" pitchFamily="34" charset="0"/>
              <a:buChar char="•"/>
            </a:pPr>
            <a:r>
              <a:rPr lang="en-US" dirty="0"/>
              <a:t>Agent will prefer states with higher utility</a:t>
            </a:r>
          </a:p>
          <a:p>
            <a:pPr marL="285750" indent="-285750">
              <a:buFont typeface="Arial" panose="020B0604020202020204" pitchFamily="34" charset="0"/>
              <a:buChar char="•"/>
            </a:pPr>
            <a:r>
              <a:rPr lang="en-US" dirty="0"/>
              <a:t>The utility of a state is relative to an agent.</a:t>
            </a:r>
          </a:p>
          <a:p>
            <a:r>
              <a:rPr lang="en-US" b="1" dirty="0"/>
              <a:t>Decision Theory</a:t>
            </a:r>
          </a:p>
          <a:p>
            <a:pPr marL="285750" indent="-285750">
              <a:buFont typeface="Arial" panose="020B0604020202020204" pitchFamily="34" charset="0"/>
              <a:buChar char="•"/>
            </a:pPr>
            <a:r>
              <a:rPr lang="en-US" dirty="0"/>
              <a:t>Preferences, that are expressed by utilities, are combined with probabilities in the general theory of rational decisions </a:t>
            </a:r>
          </a:p>
          <a:p>
            <a:pPr algn="ctr"/>
            <a:r>
              <a:rPr lang="en-US" b="1" dirty="0"/>
              <a:t>Decision theory = probability theory + utility theory</a:t>
            </a:r>
          </a:p>
        </p:txBody>
      </p:sp>
      <p:sp>
        <p:nvSpPr>
          <p:cNvPr id="13" name="TextBox 12">
            <a:extLst>
              <a:ext uri="{FF2B5EF4-FFF2-40B4-BE49-F238E27FC236}">
                <a16:creationId xmlns:a16="http://schemas.microsoft.com/office/drawing/2014/main" id="{C8E6E238-3CF9-40DF-ADA5-FC941A7AE17A}"/>
              </a:ext>
            </a:extLst>
          </p:cNvPr>
          <p:cNvSpPr txBox="1"/>
          <p:nvPr/>
        </p:nvSpPr>
        <p:spPr>
          <a:xfrm>
            <a:off x="889068" y="5891573"/>
            <a:ext cx="11011384" cy="646331"/>
          </a:xfrm>
          <a:prstGeom prst="rect">
            <a:avLst/>
          </a:prstGeom>
          <a:noFill/>
        </p:spPr>
        <p:txBody>
          <a:bodyPr wrap="square">
            <a:spAutoFit/>
          </a:bodyPr>
          <a:lstStyle/>
          <a:p>
            <a:pPr marL="285750" indent="-285750">
              <a:buFont typeface="Arial" panose="020B0604020202020204" pitchFamily="34" charset="0"/>
              <a:buChar char="•"/>
            </a:pPr>
            <a:r>
              <a:rPr lang="en-US" dirty="0"/>
              <a:t>The fundamental idea of decision theory is that an agent is rational if and only if it chooses the action that yields the highest expected utility, averaged over all the possible outcomes of the action</a:t>
            </a:r>
          </a:p>
        </p:txBody>
      </p:sp>
    </p:spTree>
    <p:extLst>
      <p:ext uri="{BB962C8B-B14F-4D97-AF65-F5344CB8AC3E}">
        <p14:creationId xmlns:p14="http://schemas.microsoft.com/office/powerpoint/2010/main" val="1079435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24"/>
          <p:cNvSpPr txBox="1">
            <a:spLocks noGrp="1"/>
          </p:cNvSpPr>
          <p:nvPr>
            <p:ph type="title"/>
          </p:nvPr>
        </p:nvSpPr>
        <p:spPr>
          <a:xfrm>
            <a:off x="902209" y="587092"/>
            <a:ext cx="9562592" cy="1166003"/>
          </a:xfrm>
          <a:prstGeom prst="rect">
            <a:avLst/>
          </a:prstGeom>
        </p:spPr>
        <p:txBody>
          <a:bodyPr vert="horz" wrap="square" lIns="0" tIns="16933" rIns="0" bIns="0" rtlCol="0" anchor="ctr">
            <a:spAutoFit/>
          </a:bodyPr>
          <a:lstStyle/>
          <a:p>
            <a:pPr marL="16933">
              <a:lnSpc>
                <a:spcPct val="100000"/>
              </a:lnSpc>
              <a:spcBef>
                <a:spcPts val="133"/>
              </a:spcBef>
            </a:pPr>
            <a:r>
              <a:rPr lang="en-US" sz="3733" b="1" spc="13" dirty="0">
                <a:solidFill>
                  <a:schemeClr val="tx1"/>
                </a:solidFill>
              </a:rPr>
              <a:t>IMPLICATIONS OF AI</a:t>
            </a:r>
            <a:br>
              <a:rPr lang="en-US" sz="3733" b="1" spc="13" dirty="0">
                <a:solidFill>
                  <a:schemeClr val="tx1"/>
                </a:solidFill>
              </a:rPr>
            </a:br>
            <a:r>
              <a:rPr lang="en-US" sz="3733" b="1" spc="13" dirty="0">
                <a:solidFill>
                  <a:schemeClr val="tx1"/>
                </a:solidFill>
              </a:rPr>
              <a:t>Popular Visions of a Human-A.I. Future</a:t>
            </a:r>
          </a:p>
        </p:txBody>
      </p:sp>
      <p:sp>
        <p:nvSpPr>
          <p:cNvPr id="27" name="object 27"/>
          <p:cNvSpPr txBox="1">
            <a:spLocks noGrp="1"/>
          </p:cNvSpPr>
          <p:nvPr>
            <p:ph sz="half" idx="2"/>
          </p:nvPr>
        </p:nvSpPr>
        <p:spPr>
          <a:xfrm>
            <a:off x="711938" y="2155889"/>
            <a:ext cx="4373033" cy="3459066"/>
          </a:xfrm>
          <a:prstGeom prst="rect">
            <a:avLst/>
          </a:prstGeom>
        </p:spPr>
        <p:txBody>
          <a:bodyPr vert="horz" wrap="square" lIns="0" tIns="16933" rIns="0" bIns="0" rtlCol="0">
            <a:spAutoFit/>
          </a:bodyPr>
          <a:lstStyle/>
          <a:p>
            <a:pPr marL="1422364">
              <a:lnSpc>
                <a:spcPct val="100000"/>
              </a:lnSpc>
              <a:spcBef>
                <a:spcPts val="133"/>
              </a:spcBef>
            </a:pPr>
            <a:r>
              <a:rPr spc="-7" dirty="0"/>
              <a:t>FEARS</a:t>
            </a:r>
            <a:endParaRPr lang="en-US" spc="-7" dirty="0"/>
          </a:p>
          <a:p>
            <a:pPr marL="303098" indent="-286165">
              <a:lnSpc>
                <a:spcPct val="100000"/>
              </a:lnSpc>
              <a:buFont typeface="Arial"/>
              <a:buChar char="•"/>
              <a:tabLst>
                <a:tab pos="303946" algn="l"/>
              </a:tabLst>
            </a:pPr>
            <a:r>
              <a:rPr b="0" spc="-7" dirty="0"/>
              <a:t>Superintelligence</a:t>
            </a:r>
          </a:p>
          <a:p>
            <a:pPr marL="303098" indent="-286165">
              <a:lnSpc>
                <a:spcPct val="100000"/>
              </a:lnSpc>
              <a:spcBef>
                <a:spcPts val="660"/>
              </a:spcBef>
              <a:buFont typeface="Arial"/>
              <a:buChar char="•"/>
              <a:tabLst>
                <a:tab pos="303946" algn="l"/>
              </a:tabLst>
            </a:pPr>
            <a:r>
              <a:rPr b="0" spc="-7" dirty="0"/>
              <a:t>Robot</a:t>
            </a:r>
            <a:r>
              <a:rPr b="0" spc="13" dirty="0"/>
              <a:t> </a:t>
            </a:r>
            <a:r>
              <a:rPr b="0" dirty="0">
                <a:latin typeface="Century Gothic"/>
                <a:cs typeface="Century Gothic"/>
              </a:rPr>
              <a:t>Overlords</a:t>
            </a:r>
          </a:p>
          <a:p>
            <a:pPr marL="303098" indent="-286165">
              <a:lnSpc>
                <a:spcPct val="100000"/>
              </a:lnSpc>
              <a:spcBef>
                <a:spcPts val="673"/>
              </a:spcBef>
              <a:buFont typeface="Arial"/>
              <a:buChar char="•"/>
              <a:tabLst>
                <a:tab pos="303946" algn="l"/>
              </a:tabLst>
            </a:pPr>
            <a:r>
              <a:rPr b="0" spc="-7" dirty="0"/>
              <a:t>Skynet</a:t>
            </a:r>
            <a:r>
              <a:rPr b="0" spc="-13" dirty="0"/>
              <a:t> </a:t>
            </a:r>
            <a:r>
              <a:rPr b="0" spc="-7" dirty="0"/>
              <a:t>Scenarios</a:t>
            </a:r>
          </a:p>
          <a:p>
            <a:pPr marL="303098" indent="-286165">
              <a:lnSpc>
                <a:spcPct val="100000"/>
              </a:lnSpc>
              <a:spcBef>
                <a:spcPts val="673"/>
              </a:spcBef>
              <a:buFont typeface="Arial"/>
              <a:buChar char="•"/>
              <a:tabLst>
                <a:tab pos="303946" algn="l"/>
              </a:tabLst>
            </a:pPr>
            <a:r>
              <a:rPr b="0" dirty="0">
                <a:latin typeface="Century Gothic"/>
                <a:cs typeface="Century Gothic"/>
              </a:rPr>
              <a:t>A </a:t>
            </a:r>
            <a:r>
              <a:rPr b="0" spc="-7" dirty="0"/>
              <a:t>Jobless </a:t>
            </a:r>
            <a:r>
              <a:rPr b="0" dirty="0">
                <a:latin typeface="Century Gothic"/>
                <a:cs typeface="Century Gothic"/>
              </a:rPr>
              <a:t>Future</a:t>
            </a:r>
          </a:p>
          <a:p>
            <a:pPr marL="303098" indent="-286165">
              <a:lnSpc>
                <a:spcPct val="100000"/>
              </a:lnSpc>
              <a:spcBef>
                <a:spcPts val="660"/>
              </a:spcBef>
              <a:buFont typeface="Arial"/>
              <a:buChar char="•"/>
              <a:tabLst>
                <a:tab pos="303946" algn="l"/>
              </a:tabLst>
            </a:pPr>
            <a:r>
              <a:rPr b="0" spc="-7" dirty="0"/>
              <a:t>The </a:t>
            </a:r>
            <a:r>
              <a:rPr b="0" spc="-13" dirty="0"/>
              <a:t>WALL-E</a:t>
            </a:r>
            <a:r>
              <a:rPr b="0" spc="-27" dirty="0"/>
              <a:t> </a:t>
            </a:r>
            <a:r>
              <a:rPr b="0" dirty="0">
                <a:latin typeface="Century Gothic"/>
                <a:cs typeface="Century Gothic"/>
              </a:rPr>
              <a:t>Dystopi</a:t>
            </a:r>
            <a:r>
              <a:rPr b="0" dirty="0">
                <a:solidFill>
                  <a:srgbClr val="FFFFFF"/>
                </a:solidFill>
                <a:latin typeface="Century Gothic"/>
                <a:cs typeface="Century Gothic"/>
              </a:rPr>
              <a:t>a</a:t>
            </a:r>
          </a:p>
        </p:txBody>
      </p:sp>
      <p:sp>
        <p:nvSpPr>
          <p:cNvPr id="28" name="object 28"/>
          <p:cNvSpPr txBox="1"/>
          <p:nvPr/>
        </p:nvSpPr>
        <p:spPr>
          <a:xfrm>
            <a:off x="6096000" y="2194361"/>
            <a:ext cx="5107939" cy="3382122"/>
          </a:xfrm>
          <a:prstGeom prst="rect">
            <a:avLst/>
          </a:prstGeom>
        </p:spPr>
        <p:txBody>
          <a:bodyPr vert="horz" wrap="square" lIns="0" tIns="16933" rIns="0" bIns="0" rtlCol="0">
            <a:spAutoFit/>
          </a:bodyPr>
          <a:lstStyle/>
          <a:p>
            <a:pPr marL="125304" algn="ctr">
              <a:spcBef>
                <a:spcPts val="133"/>
              </a:spcBef>
            </a:pPr>
            <a:r>
              <a:rPr sz="3200" b="1" spc="-7" dirty="0">
                <a:latin typeface="Century Gothic"/>
                <a:cs typeface="Century Gothic"/>
              </a:rPr>
              <a:t>HOPES</a:t>
            </a:r>
            <a:endParaRPr sz="4267" dirty="0">
              <a:latin typeface="Times New Roman"/>
              <a:cs typeface="Times New Roman"/>
            </a:endParaRPr>
          </a:p>
          <a:p>
            <a:pPr marL="474121" indent="-457189">
              <a:spcBef>
                <a:spcPts val="7"/>
              </a:spcBef>
              <a:buFont typeface="Arial"/>
              <a:buChar char="•"/>
              <a:tabLst>
                <a:tab pos="473275" algn="l"/>
                <a:tab pos="474121" algn="l"/>
              </a:tabLst>
            </a:pPr>
            <a:r>
              <a:rPr sz="3200" spc="-7" dirty="0">
                <a:latin typeface="Century Gothic"/>
                <a:cs typeface="Century Gothic"/>
              </a:rPr>
              <a:t>Humanity</a:t>
            </a:r>
            <a:r>
              <a:rPr sz="3200" spc="-60" dirty="0">
                <a:latin typeface="Century Gothic"/>
                <a:cs typeface="Century Gothic"/>
              </a:rPr>
              <a:t> </a:t>
            </a:r>
            <a:r>
              <a:rPr sz="3200" dirty="0">
                <a:latin typeface="Century Gothic"/>
                <a:cs typeface="Century Gothic"/>
              </a:rPr>
              <a:t>Amplified</a:t>
            </a:r>
          </a:p>
          <a:p>
            <a:pPr marL="474121" indent="-457189">
              <a:spcBef>
                <a:spcPts val="767"/>
              </a:spcBef>
              <a:buFont typeface="Arial"/>
              <a:buChar char="•"/>
              <a:tabLst>
                <a:tab pos="473275" algn="l"/>
                <a:tab pos="474121" algn="l"/>
              </a:tabLst>
            </a:pPr>
            <a:r>
              <a:rPr sz="3200" dirty="0">
                <a:latin typeface="Century Gothic"/>
                <a:cs typeface="Century Gothic"/>
              </a:rPr>
              <a:t>Humanity</a:t>
            </a:r>
            <a:r>
              <a:rPr sz="3200" spc="-67" dirty="0">
                <a:latin typeface="Century Gothic"/>
                <a:cs typeface="Century Gothic"/>
              </a:rPr>
              <a:t> </a:t>
            </a:r>
            <a:r>
              <a:rPr sz="3200" spc="-7" dirty="0">
                <a:latin typeface="Century Gothic"/>
                <a:cs typeface="Century Gothic"/>
              </a:rPr>
              <a:t>Unbound</a:t>
            </a:r>
            <a:endParaRPr sz="3200" dirty="0">
              <a:latin typeface="Century Gothic"/>
              <a:cs typeface="Century Gothic"/>
            </a:endParaRPr>
          </a:p>
          <a:p>
            <a:pPr marL="474121" indent="-457189">
              <a:spcBef>
                <a:spcPts val="767"/>
              </a:spcBef>
              <a:buFont typeface="Arial"/>
              <a:buChar char="•"/>
              <a:tabLst>
                <a:tab pos="473275" algn="l"/>
                <a:tab pos="474121" algn="l"/>
              </a:tabLst>
            </a:pPr>
            <a:r>
              <a:rPr sz="3200" spc="-7" dirty="0">
                <a:latin typeface="Century Gothic"/>
                <a:cs typeface="Century Gothic"/>
              </a:rPr>
              <a:t>AI-Human</a:t>
            </a:r>
            <a:r>
              <a:rPr sz="3200" spc="-20" dirty="0">
                <a:latin typeface="Century Gothic"/>
                <a:cs typeface="Century Gothic"/>
              </a:rPr>
              <a:t> </a:t>
            </a:r>
            <a:r>
              <a:rPr sz="3200" spc="-7" dirty="0">
                <a:latin typeface="Century Gothic"/>
                <a:cs typeface="Century Gothic"/>
              </a:rPr>
              <a:t>Partnerships</a:t>
            </a:r>
            <a:endParaRPr sz="3200" dirty="0">
              <a:latin typeface="Century Gothic"/>
              <a:cs typeface="Century Gothic"/>
            </a:endParaRPr>
          </a:p>
          <a:p>
            <a:pPr marL="474121" indent="-457189">
              <a:spcBef>
                <a:spcPts val="773"/>
              </a:spcBef>
              <a:buFont typeface="Arial"/>
              <a:buChar char="•"/>
              <a:tabLst>
                <a:tab pos="473275" algn="l"/>
                <a:tab pos="474121" algn="l"/>
              </a:tabLst>
            </a:pPr>
            <a:r>
              <a:rPr sz="3200" spc="-7" dirty="0">
                <a:latin typeface="Century Gothic"/>
                <a:cs typeface="Century Gothic"/>
              </a:rPr>
              <a:t>The </a:t>
            </a:r>
            <a:r>
              <a:rPr sz="3200" dirty="0">
                <a:latin typeface="Century Gothic"/>
                <a:cs typeface="Century Gothic"/>
              </a:rPr>
              <a:t>Recovery of</a:t>
            </a:r>
            <a:r>
              <a:rPr sz="3200" spc="-93" dirty="0">
                <a:latin typeface="Century Gothic"/>
                <a:cs typeface="Century Gothic"/>
              </a:rPr>
              <a:t> </a:t>
            </a:r>
            <a:r>
              <a:rPr sz="3200" dirty="0">
                <a:latin typeface="Century Gothic"/>
                <a:cs typeface="Century Gothic"/>
              </a:rPr>
              <a:t>Leisure</a:t>
            </a:r>
          </a:p>
          <a:p>
            <a:pPr marL="474121" indent="-457189">
              <a:spcBef>
                <a:spcPts val="767"/>
              </a:spcBef>
              <a:buFont typeface="Arial"/>
              <a:buChar char="•"/>
              <a:tabLst>
                <a:tab pos="473275" algn="l"/>
                <a:tab pos="474121" algn="l"/>
              </a:tabLst>
            </a:pPr>
            <a:r>
              <a:rPr sz="3200" dirty="0">
                <a:latin typeface="Century Gothic"/>
                <a:cs typeface="Century Gothic"/>
              </a:rPr>
              <a:t>New </a:t>
            </a:r>
            <a:r>
              <a:rPr sz="3200" spc="-7" dirty="0">
                <a:latin typeface="Century Gothic"/>
                <a:cs typeface="Century Gothic"/>
              </a:rPr>
              <a:t>‘Age </a:t>
            </a:r>
            <a:r>
              <a:rPr sz="3200" dirty="0">
                <a:latin typeface="Century Gothic"/>
                <a:cs typeface="Century Gothic"/>
              </a:rPr>
              <a:t>of</a:t>
            </a:r>
            <a:r>
              <a:rPr sz="3200" spc="-73" dirty="0">
                <a:latin typeface="Century Gothic"/>
                <a:cs typeface="Century Gothic"/>
              </a:rPr>
              <a:t> </a:t>
            </a:r>
            <a:r>
              <a:rPr sz="3200" dirty="0">
                <a:latin typeface="Century Gothic"/>
                <a:cs typeface="Century Gothic"/>
              </a:rPr>
              <a:t>Reason’</a:t>
            </a:r>
          </a:p>
        </p:txBody>
      </p:sp>
      <p:sp>
        <p:nvSpPr>
          <p:cNvPr id="29" name="object 29"/>
          <p:cNvSpPr/>
          <p:nvPr/>
        </p:nvSpPr>
        <p:spPr>
          <a:xfrm>
            <a:off x="0" y="5878576"/>
            <a:ext cx="1804416" cy="979421"/>
          </a:xfrm>
          <a:prstGeom prst="rect">
            <a:avLst/>
          </a:prstGeom>
          <a:blipFill>
            <a:blip r:embed="rId2" cstate="print"/>
            <a:stretch>
              <a:fillRect/>
            </a:stretch>
          </a:blipFill>
        </p:spPr>
        <p:txBody>
          <a:bodyPr wrap="square" lIns="0" tIns="0" rIns="0" bIns="0" rtlCol="0"/>
          <a:lstStyle/>
          <a:p>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63F9-6A12-40A7-A697-BEDCE6666176}"/>
              </a:ext>
            </a:extLst>
          </p:cNvPr>
          <p:cNvSpPr>
            <a:spLocks noGrp="1"/>
          </p:cNvSpPr>
          <p:nvPr>
            <p:ph type="title"/>
          </p:nvPr>
        </p:nvSpPr>
        <p:spPr/>
        <p:txBody>
          <a:bodyPr/>
          <a:lstStyle/>
          <a:p>
            <a:r>
              <a:rPr lang="en-ZA" dirty="0"/>
              <a:t>General Social issues with AI:</a:t>
            </a:r>
          </a:p>
        </p:txBody>
      </p:sp>
      <p:sp>
        <p:nvSpPr>
          <p:cNvPr id="3" name="Content Placeholder 2">
            <a:extLst>
              <a:ext uri="{FF2B5EF4-FFF2-40B4-BE49-F238E27FC236}">
                <a16:creationId xmlns:a16="http://schemas.microsoft.com/office/drawing/2014/main" id="{E054FA6B-06AE-4232-973C-B67DDF426197}"/>
              </a:ext>
            </a:extLst>
          </p:cNvPr>
          <p:cNvSpPr>
            <a:spLocks noGrp="1"/>
          </p:cNvSpPr>
          <p:nvPr>
            <p:ph idx="1"/>
          </p:nvPr>
        </p:nvSpPr>
        <p:spPr>
          <a:xfrm>
            <a:off x="838200" y="1829904"/>
            <a:ext cx="10638183" cy="3908287"/>
          </a:xfrm>
        </p:spPr>
        <p:txBody>
          <a:bodyPr>
            <a:normAutofit/>
          </a:bodyPr>
          <a:lstStyle/>
          <a:p>
            <a:r>
              <a:rPr lang="en-ZA" sz="3200" b="1" dirty="0"/>
              <a:t>Loss of control</a:t>
            </a:r>
            <a:endParaRPr lang="en-ZA" sz="3200" dirty="0">
              <a:solidFill>
                <a:srgbClr val="FFFF00"/>
              </a:solidFill>
            </a:endParaRPr>
          </a:p>
          <a:p>
            <a:r>
              <a:rPr lang="en-ZA" sz="3200" b="1" dirty="0"/>
              <a:t>Threat to:</a:t>
            </a:r>
          </a:p>
          <a:p>
            <a:pPr lvl="1">
              <a:buFont typeface="Courier New" panose="02070309020205020404" pitchFamily="49" charset="0"/>
              <a:buChar char="o"/>
            </a:pPr>
            <a:r>
              <a:rPr lang="en-ZA" dirty="0"/>
              <a:t>Safety and security</a:t>
            </a:r>
            <a:endParaRPr lang="en-ZA" dirty="0">
              <a:solidFill>
                <a:srgbClr val="FFFF00"/>
              </a:solidFill>
            </a:endParaRPr>
          </a:p>
          <a:p>
            <a:pPr lvl="1">
              <a:buFont typeface="Courier New" panose="02070309020205020404" pitchFamily="49" charset="0"/>
              <a:buChar char="o"/>
            </a:pPr>
            <a:r>
              <a:rPr lang="en-ZA" dirty="0"/>
              <a:t>Privacy</a:t>
            </a:r>
          </a:p>
          <a:p>
            <a:pPr lvl="1">
              <a:buFont typeface="Courier New" panose="02070309020205020404" pitchFamily="49" charset="0"/>
              <a:buChar char="o"/>
            </a:pPr>
            <a:r>
              <a:rPr lang="en-ZA" dirty="0"/>
              <a:t>Human Dignity</a:t>
            </a:r>
            <a:endParaRPr lang="en-ZA" dirty="0">
              <a:solidFill>
                <a:srgbClr val="FFFF00"/>
              </a:solidFill>
            </a:endParaRPr>
          </a:p>
          <a:p>
            <a:r>
              <a:rPr lang="en-ZA" sz="3200" b="1" dirty="0"/>
              <a:t>Bias and inequality </a:t>
            </a:r>
          </a:p>
          <a:p>
            <a:r>
              <a:rPr lang="en-ZA" sz="3200" b="1" dirty="0"/>
              <a:t>Responsibility, accountability and explain ability</a:t>
            </a:r>
            <a:endParaRPr lang="en-ZA" sz="3200" dirty="0">
              <a:solidFill>
                <a:srgbClr val="FFFF00"/>
              </a:solidFill>
            </a:endParaRPr>
          </a:p>
          <a:p>
            <a:endParaRPr lang="en-ZA" dirty="0"/>
          </a:p>
        </p:txBody>
      </p:sp>
    </p:spTree>
    <p:extLst>
      <p:ext uri="{BB962C8B-B14F-4D97-AF65-F5344CB8AC3E}">
        <p14:creationId xmlns:p14="http://schemas.microsoft.com/office/powerpoint/2010/main" val="1793368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9A2-E589-4C6B-8D36-EF605763DD4F}"/>
              </a:ext>
            </a:extLst>
          </p:cNvPr>
          <p:cNvSpPr>
            <a:spLocks noGrp="1"/>
          </p:cNvSpPr>
          <p:nvPr>
            <p:ph type="title"/>
          </p:nvPr>
        </p:nvSpPr>
        <p:spPr/>
        <p:txBody>
          <a:bodyPr/>
          <a:lstStyle/>
          <a:p>
            <a:r>
              <a:rPr lang="en-ZA" dirty="0"/>
              <a:t>Journey towards responsible AI</a:t>
            </a:r>
          </a:p>
        </p:txBody>
      </p:sp>
      <p:sp>
        <p:nvSpPr>
          <p:cNvPr id="3" name="Content Placeholder 2">
            <a:extLst>
              <a:ext uri="{FF2B5EF4-FFF2-40B4-BE49-F238E27FC236}">
                <a16:creationId xmlns:a16="http://schemas.microsoft.com/office/drawing/2014/main" id="{825D57D4-67D9-4B95-9AEB-C4EE50765AC7}"/>
              </a:ext>
            </a:extLst>
          </p:cNvPr>
          <p:cNvSpPr>
            <a:spLocks noGrp="1"/>
          </p:cNvSpPr>
          <p:nvPr>
            <p:ph idx="1"/>
          </p:nvPr>
        </p:nvSpPr>
        <p:spPr/>
        <p:txBody>
          <a:bodyPr>
            <a:normAutofit/>
          </a:bodyPr>
          <a:lstStyle/>
          <a:p>
            <a:pPr algn="l">
              <a:lnSpc>
                <a:spcPct val="100000"/>
              </a:lnSpc>
            </a:pPr>
            <a:r>
              <a:rPr lang="en-US" b="1" i="0" dirty="0">
                <a:effectLst/>
                <a:latin typeface="Century Gothic" panose="020B0502020202020204" pitchFamily="34" charset="0"/>
              </a:rPr>
              <a:t>Create a space that allows people to voice their questions and concerns</a:t>
            </a:r>
          </a:p>
          <a:p>
            <a:pPr algn="l">
              <a:lnSpc>
                <a:spcPct val="100000"/>
              </a:lnSpc>
            </a:pPr>
            <a:r>
              <a:rPr lang="en-US" b="1" i="0" dirty="0">
                <a:effectLst/>
                <a:latin typeface="Century Gothic" panose="020B0502020202020204" pitchFamily="34" charset="0"/>
              </a:rPr>
              <a:t>Know what to look for, or at least where to start</a:t>
            </a:r>
          </a:p>
          <a:p>
            <a:pPr algn="l">
              <a:lnSpc>
                <a:spcPct val="100000"/>
              </a:lnSpc>
            </a:pPr>
            <a:r>
              <a:rPr lang="en-US" b="1" dirty="0">
                <a:latin typeface="Century Gothic" panose="020B0502020202020204" pitchFamily="34" charset="0"/>
              </a:rPr>
              <a:t>Diversify team - Meet people where they are, not where you want them to be</a:t>
            </a:r>
            <a:endParaRPr lang="en-US" b="1" i="0" dirty="0">
              <a:effectLst/>
              <a:latin typeface="Century Gothic" panose="020B0502020202020204" pitchFamily="34" charset="0"/>
            </a:endParaRPr>
          </a:p>
          <a:p>
            <a:pPr>
              <a:lnSpc>
                <a:spcPct val="100000"/>
              </a:lnSpc>
              <a:spcAft>
                <a:spcPts val="1067"/>
              </a:spcAft>
            </a:pPr>
            <a:r>
              <a:rPr lang="en-ZA" sz="2400" b="1" dirty="0">
                <a:latin typeface="Century Gothic" panose="020B0502020202020204" pitchFamily="34" charset="0"/>
                <a:ea typeface="Calibri" panose="020F0502020204030204" pitchFamily="34" charset="0"/>
                <a:cs typeface="Times New Roman" panose="02020603050405020304" pitchFamily="18" charset="0"/>
              </a:rPr>
              <a:t>Have the courage to adapt as you learn</a:t>
            </a:r>
          </a:p>
          <a:p>
            <a:pPr>
              <a:lnSpc>
                <a:spcPct val="100000"/>
              </a:lnSpc>
              <a:spcAft>
                <a:spcPts val="1067"/>
              </a:spcAft>
            </a:pPr>
            <a:r>
              <a:rPr lang="en-ZA" sz="2400" b="1" dirty="0">
                <a:latin typeface="Century Gothic" panose="020B0502020202020204" pitchFamily="34" charset="0"/>
                <a:ea typeface="Calibri" panose="020F0502020204030204" pitchFamily="34" charset="0"/>
                <a:cs typeface="Times New Roman" panose="02020603050405020304" pitchFamily="18" charset="0"/>
              </a:rPr>
              <a:t>Responsible AI is everyone’s responsibility</a:t>
            </a:r>
            <a:endParaRPr lang="en-ZA" sz="2400" dirty="0">
              <a:latin typeface="Century Gothic" panose="020B0502020202020204" pitchFamily="34" charset="0"/>
              <a:ea typeface="Calibri" panose="020F0502020204030204" pitchFamily="34" charset="0"/>
              <a:cs typeface="Times New Roman" panose="02020603050405020304" pitchFamily="18" charset="0"/>
            </a:endParaRPr>
          </a:p>
          <a:p>
            <a:pPr>
              <a:lnSpc>
                <a:spcPct val="107000"/>
              </a:lnSpc>
              <a:spcAft>
                <a:spcPts val="1067"/>
              </a:spcAft>
            </a:pPr>
            <a:endParaRPr lang="en-ZA" sz="2400" dirty="0">
              <a:latin typeface="Calibri" panose="020F0502020204030204" pitchFamily="34" charset="0"/>
              <a:ea typeface="Calibri" panose="020F0502020204030204" pitchFamily="34" charset="0"/>
              <a:cs typeface="Times New Roman" panose="02020603050405020304" pitchFamily="18" charset="0"/>
            </a:endParaRPr>
          </a:p>
          <a:p>
            <a:pPr algn="l"/>
            <a:endParaRPr lang="en-US" b="1" i="0" dirty="0">
              <a:effectLst/>
              <a:latin typeface="Roboto" panose="02000000000000000000" pitchFamily="2" charset="0"/>
            </a:endParaRPr>
          </a:p>
          <a:p>
            <a:endParaRPr lang="en-ZA" dirty="0"/>
          </a:p>
        </p:txBody>
      </p:sp>
    </p:spTree>
    <p:extLst>
      <p:ext uri="{BB962C8B-B14F-4D97-AF65-F5344CB8AC3E}">
        <p14:creationId xmlns:p14="http://schemas.microsoft.com/office/powerpoint/2010/main" val="544686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4D53-6D69-4D38-A35B-F92790B0E0A6}"/>
              </a:ext>
            </a:extLst>
          </p:cNvPr>
          <p:cNvSpPr>
            <a:spLocks noGrp="1"/>
          </p:cNvSpPr>
          <p:nvPr>
            <p:ph type="title"/>
          </p:nvPr>
        </p:nvSpPr>
        <p:spPr>
          <a:xfrm>
            <a:off x="680322" y="950844"/>
            <a:ext cx="9613861" cy="1117601"/>
          </a:xfrm>
        </p:spPr>
        <p:txBody>
          <a:bodyPr>
            <a:normAutofit/>
          </a:bodyPr>
          <a:lstStyle/>
          <a:p>
            <a:r>
              <a:rPr lang="en-US" sz="3200" b="1" dirty="0"/>
              <a:t>Practices that can help navigate moral dilemmas created by autonomous and intelligent systems:</a:t>
            </a:r>
            <a:endParaRPr lang="en-ZA" sz="3200" b="1" dirty="0"/>
          </a:p>
        </p:txBody>
      </p:sp>
      <p:sp>
        <p:nvSpPr>
          <p:cNvPr id="3" name="Content Placeholder 2">
            <a:extLst>
              <a:ext uri="{FF2B5EF4-FFF2-40B4-BE49-F238E27FC236}">
                <a16:creationId xmlns:a16="http://schemas.microsoft.com/office/drawing/2014/main" id="{69958EA5-7C3C-4005-9102-566E4961CAAC}"/>
              </a:ext>
            </a:extLst>
          </p:cNvPr>
          <p:cNvSpPr>
            <a:spLocks noGrp="1"/>
          </p:cNvSpPr>
          <p:nvPr>
            <p:ph idx="1"/>
          </p:nvPr>
        </p:nvSpPr>
        <p:spPr>
          <a:xfrm>
            <a:off x="680322" y="2580999"/>
            <a:ext cx="10515600" cy="2924174"/>
          </a:xfrm>
        </p:spPr>
        <p:txBody>
          <a:bodyPr>
            <a:normAutofit/>
          </a:bodyPr>
          <a:lstStyle/>
          <a:p>
            <a:r>
              <a:rPr lang="en-ZA" b="1" dirty="0">
                <a:latin typeface="Calibri" panose="020F0502020204030204" pitchFamily="34" charset="0"/>
                <a:ea typeface="Calibri" panose="020F0502020204030204" pitchFamily="34" charset="0"/>
                <a:cs typeface="Times New Roman" panose="02020603050405020304" pitchFamily="18" charset="0"/>
              </a:rPr>
              <a:t>Introducing ethical AI principles</a:t>
            </a:r>
          </a:p>
          <a:p>
            <a:pPr lvl="1">
              <a:buFont typeface="Courier New" panose="02070309020205020404" pitchFamily="49" charset="0"/>
              <a:buChar char="o"/>
            </a:pPr>
            <a:r>
              <a:rPr lang="en-ZA" sz="2800" dirty="0">
                <a:latin typeface="Calibri" panose="020F0502020204030204" pitchFamily="34" charset="0"/>
                <a:ea typeface="Calibri" panose="020F0502020204030204" pitchFamily="34" charset="0"/>
                <a:cs typeface="Times New Roman" panose="02020603050405020304" pitchFamily="18" charset="0"/>
              </a:rPr>
              <a:t>Epistemic principles </a:t>
            </a:r>
          </a:p>
          <a:p>
            <a:pPr lvl="1">
              <a:buFont typeface="Courier New" panose="02070309020205020404" pitchFamily="49" charset="0"/>
              <a:buChar char="o"/>
            </a:pPr>
            <a:r>
              <a:rPr lang="en-ZA" sz="2800" dirty="0">
                <a:latin typeface="Calibri" panose="020F0502020204030204" pitchFamily="34" charset="0"/>
                <a:ea typeface="Calibri" panose="020F0502020204030204" pitchFamily="34" charset="0"/>
                <a:cs typeface="Times New Roman" panose="02020603050405020304" pitchFamily="18" charset="0"/>
              </a:rPr>
              <a:t>General ethical AI principles</a:t>
            </a:r>
          </a:p>
          <a:p>
            <a:r>
              <a:rPr lang="en-ZA" b="1" dirty="0">
                <a:latin typeface="Calibri" panose="020F0502020204030204" pitchFamily="34" charset="0"/>
                <a:ea typeface="Calibri" panose="020F0502020204030204" pitchFamily="34" charset="0"/>
                <a:cs typeface="Times New Roman" panose="02020603050405020304" pitchFamily="18" charset="0"/>
              </a:rPr>
              <a:t>Contextualizing ethical AI principles</a:t>
            </a:r>
          </a:p>
          <a:p>
            <a:r>
              <a:rPr lang="en-US" b="1" dirty="0">
                <a:latin typeface="Calibri" panose="020F0502020204030204" pitchFamily="34" charset="0"/>
                <a:cs typeface="Calibri" panose="020F0502020204030204" pitchFamily="34" charset="0"/>
              </a:rPr>
              <a:t>Linking ethical AI principles to human rights and organizational values</a:t>
            </a:r>
            <a:endParaRPr lang="en-ZA"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6744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4346</Words>
  <Application>Microsoft Office PowerPoint</Application>
  <PresentationFormat>Widescreen</PresentationFormat>
  <Paragraphs>382</Paragraphs>
  <Slides>46</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Calibri Light</vt:lpstr>
      <vt:lpstr>Century Gothic</vt:lpstr>
      <vt:lpstr>Courier New</vt:lpstr>
      <vt:lpstr>Roboto</vt:lpstr>
      <vt:lpstr>Symbol</vt:lpstr>
      <vt:lpstr>Times New Roman</vt:lpstr>
      <vt:lpstr>Wingdings</vt:lpstr>
      <vt:lpstr>Office Theme</vt:lpstr>
      <vt:lpstr>REVISION</vt:lpstr>
      <vt:lpstr>What is Artificial Intelligence?</vt:lpstr>
      <vt:lpstr>Goal of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Machine Learning</vt:lpstr>
      <vt:lpstr>Supervised Learning</vt:lpstr>
      <vt:lpstr>Unsupervised learning</vt:lpstr>
      <vt:lpstr>Unsupervised learning cont.</vt:lpstr>
      <vt:lpstr>Reinforcement Learning</vt:lpstr>
      <vt:lpstr>PowerPoint Presentation</vt:lpstr>
      <vt:lpstr>End of Previous slides</vt:lpstr>
      <vt:lpstr>What is an expert system?</vt:lpstr>
      <vt:lpstr>PowerPoint Presentation</vt:lpstr>
      <vt:lpstr>Uncertainty</vt:lpstr>
      <vt:lpstr>Bayesian Network</vt:lpstr>
      <vt:lpstr>PowerPoint Presentation</vt:lpstr>
      <vt:lpstr>PowerPoint Presentation</vt:lpstr>
      <vt:lpstr>IMPLICATIONS OF AI Popular Visions of a Human-A.I. Future</vt:lpstr>
      <vt:lpstr>General Social issues with AI:</vt:lpstr>
      <vt:lpstr>Journey towards responsible AI</vt:lpstr>
      <vt:lpstr>Practices that can help navigate moral dilemmas created by autonomous and intelligent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Madaniyah Mohamed</dc:creator>
  <cp:lastModifiedBy>Madaniyah Mohamed</cp:lastModifiedBy>
  <cp:revision>33</cp:revision>
  <dcterms:created xsi:type="dcterms:W3CDTF">2021-09-01T21:20:30Z</dcterms:created>
  <dcterms:modified xsi:type="dcterms:W3CDTF">2021-09-28T07:23:41Z</dcterms:modified>
</cp:coreProperties>
</file>