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69"/>
  </p:notesMasterIdLst>
  <p:sldIdLst>
    <p:sldId id="309" r:id="rId2"/>
    <p:sldId id="311" r:id="rId3"/>
    <p:sldId id="312" r:id="rId4"/>
    <p:sldId id="313" r:id="rId5"/>
    <p:sldId id="316" r:id="rId6"/>
    <p:sldId id="317" r:id="rId7"/>
    <p:sldId id="318" r:id="rId8"/>
    <p:sldId id="319" r:id="rId9"/>
    <p:sldId id="320" r:id="rId10"/>
    <p:sldId id="328" r:id="rId11"/>
    <p:sldId id="321" r:id="rId12"/>
    <p:sldId id="325" r:id="rId13"/>
    <p:sldId id="322" r:id="rId14"/>
    <p:sldId id="324" r:id="rId15"/>
    <p:sldId id="323" r:id="rId16"/>
    <p:sldId id="326" r:id="rId17"/>
    <p:sldId id="327" r:id="rId18"/>
    <p:sldId id="310" r:id="rId19"/>
    <p:sldId id="259" r:id="rId20"/>
    <p:sldId id="260" r:id="rId21"/>
    <p:sldId id="265" r:id="rId22"/>
    <p:sldId id="266" r:id="rId23"/>
    <p:sldId id="267" r:id="rId24"/>
    <p:sldId id="268" r:id="rId25"/>
    <p:sldId id="269" r:id="rId26"/>
    <p:sldId id="270" r:id="rId27"/>
    <p:sldId id="329" r:id="rId28"/>
    <p:sldId id="330" r:id="rId29"/>
    <p:sldId id="331" r:id="rId30"/>
    <p:sldId id="332" r:id="rId31"/>
    <p:sldId id="333" r:id="rId32"/>
    <p:sldId id="334" r:id="rId33"/>
    <p:sldId id="271" r:id="rId34"/>
    <p:sldId id="272" r:id="rId35"/>
    <p:sldId id="273" r:id="rId36"/>
    <p:sldId id="274" r:id="rId37"/>
    <p:sldId id="275" r:id="rId38"/>
    <p:sldId id="276" r:id="rId39"/>
    <p:sldId id="278" r:id="rId40"/>
    <p:sldId id="277" r:id="rId41"/>
    <p:sldId id="279" r:id="rId42"/>
    <p:sldId id="281" r:id="rId43"/>
    <p:sldId id="283" r:id="rId44"/>
    <p:sldId id="284" r:id="rId45"/>
    <p:sldId id="285" r:id="rId46"/>
    <p:sldId id="286" r:id="rId47"/>
    <p:sldId id="288" r:id="rId48"/>
    <p:sldId id="289" r:id="rId49"/>
    <p:sldId id="287" r:id="rId50"/>
    <p:sldId id="290" r:id="rId51"/>
    <p:sldId id="291" r:id="rId52"/>
    <p:sldId id="292" r:id="rId53"/>
    <p:sldId id="293" r:id="rId54"/>
    <p:sldId id="295" r:id="rId55"/>
    <p:sldId id="296" r:id="rId56"/>
    <p:sldId id="297" r:id="rId57"/>
    <p:sldId id="294" r:id="rId58"/>
    <p:sldId id="298" r:id="rId59"/>
    <p:sldId id="299" r:id="rId60"/>
    <p:sldId id="300" r:id="rId61"/>
    <p:sldId id="301" r:id="rId62"/>
    <p:sldId id="302" r:id="rId63"/>
    <p:sldId id="303" r:id="rId64"/>
    <p:sldId id="304" r:id="rId65"/>
    <p:sldId id="305" r:id="rId66"/>
    <p:sldId id="306" r:id="rId67"/>
    <p:sldId id="307" r:id="rId6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0F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9" autoAdjust="0"/>
    <p:restoredTop sz="57002" autoAdjust="0"/>
  </p:normalViewPr>
  <p:slideViewPr>
    <p:cSldViewPr>
      <p:cViewPr varScale="1">
        <p:scale>
          <a:sx n="49" d="100"/>
          <a:sy n="49" d="100"/>
        </p:scale>
        <p:origin x="10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33B50E-99A0-45EF-AC9E-8D193FDEE03C}" type="doc">
      <dgm:prSet loTypeId="urn:microsoft.com/office/officeart/2005/8/layout/vProcess5" loCatId="process" qsTypeId="urn:microsoft.com/office/officeart/2005/8/quickstyle/3d3" qsCatId="3D" csTypeId="urn:microsoft.com/office/officeart/2005/8/colors/colorful2" csCatId="colorful" phldr="1"/>
      <dgm:spPr/>
      <dgm:t>
        <a:bodyPr/>
        <a:lstStyle/>
        <a:p>
          <a:endParaRPr lang="en-US"/>
        </a:p>
      </dgm:t>
    </dgm:pt>
    <dgm:pt modelId="{BB7597B2-22E4-4C17-AF89-C7ADC6CDC6C8}">
      <dgm:prSet phldrT="[Text]"/>
      <dgm:spPr/>
      <dgm:t>
        <a:bodyPr/>
        <a:lstStyle/>
        <a:p>
          <a:r>
            <a:rPr lang="en-US" dirty="0" smtClean="0"/>
            <a:t>Goal Formulation</a:t>
          </a:r>
          <a:endParaRPr lang="en-US" dirty="0"/>
        </a:p>
      </dgm:t>
    </dgm:pt>
    <dgm:pt modelId="{BD00D655-91A0-4AC4-B6B8-B1511186DA74}" type="parTrans" cxnId="{82F101E5-3A7E-4517-ADD6-70163593EDDB}">
      <dgm:prSet/>
      <dgm:spPr/>
      <dgm:t>
        <a:bodyPr/>
        <a:lstStyle/>
        <a:p>
          <a:endParaRPr lang="en-US"/>
        </a:p>
      </dgm:t>
    </dgm:pt>
    <dgm:pt modelId="{BE46CFA8-C704-4EEC-89CA-0662F4A67A05}" type="sibTrans" cxnId="{82F101E5-3A7E-4517-ADD6-70163593EDDB}">
      <dgm:prSet/>
      <dgm:spPr/>
      <dgm:t>
        <a:bodyPr/>
        <a:lstStyle/>
        <a:p>
          <a:endParaRPr lang="en-US"/>
        </a:p>
      </dgm:t>
    </dgm:pt>
    <dgm:pt modelId="{971D4ADE-731F-4392-BB95-2E1FF32ECECE}">
      <dgm:prSet phldrT="[Text]"/>
      <dgm:spPr/>
      <dgm:t>
        <a:bodyPr/>
        <a:lstStyle/>
        <a:p>
          <a:r>
            <a:rPr lang="en-US" dirty="0" smtClean="0"/>
            <a:t>Problem Formulation</a:t>
          </a:r>
          <a:endParaRPr lang="en-US" dirty="0"/>
        </a:p>
      </dgm:t>
    </dgm:pt>
    <dgm:pt modelId="{ED1F8077-B81C-49CF-A6C3-CB6BA509F864}" type="parTrans" cxnId="{86679BB5-FBA3-457B-8800-2A62D6B6CBBC}">
      <dgm:prSet/>
      <dgm:spPr/>
      <dgm:t>
        <a:bodyPr/>
        <a:lstStyle/>
        <a:p>
          <a:endParaRPr lang="en-US"/>
        </a:p>
      </dgm:t>
    </dgm:pt>
    <dgm:pt modelId="{906931B4-3C68-4A45-A509-A2C96EF3D5BB}" type="sibTrans" cxnId="{86679BB5-FBA3-457B-8800-2A62D6B6CBBC}">
      <dgm:prSet/>
      <dgm:spPr/>
      <dgm:t>
        <a:bodyPr/>
        <a:lstStyle/>
        <a:p>
          <a:endParaRPr lang="en-US"/>
        </a:p>
      </dgm:t>
    </dgm:pt>
    <dgm:pt modelId="{7EBBE056-1FAF-4811-8CBC-2477C942C4A2}">
      <dgm:prSet phldrT="[Text]"/>
      <dgm:spPr/>
      <dgm:t>
        <a:bodyPr/>
        <a:lstStyle/>
        <a:p>
          <a:r>
            <a:rPr lang="en-US" dirty="0" smtClean="0"/>
            <a:t>Search</a:t>
          </a:r>
          <a:endParaRPr lang="en-US" dirty="0"/>
        </a:p>
      </dgm:t>
    </dgm:pt>
    <dgm:pt modelId="{84CF6094-BF34-4518-B148-5D0AF684DFF9}" type="parTrans" cxnId="{3FB5FB2F-F607-40C8-A6BD-30C46374DFC9}">
      <dgm:prSet/>
      <dgm:spPr/>
      <dgm:t>
        <a:bodyPr/>
        <a:lstStyle/>
        <a:p>
          <a:endParaRPr lang="en-US"/>
        </a:p>
      </dgm:t>
    </dgm:pt>
    <dgm:pt modelId="{D41AE0C7-FCCE-4233-9273-2E4C37FC460A}" type="sibTrans" cxnId="{3FB5FB2F-F607-40C8-A6BD-30C46374DFC9}">
      <dgm:prSet/>
      <dgm:spPr/>
      <dgm:t>
        <a:bodyPr/>
        <a:lstStyle/>
        <a:p>
          <a:endParaRPr lang="en-US"/>
        </a:p>
      </dgm:t>
    </dgm:pt>
    <dgm:pt modelId="{D5C64F49-C939-4F5B-AF40-DE3EF105C2DA}">
      <dgm:prSet phldrT="[Text]"/>
      <dgm:spPr/>
      <dgm:t>
        <a:bodyPr/>
        <a:lstStyle/>
        <a:p>
          <a:r>
            <a:rPr lang="en-US" dirty="0" smtClean="0"/>
            <a:t>Execution</a:t>
          </a:r>
          <a:endParaRPr lang="en-US" dirty="0"/>
        </a:p>
      </dgm:t>
    </dgm:pt>
    <dgm:pt modelId="{A9992B78-76A5-4FE8-9512-084598272EA4}" type="parTrans" cxnId="{AE0D4DE1-9DB5-4B34-ABF4-F0B937DC4537}">
      <dgm:prSet/>
      <dgm:spPr/>
      <dgm:t>
        <a:bodyPr/>
        <a:lstStyle/>
        <a:p>
          <a:endParaRPr lang="en-US"/>
        </a:p>
      </dgm:t>
    </dgm:pt>
    <dgm:pt modelId="{2EC701B0-CB8F-44DD-ABB8-D94272C51451}" type="sibTrans" cxnId="{AE0D4DE1-9DB5-4B34-ABF4-F0B937DC4537}">
      <dgm:prSet/>
      <dgm:spPr/>
      <dgm:t>
        <a:bodyPr/>
        <a:lstStyle/>
        <a:p>
          <a:endParaRPr lang="en-US"/>
        </a:p>
      </dgm:t>
    </dgm:pt>
    <dgm:pt modelId="{9DE48084-5022-44E6-BE99-09ADB03F7824}">
      <dgm:prSet phldrT="[Text]"/>
      <dgm:spPr/>
      <dgm:t>
        <a:bodyPr/>
        <a:lstStyle/>
        <a:p>
          <a:r>
            <a:rPr lang="en-US" dirty="0" smtClean="0"/>
            <a:t>Solution</a:t>
          </a:r>
          <a:endParaRPr lang="en-US" dirty="0"/>
        </a:p>
      </dgm:t>
    </dgm:pt>
    <dgm:pt modelId="{2CB352FB-CCD4-4FCA-81F0-10E14A0451C2}" type="parTrans" cxnId="{A11714B1-CEDA-4CA0-86F2-05639FCB20BE}">
      <dgm:prSet/>
      <dgm:spPr/>
      <dgm:t>
        <a:bodyPr/>
        <a:lstStyle/>
        <a:p>
          <a:endParaRPr lang="en-US"/>
        </a:p>
      </dgm:t>
    </dgm:pt>
    <dgm:pt modelId="{BF0B25AF-CB05-46D4-84E9-0AD6052DC0D7}" type="sibTrans" cxnId="{A11714B1-CEDA-4CA0-86F2-05639FCB20BE}">
      <dgm:prSet/>
      <dgm:spPr/>
      <dgm:t>
        <a:bodyPr/>
        <a:lstStyle/>
        <a:p>
          <a:endParaRPr lang="en-US"/>
        </a:p>
      </dgm:t>
    </dgm:pt>
    <dgm:pt modelId="{910D809D-6C61-49B0-B405-825A8879EB8C}" type="pres">
      <dgm:prSet presAssocID="{9833B50E-99A0-45EF-AC9E-8D193FDEE03C}" presName="outerComposite" presStyleCnt="0">
        <dgm:presLayoutVars>
          <dgm:chMax val="5"/>
          <dgm:dir/>
          <dgm:resizeHandles val="exact"/>
        </dgm:presLayoutVars>
      </dgm:prSet>
      <dgm:spPr/>
      <dgm:t>
        <a:bodyPr/>
        <a:lstStyle/>
        <a:p>
          <a:endParaRPr lang="en-US"/>
        </a:p>
      </dgm:t>
    </dgm:pt>
    <dgm:pt modelId="{B1D43BC4-E372-4055-85AE-8C635FDC93B5}" type="pres">
      <dgm:prSet presAssocID="{9833B50E-99A0-45EF-AC9E-8D193FDEE03C}" presName="dummyMaxCanvas" presStyleCnt="0">
        <dgm:presLayoutVars/>
      </dgm:prSet>
      <dgm:spPr/>
    </dgm:pt>
    <dgm:pt modelId="{8B2246C4-A468-463A-9905-58BBBFD9ACD7}" type="pres">
      <dgm:prSet presAssocID="{9833B50E-99A0-45EF-AC9E-8D193FDEE03C}" presName="FiveNodes_1" presStyleLbl="node1" presStyleIdx="0" presStyleCnt="5">
        <dgm:presLayoutVars>
          <dgm:bulletEnabled val="1"/>
        </dgm:presLayoutVars>
      </dgm:prSet>
      <dgm:spPr/>
      <dgm:t>
        <a:bodyPr/>
        <a:lstStyle/>
        <a:p>
          <a:endParaRPr lang="en-US"/>
        </a:p>
      </dgm:t>
    </dgm:pt>
    <dgm:pt modelId="{2F1DF8D6-2F6C-466A-8A8F-6ADA0DC247C5}" type="pres">
      <dgm:prSet presAssocID="{9833B50E-99A0-45EF-AC9E-8D193FDEE03C}" presName="FiveNodes_2" presStyleLbl="node1" presStyleIdx="1" presStyleCnt="5">
        <dgm:presLayoutVars>
          <dgm:bulletEnabled val="1"/>
        </dgm:presLayoutVars>
      </dgm:prSet>
      <dgm:spPr/>
      <dgm:t>
        <a:bodyPr/>
        <a:lstStyle/>
        <a:p>
          <a:endParaRPr lang="en-US"/>
        </a:p>
      </dgm:t>
    </dgm:pt>
    <dgm:pt modelId="{36AAA59C-7112-4044-A6E2-3CBA85F48C0D}" type="pres">
      <dgm:prSet presAssocID="{9833B50E-99A0-45EF-AC9E-8D193FDEE03C}" presName="FiveNodes_3" presStyleLbl="node1" presStyleIdx="2" presStyleCnt="5">
        <dgm:presLayoutVars>
          <dgm:bulletEnabled val="1"/>
        </dgm:presLayoutVars>
      </dgm:prSet>
      <dgm:spPr/>
      <dgm:t>
        <a:bodyPr/>
        <a:lstStyle/>
        <a:p>
          <a:endParaRPr lang="en-US"/>
        </a:p>
      </dgm:t>
    </dgm:pt>
    <dgm:pt modelId="{758ABE40-8735-4349-B03C-02C723AA80D8}" type="pres">
      <dgm:prSet presAssocID="{9833B50E-99A0-45EF-AC9E-8D193FDEE03C}" presName="FiveNodes_4" presStyleLbl="node1" presStyleIdx="3" presStyleCnt="5">
        <dgm:presLayoutVars>
          <dgm:bulletEnabled val="1"/>
        </dgm:presLayoutVars>
      </dgm:prSet>
      <dgm:spPr/>
      <dgm:t>
        <a:bodyPr/>
        <a:lstStyle/>
        <a:p>
          <a:endParaRPr lang="en-US"/>
        </a:p>
      </dgm:t>
    </dgm:pt>
    <dgm:pt modelId="{678EB704-D26E-4CA4-9441-57D7801F253A}" type="pres">
      <dgm:prSet presAssocID="{9833B50E-99A0-45EF-AC9E-8D193FDEE03C}" presName="FiveNodes_5" presStyleLbl="node1" presStyleIdx="4" presStyleCnt="5">
        <dgm:presLayoutVars>
          <dgm:bulletEnabled val="1"/>
        </dgm:presLayoutVars>
      </dgm:prSet>
      <dgm:spPr/>
      <dgm:t>
        <a:bodyPr/>
        <a:lstStyle/>
        <a:p>
          <a:endParaRPr lang="en-US"/>
        </a:p>
      </dgm:t>
    </dgm:pt>
    <dgm:pt modelId="{99F68FA1-EE05-4945-AFDC-D60C7EE80340}" type="pres">
      <dgm:prSet presAssocID="{9833B50E-99A0-45EF-AC9E-8D193FDEE03C}" presName="FiveConn_1-2" presStyleLbl="fgAccFollowNode1" presStyleIdx="0" presStyleCnt="4">
        <dgm:presLayoutVars>
          <dgm:bulletEnabled val="1"/>
        </dgm:presLayoutVars>
      </dgm:prSet>
      <dgm:spPr/>
      <dgm:t>
        <a:bodyPr/>
        <a:lstStyle/>
        <a:p>
          <a:endParaRPr lang="en-US"/>
        </a:p>
      </dgm:t>
    </dgm:pt>
    <dgm:pt modelId="{AF6856B9-A154-45E4-9873-F7B9C13C0C0B}" type="pres">
      <dgm:prSet presAssocID="{9833B50E-99A0-45EF-AC9E-8D193FDEE03C}" presName="FiveConn_2-3" presStyleLbl="fgAccFollowNode1" presStyleIdx="1" presStyleCnt="4">
        <dgm:presLayoutVars>
          <dgm:bulletEnabled val="1"/>
        </dgm:presLayoutVars>
      </dgm:prSet>
      <dgm:spPr/>
      <dgm:t>
        <a:bodyPr/>
        <a:lstStyle/>
        <a:p>
          <a:endParaRPr lang="en-US"/>
        </a:p>
      </dgm:t>
    </dgm:pt>
    <dgm:pt modelId="{8AFA5A30-9990-4C69-B178-A37E62922479}" type="pres">
      <dgm:prSet presAssocID="{9833B50E-99A0-45EF-AC9E-8D193FDEE03C}" presName="FiveConn_3-4" presStyleLbl="fgAccFollowNode1" presStyleIdx="2" presStyleCnt="4">
        <dgm:presLayoutVars>
          <dgm:bulletEnabled val="1"/>
        </dgm:presLayoutVars>
      </dgm:prSet>
      <dgm:spPr/>
      <dgm:t>
        <a:bodyPr/>
        <a:lstStyle/>
        <a:p>
          <a:endParaRPr lang="en-US"/>
        </a:p>
      </dgm:t>
    </dgm:pt>
    <dgm:pt modelId="{76AB386B-6DA9-4507-AA5F-3AD95FC3A647}" type="pres">
      <dgm:prSet presAssocID="{9833B50E-99A0-45EF-AC9E-8D193FDEE03C}" presName="FiveConn_4-5" presStyleLbl="fgAccFollowNode1" presStyleIdx="3" presStyleCnt="4">
        <dgm:presLayoutVars>
          <dgm:bulletEnabled val="1"/>
        </dgm:presLayoutVars>
      </dgm:prSet>
      <dgm:spPr/>
      <dgm:t>
        <a:bodyPr/>
        <a:lstStyle/>
        <a:p>
          <a:endParaRPr lang="en-US"/>
        </a:p>
      </dgm:t>
    </dgm:pt>
    <dgm:pt modelId="{946509A7-05C9-4B1F-BB34-AE48155B633B}" type="pres">
      <dgm:prSet presAssocID="{9833B50E-99A0-45EF-AC9E-8D193FDEE03C}" presName="FiveNodes_1_text" presStyleLbl="node1" presStyleIdx="4" presStyleCnt="5">
        <dgm:presLayoutVars>
          <dgm:bulletEnabled val="1"/>
        </dgm:presLayoutVars>
      </dgm:prSet>
      <dgm:spPr/>
      <dgm:t>
        <a:bodyPr/>
        <a:lstStyle/>
        <a:p>
          <a:endParaRPr lang="en-US"/>
        </a:p>
      </dgm:t>
    </dgm:pt>
    <dgm:pt modelId="{F2090426-3795-4EFD-9F08-A18FB7EC10F0}" type="pres">
      <dgm:prSet presAssocID="{9833B50E-99A0-45EF-AC9E-8D193FDEE03C}" presName="FiveNodes_2_text" presStyleLbl="node1" presStyleIdx="4" presStyleCnt="5">
        <dgm:presLayoutVars>
          <dgm:bulletEnabled val="1"/>
        </dgm:presLayoutVars>
      </dgm:prSet>
      <dgm:spPr/>
      <dgm:t>
        <a:bodyPr/>
        <a:lstStyle/>
        <a:p>
          <a:endParaRPr lang="en-US"/>
        </a:p>
      </dgm:t>
    </dgm:pt>
    <dgm:pt modelId="{BF8FF7B2-ED03-4659-9A10-2F8B80A9FEEF}" type="pres">
      <dgm:prSet presAssocID="{9833B50E-99A0-45EF-AC9E-8D193FDEE03C}" presName="FiveNodes_3_text" presStyleLbl="node1" presStyleIdx="4" presStyleCnt="5">
        <dgm:presLayoutVars>
          <dgm:bulletEnabled val="1"/>
        </dgm:presLayoutVars>
      </dgm:prSet>
      <dgm:spPr/>
      <dgm:t>
        <a:bodyPr/>
        <a:lstStyle/>
        <a:p>
          <a:endParaRPr lang="en-US"/>
        </a:p>
      </dgm:t>
    </dgm:pt>
    <dgm:pt modelId="{015127F1-86F4-4B14-BA96-EFDA8ACD8A92}" type="pres">
      <dgm:prSet presAssocID="{9833B50E-99A0-45EF-AC9E-8D193FDEE03C}" presName="FiveNodes_4_text" presStyleLbl="node1" presStyleIdx="4" presStyleCnt="5">
        <dgm:presLayoutVars>
          <dgm:bulletEnabled val="1"/>
        </dgm:presLayoutVars>
      </dgm:prSet>
      <dgm:spPr/>
      <dgm:t>
        <a:bodyPr/>
        <a:lstStyle/>
        <a:p>
          <a:endParaRPr lang="en-US"/>
        </a:p>
      </dgm:t>
    </dgm:pt>
    <dgm:pt modelId="{C2DE513A-64A0-438A-B7DE-5CE986DDC29D}" type="pres">
      <dgm:prSet presAssocID="{9833B50E-99A0-45EF-AC9E-8D193FDEE03C}" presName="FiveNodes_5_text" presStyleLbl="node1" presStyleIdx="4" presStyleCnt="5">
        <dgm:presLayoutVars>
          <dgm:bulletEnabled val="1"/>
        </dgm:presLayoutVars>
      </dgm:prSet>
      <dgm:spPr/>
      <dgm:t>
        <a:bodyPr/>
        <a:lstStyle/>
        <a:p>
          <a:endParaRPr lang="en-US"/>
        </a:p>
      </dgm:t>
    </dgm:pt>
  </dgm:ptLst>
  <dgm:cxnLst>
    <dgm:cxn modelId="{3ECDA911-42E5-4049-97A4-A582AF9EAEE7}" type="presOf" srcId="{9833B50E-99A0-45EF-AC9E-8D193FDEE03C}" destId="{910D809D-6C61-49B0-B405-825A8879EB8C}" srcOrd="0" destOrd="0" presId="urn:microsoft.com/office/officeart/2005/8/layout/vProcess5"/>
    <dgm:cxn modelId="{DA8F62C8-8D43-4634-AFC3-AD6CDD7EC491}" type="presOf" srcId="{BB7597B2-22E4-4C17-AF89-C7ADC6CDC6C8}" destId="{8B2246C4-A468-463A-9905-58BBBFD9ACD7}" srcOrd="0" destOrd="0" presId="urn:microsoft.com/office/officeart/2005/8/layout/vProcess5"/>
    <dgm:cxn modelId="{24F927E9-99F2-4FC3-9EA7-10361FD39599}" type="presOf" srcId="{9DE48084-5022-44E6-BE99-09ADB03F7824}" destId="{758ABE40-8735-4349-B03C-02C723AA80D8}" srcOrd="0" destOrd="0" presId="urn:microsoft.com/office/officeart/2005/8/layout/vProcess5"/>
    <dgm:cxn modelId="{A3630EB3-807E-430F-BB6C-9B7AF471D6BA}" type="presOf" srcId="{D41AE0C7-FCCE-4233-9273-2E4C37FC460A}" destId="{8AFA5A30-9990-4C69-B178-A37E62922479}" srcOrd="0" destOrd="0" presId="urn:microsoft.com/office/officeart/2005/8/layout/vProcess5"/>
    <dgm:cxn modelId="{63834974-F78F-424A-8233-1CECFEF86921}" type="presOf" srcId="{9DE48084-5022-44E6-BE99-09ADB03F7824}" destId="{015127F1-86F4-4B14-BA96-EFDA8ACD8A92}" srcOrd="1" destOrd="0" presId="urn:microsoft.com/office/officeart/2005/8/layout/vProcess5"/>
    <dgm:cxn modelId="{62739B97-F294-4117-869B-24CA800A922C}" type="presOf" srcId="{971D4ADE-731F-4392-BB95-2E1FF32ECECE}" destId="{F2090426-3795-4EFD-9F08-A18FB7EC10F0}" srcOrd="1" destOrd="0" presId="urn:microsoft.com/office/officeart/2005/8/layout/vProcess5"/>
    <dgm:cxn modelId="{3FB5FB2F-F607-40C8-A6BD-30C46374DFC9}" srcId="{9833B50E-99A0-45EF-AC9E-8D193FDEE03C}" destId="{7EBBE056-1FAF-4811-8CBC-2477C942C4A2}" srcOrd="2" destOrd="0" parTransId="{84CF6094-BF34-4518-B148-5D0AF684DFF9}" sibTransId="{D41AE0C7-FCCE-4233-9273-2E4C37FC460A}"/>
    <dgm:cxn modelId="{82F101E5-3A7E-4517-ADD6-70163593EDDB}" srcId="{9833B50E-99A0-45EF-AC9E-8D193FDEE03C}" destId="{BB7597B2-22E4-4C17-AF89-C7ADC6CDC6C8}" srcOrd="0" destOrd="0" parTransId="{BD00D655-91A0-4AC4-B6B8-B1511186DA74}" sibTransId="{BE46CFA8-C704-4EEC-89CA-0662F4A67A05}"/>
    <dgm:cxn modelId="{86679BB5-FBA3-457B-8800-2A62D6B6CBBC}" srcId="{9833B50E-99A0-45EF-AC9E-8D193FDEE03C}" destId="{971D4ADE-731F-4392-BB95-2E1FF32ECECE}" srcOrd="1" destOrd="0" parTransId="{ED1F8077-B81C-49CF-A6C3-CB6BA509F864}" sibTransId="{906931B4-3C68-4A45-A509-A2C96EF3D5BB}"/>
    <dgm:cxn modelId="{BBF2FDC1-2B03-44FE-B6B3-FB32C82E26CE}" type="presOf" srcId="{971D4ADE-731F-4392-BB95-2E1FF32ECECE}" destId="{2F1DF8D6-2F6C-466A-8A8F-6ADA0DC247C5}" srcOrd="0" destOrd="0" presId="urn:microsoft.com/office/officeart/2005/8/layout/vProcess5"/>
    <dgm:cxn modelId="{1C12CB8B-4673-4E8C-930B-82277729E370}" type="presOf" srcId="{BB7597B2-22E4-4C17-AF89-C7ADC6CDC6C8}" destId="{946509A7-05C9-4B1F-BB34-AE48155B633B}" srcOrd="1" destOrd="0" presId="urn:microsoft.com/office/officeart/2005/8/layout/vProcess5"/>
    <dgm:cxn modelId="{59DD4C30-AD09-4F31-B163-7ADA40CA45FC}" type="presOf" srcId="{7EBBE056-1FAF-4811-8CBC-2477C942C4A2}" destId="{BF8FF7B2-ED03-4659-9A10-2F8B80A9FEEF}" srcOrd="1" destOrd="0" presId="urn:microsoft.com/office/officeart/2005/8/layout/vProcess5"/>
    <dgm:cxn modelId="{A11714B1-CEDA-4CA0-86F2-05639FCB20BE}" srcId="{9833B50E-99A0-45EF-AC9E-8D193FDEE03C}" destId="{9DE48084-5022-44E6-BE99-09ADB03F7824}" srcOrd="3" destOrd="0" parTransId="{2CB352FB-CCD4-4FCA-81F0-10E14A0451C2}" sibTransId="{BF0B25AF-CB05-46D4-84E9-0AD6052DC0D7}"/>
    <dgm:cxn modelId="{04079CB5-B371-4448-80E0-5E93098A5DF9}" type="presOf" srcId="{D5C64F49-C939-4F5B-AF40-DE3EF105C2DA}" destId="{C2DE513A-64A0-438A-B7DE-5CE986DDC29D}" srcOrd="1" destOrd="0" presId="urn:microsoft.com/office/officeart/2005/8/layout/vProcess5"/>
    <dgm:cxn modelId="{D096BDB7-0A5C-441A-A46E-BDE0AC218F56}" type="presOf" srcId="{D5C64F49-C939-4F5B-AF40-DE3EF105C2DA}" destId="{678EB704-D26E-4CA4-9441-57D7801F253A}" srcOrd="0" destOrd="0" presId="urn:microsoft.com/office/officeart/2005/8/layout/vProcess5"/>
    <dgm:cxn modelId="{8D354810-FBFB-4EB0-AE10-043FCD1C56EB}" type="presOf" srcId="{BE46CFA8-C704-4EEC-89CA-0662F4A67A05}" destId="{99F68FA1-EE05-4945-AFDC-D60C7EE80340}" srcOrd="0" destOrd="0" presId="urn:microsoft.com/office/officeart/2005/8/layout/vProcess5"/>
    <dgm:cxn modelId="{04CCA566-0A8F-4D43-94C9-11EB008650F9}" type="presOf" srcId="{7EBBE056-1FAF-4811-8CBC-2477C942C4A2}" destId="{36AAA59C-7112-4044-A6E2-3CBA85F48C0D}" srcOrd="0" destOrd="0" presId="urn:microsoft.com/office/officeart/2005/8/layout/vProcess5"/>
    <dgm:cxn modelId="{AE0D4DE1-9DB5-4B34-ABF4-F0B937DC4537}" srcId="{9833B50E-99A0-45EF-AC9E-8D193FDEE03C}" destId="{D5C64F49-C939-4F5B-AF40-DE3EF105C2DA}" srcOrd="4" destOrd="0" parTransId="{A9992B78-76A5-4FE8-9512-084598272EA4}" sibTransId="{2EC701B0-CB8F-44DD-ABB8-D94272C51451}"/>
    <dgm:cxn modelId="{F6953030-CDAB-4A80-9C0E-1000DF94E586}" type="presOf" srcId="{906931B4-3C68-4A45-A509-A2C96EF3D5BB}" destId="{AF6856B9-A154-45E4-9873-F7B9C13C0C0B}" srcOrd="0" destOrd="0" presId="urn:microsoft.com/office/officeart/2005/8/layout/vProcess5"/>
    <dgm:cxn modelId="{7C5FD6F4-9F35-453E-BF7A-37FCA4CCAED2}" type="presOf" srcId="{BF0B25AF-CB05-46D4-84E9-0AD6052DC0D7}" destId="{76AB386B-6DA9-4507-AA5F-3AD95FC3A647}" srcOrd="0" destOrd="0" presId="urn:microsoft.com/office/officeart/2005/8/layout/vProcess5"/>
    <dgm:cxn modelId="{2E5BA3B3-DA7E-4AAF-9E01-56A195E17706}" type="presParOf" srcId="{910D809D-6C61-49B0-B405-825A8879EB8C}" destId="{B1D43BC4-E372-4055-85AE-8C635FDC93B5}" srcOrd="0" destOrd="0" presId="urn:microsoft.com/office/officeart/2005/8/layout/vProcess5"/>
    <dgm:cxn modelId="{6FE2C522-EA71-4CD9-9AB5-E8D1B8131150}" type="presParOf" srcId="{910D809D-6C61-49B0-B405-825A8879EB8C}" destId="{8B2246C4-A468-463A-9905-58BBBFD9ACD7}" srcOrd="1" destOrd="0" presId="urn:microsoft.com/office/officeart/2005/8/layout/vProcess5"/>
    <dgm:cxn modelId="{DE823A47-206C-47FB-A5CC-7A2ECCE00B39}" type="presParOf" srcId="{910D809D-6C61-49B0-B405-825A8879EB8C}" destId="{2F1DF8D6-2F6C-466A-8A8F-6ADA0DC247C5}" srcOrd="2" destOrd="0" presId="urn:microsoft.com/office/officeart/2005/8/layout/vProcess5"/>
    <dgm:cxn modelId="{8B7C47A2-3955-4BCC-B511-74E0D3269F0E}" type="presParOf" srcId="{910D809D-6C61-49B0-B405-825A8879EB8C}" destId="{36AAA59C-7112-4044-A6E2-3CBA85F48C0D}" srcOrd="3" destOrd="0" presId="urn:microsoft.com/office/officeart/2005/8/layout/vProcess5"/>
    <dgm:cxn modelId="{0DD31F07-31BE-4E0B-8738-1FBD0F09B8CE}" type="presParOf" srcId="{910D809D-6C61-49B0-B405-825A8879EB8C}" destId="{758ABE40-8735-4349-B03C-02C723AA80D8}" srcOrd="4" destOrd="0" presId="urn:microsoft.com/office/officeart/2005/8/layout/vProcess5"/>
    <dgm:cxn modelId="{7431CFD0-4F4D-4E86-B2ED-B7CD8D11EF6D}" type="presParOf" srcId="{910D809D-6C61-49B0-B405-825A8879EB8C}" destId="{678EB704-D26E-4CA4-9441-57D7801F253A}" srcOrd="5" destOrd="0" presId="urn:microsoft.com/office/officeart/2005/8/layout/vProcess5"/>
    <dgm:cxn modelId="{00508D69-03D0-4A9B-93F7-7404736660A1}" type="presParOf" srcId="{910D809D-6C61-49B0-B405-825A8879EB8C}" destId="{99F68FA1-EE05-4945-AFDC-D60C7EE80340}" srcOrd="6" destOrd="0" presId="urn:microsoft.com/office/officeart/2005/8/layout/vProcess5"/>
    <dgm:cxn modelId="{2D6E4099-D2DB-4CB2-8ACB-DDB5124CC12B}" type="presParOf" srcId="{910D809D-6C61-49B0-B405-825A8879EB8C}" destId="{AF6856B9-A154-45E4-9873-F7B9C13C0C0B}" srcOrd="7" destOrd="0" presId="urn:microsoft.com/office/officeart/2005/8/layout/vProcess5"/>
    <dgm:cxn modelId="{303F16BB-EB18-41C6-B8A3-73A48270D6A9}" type="presParOf" srcId="{910D809D-6C61-49B0-B405-825A8879EB8C}" destId="{8AFA5A30-9990-4C69-B178-A37E62922479}" srcOrd="8" destOrd="0" presId="urn:microsoft.com/office/officeart/2005/8/layout/vProcess5"/>
    <dgm:cxn modelId="{63CFE8D9-F29E-4BE8-B87C-6C3C94494BD3}" type="presParOf" srcId="{910D809D-6C61-49B0-B405-825A8879EB8C}" destId="{76AB386B-6DA9-4507-AA5F-3AD95FC3A647}" srcOrd="9" destOrd="0" presId="urn:microsoft.com/office/officeart/2005/8/layout/vProcess5"/>
    <dgm:cxn modelId="{72A3B603-C077-4664-AD46-B2CAB236E524}" type="presParOf" srcId="{910D809D-6C61-49B0-B405-825A8879EB8C}" destId="{946509A7-05C9-4B1F-BB34-AE48155B633B}" srcOrd="10" destOrd="0" presId="urn:microsoft.com/office/officeart/2005/8/layout/vProcess5"/>
    <dgm:cxn modelId="{88C0E5A5-6F02-4AEC-A066-B06441C57AD8}" type="presParOf" srcId="{910D809D-6C61-49B0-B405-825A8879EB8C}" destId="{F2090426-3795-4EFD-9F08-A18FB7EC10F0}" srcOrd="11" destOrd="0" presId="urn:microsoft.com/office/officeart/2005/8/layout/vProcess5"/>
    <dgm:cxn modelId="{95F5F292-731B-4F81-946B-291D61CAE293}" type="presParOf" srcId="{910D809D-6C61-49B0-B405-825A8879EB8C}" destId="{BF8FF7B2-ED03-4659-9A10-2F8B80A9FEEF}" srcOrd="12" destOrd="0" presId="urn:microsoft.com/office/officeart/2005/8/layout/vProcess5"/>
    <dgm:cxn modelId="{C8249282-080A-47DE-9EE3-10024823DC99}" type="presParOf" srcId="{910D809D-6C61-49B0-B405-825A8879EB8C}" destId="{015127F1-86F4-4B14-BA96-EFDA8ACD8A92}" srcOrd="13" destOrd="0" presId="urn:microsoft.com/office/officeart/2005/8/layout/vProcess5"/>
    <dgm:cxn modelId="{31C3B24C-3060-4E44-86F5-721DF1C84DC5}" type="presParOf" srcId="{910D809D-6C61-49B0-B405-825A8879EB8C}" destId="{C2DE513A-64A0-438A-B7DE-5CE986DDC29D}"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658399-2D67-47E5-AEDF-551E3DD458A3}" type="doc">
      <dgm:prSet loTypeId="urn:diagrams.loki3.com/VaryingWidthList" loCatId="list" qsTypeId="urn:microsoft.com/office/officeart/2005/8/quickstyle/simple1" qsCatId="simple" csTypeId="urn:microsoft.com/office/officeart/2005/8/colors/colorful2" csCatId="colorful" phldr="1"/>
      <dgm:spPr/>
    </dgm:pt>
    <dgm:pt modelId="{B8C2E4AB-93BB-4C87-8D96-73CD28684C12}">
      <dgm:prSet phldrT="[Text]"/>
      <dgm:spPr/>
      <dgm:t>
        <a:bodyPr/>
        <a:lstStyle/>
        <a:p>
          <a:r>
            <a:rPr lang="en-US" b="1" dirty="0" smtClean="0"/>
            <a:t>Limiting the objectives of the Current State </a:t>
          </a:r>
          <a:endParaRPr lang="en-US" b="1" dirty="0"/>
        </a:p>
      </dgm:t>
    </dgm:pt>
    <dgm:pt modelId="{2AAFBB75-5FE2-437B-AFA8-9FECFE52F506}" type="parTrans" cxnId="{970DEB64-2599-4B51-9955-DE3E53EE2E01}">
      <dgm:prSet/>
      <dgm:spPr/>
      <dgm:t>
        <a:bodyPr/>
        <a:lstStyle/>
        <a:p>
          <a:endParaRPr lang="en-US"/>
        </a:p>
      </dgm:t>
    </dgm:pt>
    <dgm:pt modelId="{EEC4A646-8A83-426F-A512-9C9E2CBADA83}" type="sibTrans" cxnId="{970DEB64-2599-4B51-9955-DE3E53EE2E01}">
      <dgm:prSet/>
      <dgm:spPr/>
      <dgm:t>
        <a:bodyPr/>
        <a:lstStyle/>
        <a:p>
          <a:endParaRPr lang="en-US"/>
        </a:p>
      </dgm:t>
    </dgm:pt>
    <dgm:pt modelId="{8AEE0EB0-08E2-4872-B700-9EE45CADBA39}">
      <dgm:prSet phldrT="[Text]"/>
      <dgm:spPr/>
      <dgm:t>
        <a:bodyPr/>
        <a:lstStyle/>
        <a:p>
          <a:r>
            <a:rPr lang="en-US" dirty="0" smtClean="0"/>
            <a:t>Once a solution is found, the actions it recommends are carried out  </a:t>
          </a:r>
          <a:endParaRPr lang="en-US" b="1" dirty="0"/>
        </a:p>
      </dgm:t>
    </dgm:pt>
    <dgm:pt modelId="{2B9A0DDD-F78B-4DAD-A024-AE4A4AE79C0B}" type="sibTrans" cxnId="{CBADDC10-4DDD-46B9-A751-8D651AE6B6FD}">
      <dgm:prSet/>
      <dgm:spPr/>
      <dgm:t>
        <a:bodyPr/>
        <a:lstStyle/>
        <a:p>
          <a:endParaRPr lang="en-US"/>
        </a:p>
      </dgm:t>
    </dgm:pt>
    <dgm:pt modelId="{F230D573-16B6-4C51-9A6B-21747066907D}" type="parTrans" cxnId="{CBADDC10-4DDD-46B9-A751-8D651AE6B6FD}">
      <dgm:prSet/>
      <dgm:spPr/>
      <dgm:t>
        <a:bodyPr/>
        <a:lstStyle/>
        <a:p>
          <a:endParaRPr lang="en-US"/>
        </a:p>
      </dgm:t>
    </dgm:pt>
    <dgm:pt modelId="{BC0089A3-B62A-458E-B1ED-7A23287F30F7}">
      <dgm:prSet phldrT="[Text]"/>
      <dgm:spPr>
        <a:ln>
          <a:noFill/>
        </a:ln>
        <a:effectLst/>
        <a:scene3d>
          <a:camera prst="orthographicFront">
            <a:rot lat="0" lon="0" rev="0"/>
          </a:camera>
          <a:lightRig rig="contrasting" dir="t">
            <a:rot lat="0" lon="0" rev="7800000"/>
          </a:lightRig>
        </a:scene3d>
        <a:sp3d>
          <a:bevelT w="139700" h="139700"/>
        </a:sp3d>
      </dgm:spPr>
      <dgm:t>
        <a:bodyPr/>
        <a:lstStyle/>
        <a:p>
          <a:r>
            <a:rPr lang="en-US" b="1" dirty="0" smtClean="0"/>
            <a:t>Search Algorithms</a:t>
          </a:r>
        </a:p>
        <a:p>
          <a:r>
            <a:rPr lang="en-US" b="1" i="1" dirty="0" smtClean="0"/>
            <a:t>Takes a problem as input and returns a </a:t>
          </a:r>
          <a:r>
            <a:rPr lang="en-US" b="1" i="0" dirty="0" smtClean="0"/>
            <a:t>solution</a:t>
          </a:r>
          <a:endParaRPr lang="en-US" b="1" i="1" dirty="0"/>
        </a:p>
      </dgm:t>
    </dgm:pt>
    <dgm:pt modelId="{43929B4D-CF21-42AA-A279-2BFC7FF40A0F}" type="sibTrans" cxnId="{685BFA19-BFD8-4D8A-86CF-A3A61D673459}">
      <dgm:prSet/>
      <dgm:spPr/>
      <dgm:t>
        <a:bodyPr/>
        <a:lstStyle/>
        <a:p>
          <a:endParaRPr lang="en-US"/>
        </a:p>
      </dgm:t>
    </dgm:pt>
    <dgm:pt modelId="{3CE56377-B7E5-45C2-A5FC-22622B530492}" type="parTrans" cxnId="{685BFA19-BFD8-4D8A-86CF-A3A61D673459}">
      <dgm:prSet/>
      <dgm:spPr/>
      <dgm:t>
        <a:bodyPr/>
        <a:lstStyle/>
        <a:p>
          <a:endParaRPr lang="en-US"/>
        </a:p>
      </dgm:t>
    </dgm:pt>
    <dgm:pt modelId="{64770EE2-E993-443B-BD76-69340E51C364}">
      <dgm:prSet phldrT="[Text]"/>
      <dgm:spPr/>
      <dgm:t>
        <a:bodyPr/>
        <a:lstStyle/>
        <a:p>
          <a:r>
            <a:rPr lang="en-US" b="1" dirty="0" smtClean="0"/>
            <a:t>Looking for Sequence of Actions</a:t>
          </a:r>
          <a:endParaRPr lang="en-US" b="1" dirty="0"/>
        </a:p>
      </dgm:t>
    </dgm:pt>
    <dgm:pt modelId="{01C2B851-758C-46E6-9414-EAC1392DF490}" type="sibTrans" cxnId="{0CFEE199-E70E-4348-B128-65644CCFA3C9}">
      <dgm:prSet/>
      <dgm:spPr/>
      <dgm:t>
        <a:bodyPr/>
        <a:lstStyle/>
        <a:p>
          <a:endParaRPr lang="en-US"/>
        </a:p>
      </dgm:t>
    </dgm:pt>
    <dgm:pt modelId="{8C78DEBF-BAF3-4FA8-ADB2-39AE8A07E464}" type="parTrans" cxnId="{0CFEE199-E70E-4348-B128-65644CCFA3C9}">
      <dgm:prSet/>
      <dgm:spPr/>
      <dgm:t>
        <a:bodyPr/>
        <a:lstStyle/>
        <a:p>
          <a:endParaRPr lang="en-US"/>
        </a:p>
      </dgm:t>
    </dgm:pt>
    <dgm:pt modelId="{52A06909-C705-4EBB-AF8D-C6D487056BC3}">
      <dgm:prSet phldrT="[Text]"/>
      <dgm:spPr/>
      <dgm:t>
        <a:bodyPr/>
        <a:lstStyle/>
        <a:p>
          <a:r>
            <a:rPr lang="en-US" b="1" dirty="0" smtClean="0"/>
            <a:t>Actions and States</a:t>
          </a:r>
          <a:endParaRPr lang="en-US" b="1" dirty="0"/>
        </a:p>
      </dgm:t>
    </dgm:pt>
    <dgm:pt modelId="{1441EA86-9514-4AAC-83A3-CA5172CF0A0D}" type="sibTrans" cxnId="{FD108877-6136-4DD0-A2CC-C3156AF9F6C6}">
      <dgm:prSet/>
      <dgm:spPr/>
      <dgm:t>
        <a:bodyPr/>
        <a:lstStyle/>
        <a:p>
          <a:endParaRPr lang="en-US"/>
        </a:p>
      </dgm:t>
    </dgm:pt>
    <dgm:pt modelId="{6CDFC4B3-0B9F-4408-874E-BACC172106E1}" type="parTrans" cxnId="{FD108877-6136-4DD0-A2CC-C3156AF9F6C6}">
      <dgm:prSet/>
      <dgm:spPr/>
      <dgm:t>
        <a:bodyPr/>
        <a:lstStyle/>
        <a:p>
          <a:endParaRPr lang="en-US"/>
        </a:p>
      </dgm:t>
    </dgm:pt>
    <dgm:pt modelId="{6615D652-38C8-4ECE-89BD-BBDC8CA96042}" type="pres">
      <dgm:prSet presAssocID="{D3658399-2D67-47E5-AEDF-551E3DD458A3}" presName="Name0" presStyleCnt="0">
        <dgm:presLayoutVars>
          <dgm:resizeHandles/>
        </dgm:presLayoutVars>
      </dgm:prSet>
      <dgm:spPr/>
    </dgm:pt>
    <dgm:pt modelId="{3A47EFE7-B3DC-4A93-88D3-980B43C67DAE}" type="pres">
      <dgm:prSet presAssocID="{B8C2E4AB-93BB-4C87-8D96-73CD28684C12}" presName="text" presStyleLbl="node1" presStyleIdx="0" presStyleCnt="5" custScaleX="298707" custLinFactY="-16745" custLinFactNeighborX="6787" custLinFactNeighborY="-100000">
        <dgm:presLayoutVars>
          <dgm:bulletEnabled val="1"/>
        </dgm:presLayoutVars>
      </dgm:prSet>
      <dgm:spPr/>
      <dgm:t>
        <a:bodyPr/>
        <a:lstStyle/>
        <a:p>
          <a:endParaRPr lang="en-US"/>
        </a:p>
      </dgm:t>
    </dgm:pt>
    <dgm:pt modelId="{CC02E7E4-12E4-4B1D-99BF-E251528D328C}" type="pres">
      <dgm:prSet presAssocID="{EEC4A646-8A83-426F-A512-9C9E2CBADA83}" presName="space" presStyleCnt="0"/>
      <dgm:spPr/>
    </dgm:pt>
    <dgm:pt modelId="{4F3F5C50-8244-4D56-9BA7-CA06F83F5A91}" type="pres">
      <dgm:prSet presAssocID="{52A06909-C705-4EBB-AF8D-C6D487056BC3}" presName="text" presStyleLbl="node1" presStyleIdx="1" presStyleCnt="5" custScaleX="426989" custScaleY="94240">
        <dgm:presLayoutVars>
          <dgm:bulletEnabled val="1"/>
        </dgm:presLayoutVars>
      </dgm:prSet>
      <dgm:spPr/>
      <dgm:t>
        <a:bodyPr/>
        <a:lstStyle/>
        <a:p>
          <a:endParaRPr lang="en-US"/>
        </a:p>
      </dgm:t>
    </dgm:pt>
    <dgm:pt modelId="{B2347306-73D6-43E4-8827-A8066C641419}" type="pres">
      <dgm:prSet presAssocID="{1441EA86-9514-4AAC-83A3-CA5172CF0A0D}" presName="space" presStyleCnt="0"/>
      <dgm:spPr/>
    </dgm:pt>
    <dgm:pt modelId="{489834D2-D5C7-4837-AE29-B9E578B85DBA}" type="pres">
      <dgm:prSet presAssocID="{64770EE2-E993-443B-BD76-69340E51C364}" presName="text" presStyleLbl="node1" presStyleIdx="2" presStyleCnt="5" custScaleX="278705">
        <dgm:presLayoutVars>
          <dgm:bulletEnabled val="1"/>
        </dgm:presLayoutVars>
      </dgm:prSet>
      <dgm:spPr/>
      <dgm:t>
        <a:bodyPr/>
        <a:lstStyle/>
        <a:p>
          <a:endParaRPr lang="en-US"/>
        </a:p>
      </dgm:t>
    </dgm:pt>
    <dgm:pt modelId="{08F69E89-36CF-479E-85A8-74F857C6667A}" type="pres">
      <dgm:prSet presAssocID="{01C2B851-758C-46E6-9414-EAC1392DF490}" presName="space" presStyleCnt="0"/>
      <dgm:spPr/>
    </dgm:pt>
    <dgm:pt modelId="{03013F2A-8128-4E1B-B0C2-5C0E58413E61}" type="pres">
      <dgm:prSet presAssocID="{BC0089A3-B62A-458E-B1ED-7A23287F30F7}" presName="text" presStyleLbl="node1" presStyleIdx="3" presStyleCnt="5" custScaleX="278705">
        <dgm:presLayoutVars>
          <dgm:bulletEnabled val="1"/>
        </dgm:presLayoutVars>
      </dgm:prSet>
      <dgm:spPr/>
      <dgm:t>
        <a:bodyPr/>
        <a:lstStyle/>
        <a:p>
          <a:endParaRPr lang="en-US"/>
        </a:p>
      </dgm:t>
    </dgm:pt>
    <dgm:pt modelId="{CC7F26F0-B851-4312-A57A-F1638F9F202B}" type="pres">
      <dgm:prSet presAssocID="{43929B4D-CF21-42AA-A279-2BFC7FF40A0F}" presName="space" presStyleCnt="0"/>
      <dgm:spPr/>
    </dgm:pt>
    <dgm:pt modelId="{774E963C-161D-430E-A1CD-91607AB54761}" type="pres">
      <dgm:prSet presAssocID="{8AEE0EB0-08E2-4872-B700-9EE45CADBA39}" presName="text" presStyleLbl="node1" presStyleIdx="4" presStyleCnt="5" custScaleX="426989" custLinFactY="12125" custLinFactNeighborX="1352" custLinFactNeighborY="100000">
        <dgm:presLayoutVars>
          <dgm:bulletEnabled val="1"/>
        </dgm:presLayoutVars>
      </dgm:prSet>
      <dgm:spPr/>
      <dgm:t>
        <a:bodyPr/>
        <a:lstStyle/>
        <a:p>
          <a:endParaRPr lang="en-US"/>
        </a:p>
      </dgm:t>
    </dgm:pt>
  </dgm:ptLst>
  <dgm:cxnLst>
    <dgm:cxn modelId="{F328EE04-1652-430E-9A01-78E44AE79F9A}" type="presOf" srcId="{52A06909-C705-4EBB-AF8D-C6D487056BC3}" destId="{4F3F5C50-8244-4D56-9BA7-CA06F83F5A91}" srcOrd="0" destOrd="0" presId="urn:diagrams.loki3.com/VaryingWidthList"/>
    <dgm:cxn modelId="{970DEB64-2599-4B51-9955-DE3E53EE2E01}" srcId="{D3658399-2D67-47E5-AEDF-551E3DD458A3}" destId="{B8C2E4AB-93BB-4C87-8D96-73CD28684C12}" srcOrd="0" destOrd="0" parTransId="{2AAFBB75-5FE2-437B-AFA8-9FECFE52F506}" sibTransId="{EEC4A646-8A83-426F-A512-9C9E2CBADA83}"/>
    <dgm:cxn modelId="{CA3301D3-9BDF-4309-A26A-58AEB4D48AE6}" type="presOf" srcId="{D3658399-2D67-47E5-AEDF-551E3DD458A3}" destId="{6615D652-38C8-4ECE-89BD-BBDC8CA96042}" srcOrd="0" destOrd="0" presId="urn:diagrams.loki3.com/VaryingWidthList"/>
    <dgm:cxn modelId="{9ACE7433-E90A-4E61-8B49-6BF012DF54C2}" type="presOf" srcId="{8AEE0EB0-08E2-4872-B700-9EE45CADBA39}" destId="{774E963C-161D-430E-A1CD-91607AB54761}" srcOrd="0" destOrd="0" presId="urn:diagrams.loki3.com/VaryingWidthList"/>
    <dgm:cxn modelId="{D9148DB1-4111-4802-B4B0-CA391B6B84D8}" type="presOf" srcId="{BC0089A3-B62A-458E-B1ED-7A23287F30F7}" destId="{03013F2A-8128-4E1B-B0C2-5C0E58413E61}" srcOrd="0" destOrd="0" presId="urn:diagrams.loki3.com/VaryingWidthList"/>
    <dgm:cxn modelId="{0CFEE199-E70E-4348-B128-65644CCFA3C9}" srcId="{D3658399-2D67-47E5-AEDF-551E3DD458A3}" destId="{64770EE2-E993-443B-BD76-69340E51C364}" srcOrd="2" destOrd="0" parTransId="{8C78DEBF-BAF3-4FA8-ADB2-39AE8A07E464}" sibTransId="{01C2B851-758C-46E6-9414-EAC1392DF490}"/>
    <dgm:cxn modelId="{CBADDC10-4DDD-46B9-A751-8D651AE6B6FD}" srcId="{D3658399-2D67-47E5-AEDF-551E3DD458A3}" destId="{8AEE0EB0-08E2-4872-B700-9EE45CADBA39}" srcOrd="4" destOrd="0" parTransId="{F230D573-16B6-4C51-9A6B-21747066907D}" sibTransId="{2B9A0DDD-F78B-4DAD-A024-AE4A4AE79C0B}"/>
    <dgm:cxn modelId="{471F21FF-0B5B-4917-A6E4-9DD9BCCF1625}" type="presOf" srcId="{B8C2E4AB-93BB-4C87-8D96-73CD28684C12}" destId="{3A47EFE7-B3DC-4A93-88D3-980B43C67DAE}" srcOrd="0" destOrd="0" presId="urn:diagrams.loki3.com/VaryingWidthList"/>
    <dgm:cxn modelId="{685BFA19-BFD8-4D8A-86CF-A3A61D673459}" srcId="{D3658399-2D67-47E5-AEDF-551E3DD458A3}" destId="{BC0089A3-B62A-458E-B1ED-7A23287F30F7}" srcOrd="3" destOrd="0" parTransId="{3CE56377-B7E5-45C2-A5FC-22622B530492}" sibTransId="{43929B4D-CF21-42AA-A279-2BFC7FF40A0F}"/>
    <dgm:cxn modelId="{FD108877-6136-4DD0-A2CC-C3156AF9F6C6}" srcId="{D3658399-2D67-47E5-AEDF-551E3DD458A3}" destId="{52A06909-C705-4EBB-AF8D-C6D487056BC3}" srcOrd="1" destOrd="0" parTransId="{6CDFC4B3-0B9F-4408-874E-BACC172106E1}" sibTransId="{1441EA86-9514-4AAC-83A3-CA5172CF0A0D}"/>
    <dgm:cxn modelId="{C28567F0-8ADE-4A7E-9CB7-BFF9A81EF8CC}" type="presOf" srcId="{64770EE2-E993-443B-BD76-69340E51C364}" destId="{489834D2-D5C7-4837-AE29-B9E578B85DBA}" srcOrd="0" destOrd="0" presId="urn:diagrams.loki3.com/VaryingWidthList"/>
    <dgm:cxn modelId="{74D3F39F-4EA6-4A39-A261-3DA21008AB71}" type="presParOf" srcId="{6615D652-38C8-4ECE-89BD-BBDC8CA96042}" destId="{3A47EFE7-B3DC-4A93-88D3-980B43C67DAE}" srcOrd="0" destOrd="0" presId="urn:diagrams.loki3.com/VaryingWidthList"/>
    <dgm:cxn modelId="{597D15FA-635A-4779-A9A1-79EE430D8F39}" type="presParOf" srcId="{6615D652-38C8-4ECE-89BD-BBDC8CA96042}" destId="{CC02E7E4-12E4-4B1D-99BF-E251528D328C}" srcOrd="1" destOrd="0" presId="urn:diagrams.loki3.com/VaryingWidthList"/>
    <dgm:cxn modelId="{DA26C7E2-8169-40F5-ADA1-9AB3982B7843}" type="presParOf" srcId="{6615D652-38C8-4ECE-89BD-BBDC8CA96042}" destId="{4F3F5C50-8244-4D56-9BA7-CA06F83F5A91}" srcOrd="2" destOrd="0" presId="urn:diagrams.loki3.com/VaryingWidthList"/>
    <dgm:cxn modelId="{CAC3E2F3-715F-42B8-9C5F-1D7357AD5312}" type="presParOf" srcId="{6615D652-38C8-4ECE-89BD-BBDC8CA96042}" destId="{B2347306-73D6-43E4-8827-A8066C641419}" srcOrd="3" destOrd="0" presId="urn:diagrams.loki3.com/VaryingWidthList"/>
    <dgm:cxn modelId="{55B8B359-A4C5-4825-A884-7C5AD1165293}" type="presParOf" srcId="{6615D652-38C8-4ECE-89BD-BBDC8CA96042}" destId="{489834D2-D5C7-4837-AE29-B9E578B85DBA}" srcOrd="4" destOrd="0" presId="urn:diagrams.loki3.com/VaryingWidthList"/>
    <dgm:cxn modelId="{C187EF32-0C0E-4AB5-9A1D-FB1BB231E84E}" type="presParOf" srcId="{6615D652-38C8-4ECE-89BD-BBDC8CA96042}" destId="{08F69E89-36CF-479E-85A8-74F857C6667A}" srcOrd="5" destOrd="0" presId="urn:diagrams.loki3.com/VaryingWidthList"/>
    <dgm:cxn modelId="{73F512F5-E3D2-477A-B597-51F9463B3EC2}" type="presParOf" srcId="{6615D652-38C8-4ECE-89BD-BBDC8CA96042}" destId="{03013F2A-8128-4E1B-B0C2-5C0E58413E61}" srcOrd="6" destOrd="0" presId="urn:diagrams.loki3.com/VaryingWidthList"/>
    <dgm:cxn modelId="{7123AB44-BF85-43F2-ACA3-89E8B300C74A}" type="presParOf" srcId="{6615D652-38C8-4ECE-89BD-BBDC8CA96042}" destId="{CC7F26F0-B851-4312-A57A-F1638F9F202B}" srcOrd="7" destOrd="0" presId="urn:diagrams.loki3.com/VaryingWidthList"/>
    <dgm:cxn modelId="{DE8FB0E5-5119-4F11-9CA5-53F7027362CD}" type="presParOf" srcId="{6615D652-38C8-4ECE-89BD-BBDC8CA96042}" destId="{774E963C-161D-430E-A1CD-91607AB54761}" srcOrd="8" destOrd="0" presId="urn:diagrams.loki3.com/VaryingWidth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2246C4-A468-463A-9905-58BBBFD9ACD7}">
      <dsp:nvSpPr>
        <dsp:cNvPr id="0" name=""/>
        <dsp:cNvSpPr/>
      </dsp:nvSpPr>
      <dsp:spPr>
        <a:xfrm>
          <a:off x="0" y="0"/>
          <a:ext cx="3261487" cy="790540"/>
        </a:xfrm>
        <a:prstGeom prst="roundRect">
          <a:avLst>
            <a:gd name="adj" fmla="val 10000"/>
          </a:avLst>
        </a:prstGeom>
        <a:solidFill>
          <a:schemeClr val="accent2">
            <a:hueOff val="0"/>
            <a:satOff val="0"/>
            <a:lumOff val="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smtClean="0"/>
            <a:t>Goal Formulation</a:t>
          </a:r>
          <a:endParaRPr lang="en-US" sz="2200" kern="1200" dirty="0"/>
        </a:p>
      </dsp:txBody>
      <dsp:txXfrm>
        <a:off x="23154" y="23154"/>
        <a:ext cx="2315939" cy="744232"/>
      </dsp:txXfrm>
    </dsp:sp>
    <dsp:sp modelId="{2F1DF8D6-2F6C-466A-8A8F-6ADA0DC247C5}">
      <dsp:nvSpPr>
        <dsp:cNvPr id="0" name=""/>
        <dsp:cNvSpPr/>
      </dsp:nvSpPr>
      <dsp:spPr>
        <a:xfrm>
          <a:off x="243552" y="900338"/>
          <a:ext cx="3261487" cy="790540"/>
        </a:xfrm>
        <a:prstGeom prst="roundRect">
          <a:avLst>
            <a:gd name="adj" fmla="val 10000"/>
          </a:avLst>
        </a:prstGeom>
        <a:solidFill>
          <a:schemeClr val="accent2">
            <a:hueOff val="-1434668"/>
            <a:satOff val="1269"/>
            <a:lumOff val="2255"/>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smtClean="0"/>
            <a:t>Problem Formulation</a:t>
          </a:r>
          <a:endParaRPr lang="en-US" sz="2200" kern="1200" dirty="0"/>
        </a:p>
      </dsp:txBody>
      <dsp:txXfrm>
        <a:off x="266706" y="923492"/>
        <a:ext cx="2457775" cy="744232"/>
      </dsp:txXfrm>
    </dsp:sp>
    <dsp:sp modelId="{36AAA59C-7112-4044-A6E2-3CBA85F48C0D}">
      <dsp:nvSpPr>
        <dsp:cNvPr id="0" name=""/>
        <dsp:cNvSpPr/>
      </dsp:nvSpPr>
      <dsp:spPr>
        <a:xfrm>
          <a:off x="487105" y="1800676"/>
          <a:ext cx="3261487" cy="790540"/>
        </a:xfrm>
        <a:prstGeom prst="roundRect">
          <a:avLst>
            <a:gd name="adj" fmla="val 10000"/>
          </a:avLst>
        </a:prstGeom>
        <a:solidFill>
          <a:schemeClr val="accent2">
            <a:hueOff val="-2869335"/>
            <a:satOff val="2538"/>
            <a:lumOff val="451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smtClean="0"/>
            <a:t>Search</a:t>
          </a:r>
          <a:endParaRPr lang="en-US" sz="2200" kern="1200" dirty="0"/>
        </a:p>
      </dsp:txBody>
      <dsp:txXfrm>
        <a:off x="510259" y="1823830"/>
        <a:ext cx="2457775" cy="744232"/>
      </dsp:txXfrm>
    </dsp:sp>
    <dsp:sp modelId="{758ABE40-8735-4349-B03C-02C723AA80D8}">
      <dsp:nvSpPr>
        <dsp:cNvPr id="0" name=""/>
        <dsp:cNvSpPr/>
      </dsp:nvSpPr>
      <dsp:spPr>
        <a:xfrm>
          <a:off x="730657" y="2701014"/>
          <a:ext cx="3261487" cy="790540"/>
        </a:xfrm>
        <a:prstGeom prst="roundRect">
          <a:avLst>
            <a:gd name="adj" fmla="val 10000"/>
          </a:avLst>
        </a:prstGeom>
        <a:solidFill>
          <a:schemeClr val="accent2">
            <a:hueOff val="-4304003"/>
            <a:satOff val="3808"/>
            <a:lumOff val="6765"/>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smtClean="0"/>
            <a:t>Solution</a:t>
          </a:r>
          <a:endParaRPr lang="en-US" sz="2200" kern="1200" dirty="0"/>
        </a:p>
      </dsp:txBody>
      <dsp:txXfrm>
        <a:off x="753811" y="2724168"/>
        <a:ext cx="2457775" cy="744232"/>
      </dsp:txXfrm>
    </dsp:sp>
    <dsp:sp modelId="{678EB704-D26E-4CA4-9441-57D7801F253A}">
      <dsp:nvSpPr>
        <dsp:cNvPr id="0" name=""/>
        <dsp:cNvSpPr/>
      </dsp:nvSpPr>
      <dsp:spPr>
        <a:xfrm>
          <a:off x="974210" y="3601352"/>
          <a:ext cx="3261487" cy="790540"/>
        </a:xfrm>
        <a:prstGeom prst="roundRect">
          <a:avLst>
            <a:gd name="adj" fmla="val 10000"/>
          </a:avLst>
        </a:prstGeom>
        <a:solidFill>
          <a:schemeClr val="accent2">
            <a:hueOff val="-5738671"/>
            <a:satOff val="5077"/>
            <a:lumOff val="902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dirty="0" smtClean="0"/>
            <a:t>Execution</a:t>
          </a:r>
          <a:endParaRPr lang="en-US" sz="2200" kern="1200" dirty="0"/>
        </a:p>
      </dsp:txBody>
      <dsp:txXfrm>
        <a:off x="997364" y="3624506"/>
        <a:ext cx="2457775" cy="744232"/>
      </dsp:txXfrm>
    </dsp:sp>
    <dsp:sp modelId="{99F68FA1-EE05-4945-AFDC-D60C7EE80340}">
      <dsp:nvSpPr>
        <dsp:cNvPr id="0" name=""/>
        <dsp:cNvSpPr/>
      </dsp:nvSpPr>
      <dsp:spPr>
        <a:xfrm>
          <a:off x="2747635" y="577533"/>
          <a:ext cx="513851" cy="513851"/>
        </a:xfrm>
        <a:prstGeom prst="downArrow">
          <a:avLst>
            <a:gd name="adj1" fmla="val 55000"/>
            <a:gd name="adj2" fmla="val 45000"/>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endParaRPr lang="en-US" sz="2500" kern="1200"/>
        </a:p>
      </dsp:txBody>
      <dsp:txXfrm>
        <a:off x="2863251" y="577533"/>
        <a:ext cx="282619" cy="386673"/>
      </dsp:txXfrm>
    </dsp:sp>
    <dsp:sp modelId="{AF6856B9-A154-45E4-9873-F7B9C13C0C0B}">
      <dsp:nvSpPr>
        <dsp:cNvPr id="0" name=""/>
        <dsp:cNvSpPr/>
      </dsp:nvSpPr>
      <dsp:spPr>
        <a:xfrm>
          <a:off x="2991188" y="1477871"/>
          <a:ext cx="513851" cy="513851"/>
        </a:xfrm>
        <a:prstGeom prst="downArrow">
          <a:avLst>
            <a:gd name="adj1" fmla="val 55000"/>
            <a:gd name="adj2" fmla="val 45000"/>
          </a:avLst>
        </a:prstGeom>
        <a:solidFill>
          <a:schemeClr val="accent2">
            <a:tint val="40000"/>
            <a:alpha val="90000"/>
            <a:hueOff val="-1751948"/>
            <a:satOff val="3565"/>
            <a:lumOff val="538"/>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endParaRPr lang="en-US" sz="2500" kern="1200"/>
        </a:p>
      </dsp:txBody>
      <dsp:txXfrm>
        <a:off x="3106804" y="1477871"/>
        <a:ext cx="282619" cy="386673"/>
      </dsp:txXfrm>
    </dsp:sp>
    <dsp:sp modelId="{8AFA5A30-9990-4C69-B178-A37E62922479}">
      <dsp:nvSpPr>
        <dsp:cNvPr id="0" name=""/>
        <dsp:cNvSpPr/>
      </dsp:nvSpPr>
      <dsp:spPr>
        <a:xfrm>
          <a:off x="3234741" y="2365034"/>
          <a:ext cx="513851" cy="513851"/>
        </a:xfrm>
        <a:prstGeom prst="downArrow">
          <a:avLst>
            <a:gd name="adj1" fmla="val 55000"/>
            <a:gd name="adj2" fmla="val 45000"/>
          </a:avLst>
        </a:prstGeom>
        <a:solidFill>
          <a:schemeClr val="accent2">
            <a:tint val="40000"/>
            <a:alpha val="90000"/>
            <a:hueOff val="-3503897"/>
            <a:satOff val="7131"/>
            <a:lumOff val="1075"/>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endParaRPr lang="en-US" sz="2500" kern="1200"/>
        </a:p>
      </dsp:txBody>
      <dsp:txXfrm>
        <a:off x="3350357" y="2365034"/>
        <a:ext cx="282619" cy="386673"/>
      </dsp:txXfrm>
    </dsp:sp>
    <dsp:sp modelId="{76AB386B-6DA9-4507-AA5F-3AD95FC3A647}">
      <dsp:nvSpPr>
        <dsp:cNvPr id="0" name=""/>
        <dsp:cNvSpPr/>
      </dsp:nvSpPr>
      <dsp:spPr>
        <a:xfrm>
          <a:off x="3478293" y="3274156"/>
          <a:ext cx="513851" cy="513851"/>
        </a:xfrm>
        <a:prstGeom prst="downArrow">
          <a:avLst>
            <a:gd name="adj1" fmla="val 55000"/>
            <a:gd name="adj2" fmla="val 45000"/>
          </a:avLst>
        </a:prstGeom>
        <a:solidFill>
          <a:schemeClr val="accent2">
            <a:tint val="40000"/>
            <a:alpha val="90000"/>
            <a:hueOff val="-5255845"/>
            <a:satOff val="10696"/>
            <a:lumOff val="1613"/>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endParaRPr lang="en-US" sz="2500" kern="1200"/>
        </a:p>
      </dsp:txBody>
      <dsp:txXfrm>
        <a:off x="3593909" y="3274156"/>
        <a:ext cx="282619" cy="3866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47EFE7-B3DC-4A93-88D3-980B43C67DAE}">
      <dsp:nvSpPr>
        <dsp:cNvPr id="0" name=""/>
        <dsp:cNvSpPr/>
      </dsp:nvSpPr>
      <dsp:spPr>
        <a:xfrm>
          <a:off x="0" y="0"/>
          <a:ext cx="3074318" cy="85350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b="1" kern="1200" dirty="0" smtClean="0"/>
            <a:t>Limiting the objectives of the Current State </a:t>
          </a:r>
          <a:endParaRPr lang="en-US" sz="1800" b="1" kern="1200" dirty="0"/>
        </a:p>
      </dsp:txBody>
      <dsp:txXfrm>
        <a:off x="0" y="0"/>
        <a:ext cx="3074318" cy="853502"/>
      </dsp:txXfrm>
    </dsp:sp>
    <dsp:sp modelId="{4F3F5C50-8244-4D56-9BA7-CA06F83F5A91}">
      <dsp:nvSpPr>
        <dsp:cNvPr id="0" name=""/>
        <dsp:cNvSpPr/>
      </dsp:nvSpPr>
      <dsp:spPr>
        <a:xfrm>
          <a:off x="0" y="897598"/>
          <a:ext cx="3074318" cy="804340"/>
        </a:xfrm>
        <a:prstGeom prst="rect">
          <a:avLst/>
        </a:prstGeom>
        <a:solidFill>
          <a:schemeClr val="accent2">
            <a:hueOff val="-1434668"/>
            <a:satOff val="1269"/>
            <a:lumOff val="225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b="1" kern="1200" dirty="0" smtClean="0"/>
            <a:t>Actions and States</a:t>
          </a:r>
          <a:endParaRPr lang="en-US" sz="1800" b="1" kern="1200" dirty="0"/>
        </a:p>
      </dsp:txBody>
      <dsp:txXfrm>
        <a:off x="0" y="897598"/>
        <a:ext cx="3074318" cy="804340"/>
      </dsp:txXfrm>
    </dsp:sp>
    <dsp:sp modelId="{489834D2-D5C7-4837-AE29-B9E578B85DBA}">
      <dsp:nvSpPr>
        <dsp:cNvPr id="0" name=""/>
        <dsp:cNvSpPr/>
      </dsp:nvSpPr>
      <dsp:spPr>
        <a:xfrm>
          <a:off x="0" y="1744614"/>
          <a:ext cx="3074318" cy="853502"/>
        </a:xfrm>
        <a:prstGeom prst="rect">
          <a:avLst/>
        </a:prstGeom>
        <a:solidFill>
          <a:schemeClr val="accent2">
            <a:hueOff val="-2869335"/>
            <a:satOff val="2538"/>
            <a:lumOff val="451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b="1" kern="1200" dirty="0" smtClean="0"/>
            <a:t>Looking for Sequence of Actions</a:t>
          </a:r>
          <a:endParaRPr lang="en-US" sz="1800" b="1" kern="1200" dirty="0"/>
        </a:p>
      </dsp:txBody>
      <dsp:txXfrm>
        <a:off x="0" y="1744614"/>
        <a:ext cx="3074318" cy="853502"/>
      </dsp:txXfrm>
    </dsp:sp>
    <dsp:sp modelId="{03013F2A-8128-4E1B-B0C2-5C0E58413E61}">
      <dsp:nvSpPr>
        <dsp:cNvPr id="0" name=""/>
        <dsp:cNvSpPr/>
      </dsp:nvSpPr>
      <dsp:spPr>
        <a:xfrm>
          <a:off x="0" y="2640792"/>
          <a:ext cx="3074318" cy="853502"/>
        </a:xfrm>
        <a:prstGeom prst="rect">
          <a:avLst/>
        </a:prstGeom>
        <a:solidFill>
          <a:schemeClr val="accent2">
            <a:hueOff val="-4304003"/>
            <a:satOff val="3808"/>
            <a:lumOff val="6765"/>
            <a:alphaOff val="0"/>
          </a:schemeClr>
        </a:solidFill>
        <a:ln w="15875" cap="flat" cmpd="sng" algn="ctr">
          <a:noFill/>
          <a:prstDash val="solid"/>
        </a:ln>
        <a:effectLst/>
        <a:scene3d>
          <a:camera prst="orthographicFront">
            <a:rot lat="0" lon="0" rev="0"/>
          </a:camera>
          <a:lightRig rig="contrasting" dir="t">
            <a:rot lat="0" lon="0" rev="7800000"/>
          </a:lightRig>
        </a:scene3d>
        <a:sp3d>
          <a:bevelT w="139700" h="139700"/>
        </a:sp3d>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b="1" kern="1200" dirty="0" smtClean="0"/>
            <a:t>Search Algorithms</a:t>
          </a:r>
        </a:p>
        <a:p>
          <a:pPr lvl="0" algn="ctr" defTabSz="800100">
            <a:lnSpc>
              <a:spcPct val="90000"/>
            </a:lnSpc>
            <a:spcBef>
              <a:spcPct val="0"/>
            </a:spcBef>
            <a:spcAft>
              <a:spcPct val="35000"/>
            </a:spcAft>
          </a:pPr>
          <a:r>
            <a:rPr lang="en-US" sz="1800" b="1" i="1" kern="1200" dirty="0" smtClean="0"/>
            <a:t>Takes a problem as input and returns a </a:t>
          </a:r>
          <a:r>
            <a:rPr lang="en-US" sz="1800" b="1" i="0" kern="1200" dirty="0" smtClean="0"/>
            <a:t>solution</a:t>
          </a:r>
          <a:endParaRPr lang="en-US" sz="1800" b="1" i="1" kern="1200" dirty="0"/>
        </a:p>
      </dsp:txBody>
      <dsp:txXfrm>
        <a:off x="0" y="2640792"/>
        <a:ext cx="3074318" cy="853502"/>
      </dsp:txXfrm>
    </dsp:sp>
    <dsp:sp modelId="{774E963C-161D-430E-A1CD-91607AB54761}">
      <dsp:nvSpPr>
        <dsp:cNvPr id="0" name=""/>
        <dsp:cNvSpPr/>
      </dsp:nvSpPr>
      <dsp:spPr>
        <a:xfrm>
          <a:off x="0" y="3538390"/>
          <a:ext cx="3074318" cy="853502"/>
        </a:xfrm>
        <a:prstGeom prst="rect">
          <a:avLst/>
        </a:prstGeom>
        <a:solidFill>
          <a:schemeClr val="accent2">
            <a:hueOff val="-5738671"/>
            <a:satOff val="5077"/>
            <a:lumOff val="902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Once a solution is found, the actions it recommends are carried out  </a:t>
          </a:r>
          <a:endParaRPr lang="en-US" sz="1800" b="1" kern="1200" dirty="0"/>
        </a:p>
      </dsp:txBody>
      <dsp:txXfrm>
        <a:off x="0" y="3538390"/>
        <a:ext cx="3074318" cy="85350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B0C445-4190-4B2E-A02A-4B513C2C0895}" type="datetimeFigureOut">
              <a:rPr lang="en-GB" smtClean="0"/>
              <a:pPr/>
              <a:t>23/Apr/21</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308C1A-682D-484E-9FA1-C724AB61AC34}"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varsitytutors.com/hotmath/hotmath_help/topics/sets.htm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Imagine you’re in a foreign city, at some address (say a hotel) and want to use public transport to get to another address (a nice restaurant, perhaps). What do you do? If you are like many people, you pull out your smartphone, type in the destination and start following the instructions.</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a:t>
            </a:fld>
            <a:endParaRPr lang="en-GB"/>
          </a:p>
        </p:txBody>
      </p:sp>
    </p:spTree>
    <p:extLst>
      <p:ext uri="{BB962C8B-B14F-4D97-AF65-F5344CB8AC3E}">
        <p14:creationId xmlns:p14="http://schemas.microsoft.com/office/powerpoint/2010/main" val="1944920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question </a:t>
            </a:r>
            <a:r>
              <a:rPr lang="en-US" b="1" dirty="0" smtClean="0"/>
              <a:t>belongs to the class of search and planning </a:t>
            </a:r>
            <a:r>
              <a:rPr lang="en-US" b="1" dirty="0" smtClean="0"/>
              <a:t>problems</a:t>
            </a:r>
            <a:r>
              <a:rPr lang="en-US" b="1" dirty="0" smtClean="0"/>
              <a:t>. </a:t>
            </a:r>
            <a:endParaRPr lang="en-US" b="1"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Similar </a:t>
            </a:r>
            <a:r>
              <a:rPr lang="en-US" dirty="0" smtClean="0"/>
              <a:t>problems need to be solved by self-driving cars, and (perhaps less obviously) AI for playing games. </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In </a:t>
            </a:r>
            <a:r>
              <a:rPr lang="en-US" dirty="0" smtClean="0"/>
              <a:t>the game of chess, for example, the difficulty is not so much in getting a piece from A to B as keeping your pieces safe from the opponent.</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3</a:t>
            </a:fld>
            <a:endParaRPr lang="en-GB"/>
          </a:p>
        </p:txBody>
      </p:sp>
    </p:spTree>
    <p:extLst>
      <p:ext uri="{BB962C8B-B14F-4D97-AF65-F5344CB8AC3E}">
        <p14:creationId xmlns:p14="http://schemas.microsoft.com/office/powerpoint/2010/main" val="175746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Often there are </a:t>
            </a:r>
            <a:r>
              <a:rPr lang="en-US" b="1" dirty="0" smtClean="0"/>
              <a:t>many different ways to solve the problem</a:t>
            </a:r>
            <a:r>
              <a:rPr lang="en-US" dirty="0" smtClean="0"/>
              <a:t>, some of which may be more preferable in terms of </a:t>
            </a:r>
            <a:r>
              <a:rPr lang="en-US" b="1" dirty="0" smtClean="0"/>
              <a:t>time, effort, cost or other criteria</a:t>
            </a:r>
            <a:r>
              <a:rPr lang="en-US" dirty="0" smtClean="0"/>
              <a:t>. Different </a:t>
            </a:r>
            <a:r>
              <a:rPr lang="en-US" b="1" dirty="0" smtClean="0"/>
              <a:t>search techniques may lead to different solutions</a:t>
            </a:r>
            <a:r>
              <a:rPr lang="en-US" dirty="0" smtClean="0"/>
              <a:t>, and </a:t>
            </a:r>
            <a:r>
              <a:rPr lang="en-US" b="1" dirty="0" smtClean="0"/>
              <a:t>developing advanced search algorithms </a:t>
            </a:r>
            <a:r>
              <a:rPr lang="en-US" dirty="0" smtClean="0"/>
              <a:t>is an established research area.</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4</a:t>
            </a:fld>
            <a:endParaRPr lang="en-GB"/>
          </a:p>
        </p:txBody>
      </p:sp>
    </p:spTree>
    <p:extLst>
      <p:ext uri="{BB962C8B-B14F-4D97-AF65-F5344CB8AC3E}">
        <p14:creationId xmlns:p14="http://schemas.microsoft.com/office/powerpoint/2010/main" val="1909093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chapter describes one kind of goal-based agent called a </a:t>
            </a:r>
            <a:r>
              <a:rPr lang="en-US" b="1" dirty="0" smtClean="0"/>
              <a:t>problem-solving agent</a:t>
            </a:r>
            <a:r>
              <a:rPr lang="en-US" dirty="0" smtClean="0"/>
              <a:t>. </a:t>
            </a:r>
            <a:r>
              <a:rPr lang="en-US" dirty="0" smtClean="0"/>
              <a:t> You</a:t>
            </a:r>
            <a:r>
              <a:rPr lang="en-US" baseline="0" dirty="0" smtClean="0"/>
              <a:t> will remember from the previous chapter that </a:t>
            </a:r>
            <a:r>
              <a:rPr lang="en-GB" sz="1200" b="1" u="sng" dirty="0" smtClean="0">
                <a:solidFill>
                  <a:srgbClr val="FF0000"/>
                </a:solidFill>
                <a:latin typeface="+mn-lt"/>
                <a:cs typeface="Arial" charset="0"/>
              </a:rPr>
              <a:t>An agent</a:t>
            </a:r>
            <a:r>
              <a:rPr lang="en-GB" sz="1200" b="1" u="sng" dirty="0" smtClean="0">
                <a:latin typeface="+mn-lt"/>
                <a:cs typeface="Arial" charset="0"/>
              </a:rPr>
              <a:t> </a:t>
            </a:r>
            <a:r>
              <a:rPr lang="en-GB" sz="1200" u="sng" dirty="0" smtClean="0">
                <a:latin typeface="+mn-lt"/>
                <a:cs typeface="Arial" charset="0"/>
              </a:rPr>
              <a:t>is anything that can be viewed as perceiving its environment through sensors and acting upon that environment through actuators.</a:t>
            </a:r>
          </a:p>
          <a:p>
            <a:endParaRPr lang="en-US"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Problem-solving agents use </a:t>
            </a:r>
            <a:r>
              <a:rPr lang="en-US" b="1" dirty="0" smtClean="0"/>
              <a:t>atomic </a:t>
            </a:r>
            <a:r>
              <a:rPr lang="en-US" dirty="0" smtClean="0"/>
              <a:t>representations states of the world </a:t>
            </a:r>
            <a:r>
              <a:rPr lang="en-US" dirty="0" smtClean="0"/>
              <a:t>that are </a:t>
            </a:r>
            <a:r>
              <a:rPr lang="en-US" dirty="0" smtClean="0"/>
              <a:t>considered as wholes, with no internal structure visible to the problem solving </a:t>
            </a:r>
            <a:r>
              <a:rPr lang="en-GB" dirty="0" smtClean="0"/>
              <a:t>algorithms</a:t>
            </a:r>
            <a:r>
              <a:rPr lang="en-GB"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smtClean="0"/>
              <a:t> An algorithm  is a</a:t>
            </a:r>
            <a:r>
              <a:rPr lang="en-US" sz="1200" b="0" i="1" kern="1200" dirty="0" smtClean="0">
                <a:solidFill>
                  <a:schemeClr val="tx1"/>
                </a:solidFill>
                <a:effectLst/>
                <a:latin typeface="+mn-lt"/>
                <a:ea typeface="+mn-ea"/>
                <a:cs typeface="+mn-cs"/>
              </a:rPr>
              <a:t> process or set of rules to be followed in calculations or other problem-solving operations, especially by a computer. /</a:t>
            </a:r>
            <a:r>
              <a:rPr lang="en-US" sz="1200" b="0" i="1" kern="1200" baseline="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An </a:t>
            </a:r>
            <a:r>
              <a:rPr lang="en-US" sz="1200" b="1" i="1" kern="1200" dirty="0" smtClean="0">
                <a:solidFill>
                  <a:schemeClr val="tx1"/>
                </a:solidFill>
                <a:effectLst/>
                <a:latin typeface="+mn-lt"/>
                <a:ea typeface="+mn-ea"/>
                <a:cs typeface="+mn-cs"/>
              </a:rPr>
              <a:t>algorithm</a:t>
            </a:r>
            <a:r>
              <a:rPr lang="en-US" sz="1200" b="0" i="1" kern="1200" dirty="0" smtClean="0">
                <a:solidFill>
                  <a:schemeClr val="tx1"/>
                </a:solidFill>
                <a:effectLst/>
                <a:latin typeface="+mn-lt"/>
                <a:ea typeface="+mn-ea"/>
                <a:cs typeface="+mn-cs"/>
              </a:rPr>
              <a:t> is a specific procedure for solving a well-defined computational problem. The development and analysis of </a:t>
            </a:r>
            <a:r>
              <a:rPr lang="en-US" sz="1200" b="1" i="1" kern="1200" dirty="0" smtClean="0">
                <a:solidFill>
                  <a:schemeClr val="tx1"/>
                </a:solidFill>
                <a:effectLst/>
                <a:latin typeface="+mn-lt"/>
                <a:ea typeface="+mn-ea"/>
                <a:cs typeface="+mn-cs"/>
              </a:rPr>
              <a:t>algorithms</a:t>
            </a:r>
            <a:r>
              <a:rPr lang="en-US" sz="1200" b="0" i="1" kern="1200" dirty="0" smtClean="0">
                <a:solidFill>
                  <a:schemeClr val="tx1"/>
                </a:solidFill>
                <a:effectLst/>
                <a:latin typeface="+mn-lt"/>
                <a:ea typeface="+mn-ea"/>
                <a:cs typeface="+mn-cs"/>
              </a:rPr>
              <a:t> is fundamental to all aspects of </a:t>
            </a:r>
            <a:r>
              <a:rPr lang="en-US" sz="1200" b="1" i="1" kern="1200" dirty="0" smtClean="0">
                <a:solidFill>
                  <a:schemeClr val="tx1"/>
                </a:solidFill>
                <a:effectLst/>
                <a:latin typeface="+mn-lt"/>
                <a:ea typeface="+mn-ea"/>
                <a:cs typeface="+mn-cs"/>
              </a:rPr>
              <a:t>computer science</a:t>
            </a:r>
            <a:r>
              <a:rPr lang="en-US" sz="1200" b="0" i="1" kern="1200" dirty="0" smtClean="0">
                <a:solidFill>
                  <a:schemeClr val="tx1"/>
                </a:solidFill>
                <a:effectLst/>
                <a:latin typeface="+mn-lt"/>
                <a:ea typeface="+mn-ea"/>
                <a:cs typeface="+mn-cs"/>
              </a:rPr>
              <a:t>: artificial intelligence, databases, graphics, networking, operating systems, security, and so 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Goal-based agents that use more advanced </a:t>
            </a:r>
            <a:r>
              <a:rPr lang="en-US" sz="1200" b="1" i="0" u="none" strike="noStrike" kern="1200" baseline="0" dirty="0" smtClean="0">
                <a:solidFill>
                  <a:schemeClr val="tx1"/>
                </a:solidFill>
                <a:latin typeface="+mn-lt"/>
                <a:ea typeface="+mn-ea"/>
                <a:cs typeface="+mn-cs"/>
              </a:rPr>
              <a:t>factored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structured </a:t>
            </a:r>
            <a:r>
              <a:rPr lang="en-US" sz="1200" b="0" i="0" u="none" strike="noStrike" kern="1200" baseline="0" dirty="0" smtClean="0">
                <a:solidFill>
                  <a:schemeClr val="tx1"/>
                </a:solidFill>
                <a:latin typeface="+mn-lt"/>
                <a:ea typeface="+mn-ea"/>
                <a:cs typeface="+mn-cs"/>
              </a:rPr>
              <a:t>representations are usually called </a:t>
            </a:r>
            <a:r>
              <a:rPr lang="en-US" sz="1200" b="1" i="0" u="none" strike="noStrike" kern="1200" baseline="0" dirty="0" smtClean="0">
                <a:solidFill>
                  <a:schemeClr val="tx1"/>
                </a:solidFill>
                <a:latin typeface="+mn-lt"/>
                <a:ea typeface="+mn-ea"/>
                <a:cs typeface="+mn-cs"/>
              </a:rPr>
              <a:t>planning agents.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sz="1200" b="0" i="0" u="none" strike="noStrike" kern="1200" baseline="0" dirty="0" smtClean="0">
                <a:solidFill>
                  <a:schemeClr val="tx1"/>
                </a:solidFill>
                <a:latin typeface="+mn-lt"/>
                <a:ea typeface="+mn-ea"/>
                <a:cs typeface="+mn-cs"/>
              </a:rPr>
              <a:t>The </a:t>
            </a:r>
            <a:r>
              <a:rPr lang="en-US" sz="1200" b="0" i="0" u="none" strike="noStrike" kern="1200" baseline="0" dirty="0" smtClean="0">
                <a:solidFill>
                  <a:schemeClr val="tx1"/>
                </a:solidFill>
                <a:latin typeface="+mn-lt"/>
                <a:ea typeface="+mn-ea"/>
                <a:cs typeface="+mn-cs"/>
              </a:rPr>
              <a:t>discussion of problem solving begins with precise definitions of </a:t>
            </a:r>
            <a:r>
              <a:rPr lang="en-US" sz="1200" b="1" i="0" u="none" strike="noStrike" kern="1200" baseline="0" dirty="0" smtClean="0">
                <a:solidFill>
                  <a:schemeClr val="tx1"/>
                </a:solidFill>
                <a:latin typeface="+mn-lt"/>
                <a:ea typeface="+mn-ea"/>
                <a:cs typeface="+mn-cs"/>
              </a:rPr>
              <a:t>problems </a:t>
            </a:r>
            <a:r>
              <a:rPr lang="en-US" sz="1200" b="0" i="0" u="none" strike="noStrike" kern="1200" baseline="0" dirty="0" smtClean="0">
                <a:solidFill>
                  <a:schemeClr val="tx1"/>
                </a:solidFill>
                <a:latin typeface="+mn-lt"/>
                <a:ea typeface="+mn-ea"/>
                <a:cs typeface="+mn-cs"/>
              </a:rPr>
              <a:t>and </a:t>
            </a:r>
            <a:r>
              <a:rPr lang="en-US" sz="1200" b="0" i="0" u="none" strike="noStrike" kern="1200" baseline="0" dirty="0" smtClean="0">
                <a:solidFill>
                  <a:schemeClr val="tx1"/>
                </a:solidFill>
                <a:latin typeface="+mn-lt"/>
                <a:ea typeface="+mn-ea"/>
                <a:cs typeface="+mn-cs"/>
              </a:rPr>
              <a:t>their </a:t>
            </a:r>
            <a:r>
              <a:rPr lang="en-US" sz="1200" b="1" i="0" u="none" strike="noStrike" kern="1200" baseline="0" dirty="0" smtClean="0">
                <a:solidFill>
                  <a:schemeClr val="tx1"/>
                </a:solidFill>
                <a:latin typeface="+mn-lt"/>
                <a:ea typeface="+mn-ea"/>
                <a:cs typeface="+mn-cs"/>
              </a:rPr>
              <a:t>solutions </a:t>
            </a:r>
            <a:r>
              <a:rPr lang="en-US" sz="1200" b="0" i="0" u="none" strike="noStrike" kern="1200" baseline="0" dirty="0" smtClean="0">
                <a:solidFill>
                  <a:schemeClr val="tx1"/>
                </a:solidFill>
                <a:latin typeface="+mn-lt"/>
                <a:ea typeface="+mn-ea"/>
                <a:cs typeface="+mn-cs"/>
              </a:rPr>
              <a:t>and give several examples to illustrate these definitions. We then describe </a:t>
            </a:r>
            <a:r>
              <a:rPr lang="en-US" sz="1200" b="0" i="0" u="none" strike="noStrike" kern="1200" baseline="0" dirty="0" smtClean="0">
                <a:solidFill>
                  <a:schemeClr val="tx1"/>
                </a:solidFill>
                <a:latin typeface="+mn-lt"/>
                <a:ea typeface="+mn-ea"/>
                <a:cs typeface="+mn-cs"/>
              </a:rPr>
              <a:t>several general-purpose </a:t>
            </a:r>
            <a:r>
              <a:rPr lang="en-US" sz="1200" b="0" i="0" u="none" strike="noStrike" kern="1200" baseline="0" dirty="0" smtClean="0">
                <a:solidFill>
                  <a:schemeClr val="tx1"/>
                </a:solidFill>
                <a:latin typeface="+mn-lt"/>
                <a:ea typeface="+mn-ea"/>
                <a:cs typeface="+mn-cs"/>
              </a:rPr>
              <a:t>search algorithms that can be used to solve these problems. We will </a:t>
            </a:r>
            <a:r>
              <a:rPr lang="en-US" sz="1200" b="0" i="0" u="none" strike="noStrike" kern="1200" baseline="0" dirty="0" smtClean="0">
                <a:solidFill>
                  <a:schemeClr val="tx1"/>
                </a:solidFill>
                <a:latin typeface="+mn-lt"/>
                <a:ea typeface="+mn-ea"/>
                <a:cs typeface="+mn-cs"/>
              </a:rPr>
              <a:t>see several </a:t>
            </a:r>
            <a:r>
              <a:rPr lang="en-US" sz="1200" b="1" i="0" u="none" strike="noStrike" kern="1200" baseline="0" dirty="0" smtClean="0">
                <a:solidFill>
                  <a:schemeClr val="tx1"/>
                </a:solidFill>
                <a:latin typeface="+mn-lt"/>
                <a:ea typeface="+mn-ea"/>
                <a:cs typeface="+mn-cs"/>
              </a:rPr>
              <a:t>uninformed </a:t>
            </a:r>
            <a:r>
              <a:rPr lang="en-US" sz="1200" b="0" i="0" u="none" strike="noStrike" kern="1200" baseline="0" dirty="0" smtClean="0">
                <a:solidFill>
                  <a:schemeClr val="tx1"/>
                </a:solidFill>
                <a:latin typeface="+mn-lt"/>
                <a:ea typeface="+mn-ea"/>
                <a:cs typeface="+mn-cs"/>
              </a:rPr>
              <a:t>search algorithms—algorithms that are given no information about </a:t>
            </a:r>
            <a:r>
              <a:rPr lang="en-US" sz="1200" b="0" i="0" u="none" strike="noStrike" kern="1200" baseline="0" dirty="0" smtClean="0">
                <a:solidFill>
                  <a:schemeClr val="tx1"/>
                </a:solidFill>
                <a:latin typeface="+mn-lt"/>
                <a:ea typeface="+mn-ea"/>
                <a:cs typeface="+mn-cs"/>
              </a:rPr>
              <a:t>the problem </a:t>
            </a:r>
            <a:r>
              <a:rPr lang="en-US" sz="1200" b="0" i="0" u="none" strike="noStrike" kern="1200" baseline="0" dirty="0" smtClean="0">
                <a:solidFill>
                  <a:schemeClr val="tx1"/>
                </a:solidFill>
                <a:latin typeface="+mn-lt"/>
                <a:ea typeface="+mn-ea"/>
                <a:cs typeface="+mn-cs"/>
              </a:rPr>
              <a:t>other than its definition.</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5</a:t>
            </a:fld>
            <a:endParaRPr lang="en-GB"/>
          </a:p>
        </p:txBody>
      </p:sp>
    </p:spTree>
    <p:extLst>
      <p:ext uri="{BB962C8B-B14F-4D97-AF65-F5344CB8AC3E}">
        <p14:creationId xmlns:p14="http://schemas.microsoft.com/office/powerpoint/2010/main" val="2417532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u="none" strike="noStrike" kern="1200" baseline="0" dirty="0" smtClean="0">
                <a:solidFill>
                  <a:schemeClr val="tx1"/>
                </a:solidFill>
                <a:latin typeface="+mn-lt"/>
                <a:ea typeface="+mn-ea"/>
                <a:cs typeface="+mn-cs"/>
              </a:rPr>
              <a:t>Imagine an agent in the city of Arad, Romania, enjoying a touring holiday. </a:t>
            </a:r>
            <a:r>
              <a:rPr lang="en-US" sz="1200" b="0" i="0" u="none" strike="noStrike" kern="1200" baseline="0" dirty="0" smtClean="0">
                <a:solidFill>
                  <a:schemeClr val="tx1"/>
                </a:solidFill>
                <a:latin typeface="+mn-lt"/>
                <a:ea typeface="+mn-ea"/>
                <a:cs typeface="+mn-cs"/>
              </a:rPr>
              <a:t> (Or perhaps  another city in a different country lets Rome in Italy.) </a:t>
            </a:r>
            <a:r>
              <a:rPr lang="en-US" sz="1200" b="1" i="0" u="none" strike="noStrike" kern="1200" baseline="0" dirty="0" smtClean="0">
                <a:solidFill>
                  <a:schemeClr val="tx1"/>
                </a:solidFill>
                <a:latin typeface="+mn-lt"/>
                <a:ea typeface="+mn-ea"/>
                <a:cs typeface="+mn-cs"/>
              </a:rPr>
              <a:t>The agent’s performance measure contains many factors: it wants to improve its suntan, improve its local language skills such as  Romanian in Romania (or Italian in Italy), take in the sights, enjoy the nightlife (such as it is), avoid hangovers, </a:t>
            </a:r>
            <a:r>
              <a:rPr lang="en-US" sz="1200" b="0" i="0" u="none" strike="noStrike" kern="1200" baseline="0" dirty="0" smtClean="0">
                <a:solidFill>
                  <a:schemeClr val="tx1"/>
                </a:solidFill>
                <a:latin typeface="+mn-lt"/>
                <a:ea typeface="+mn-ea"/>
                <a:cs typeface="+mn-cs"/>
              </a:rPr>
              <a:t>and so on.  </a:t>
            </a:r>
            <a:r>
              <a:rPr lang="en-US" sz="1200" b="1" i="0" u="none" strike="noStrike" kern="1200" baseline="0" dirty="0" smtClean="0">
                <a:solidFill>
                  <a:schemeClr val="tx1"/>
                </a:solidFill>
                <a:latin typeface="+mn-lt"/>
                <a:ea typeface="+mn-ea"/>
                <a:cs typeface="+mn-cs"/>
              </a:rPr>
              <a:t>The decision </a:t>
            </a:r>
            <a:r>
              <a:rPr lang="en-US" sz="1200" b="1" i="0" u="none" strike="noStrike" kern="1200" baseline="0" dirty="0" smtClean="0">
                <a:solidFill>
                  <a:schemeClr val="tx1"/>
                </a:solidFill>
                <a:latin typeface="+mn-lt"/>
                <a:ea typeface="+mn-ea"/>
                <a:cs typeface="+mn-cs"/>
              </a:rPr>
              <a:t>problem is a complex one involving many tradeoffs and careful </a:t>
            </a:r>
            <a:r>
              <a:rPr lang="en-US" sz="1200" b="0" i="0" u="none" strike="noStrike" kern="1200" baseline="0" dirty="0" smtClean="0">
                <a:solidFill>
                  <a:schemeClr val="tx1"/>
                </a:solidFill>
                <a:latin typeface="+mn-lt"/>
                <a:ea typeface="+mn-ea"/>
                <a:cs typeface="+mn-cs"/>
              </a:rPr>
              <a:t>reading of guidebooks</a:t>
            </a:r>
            <a:r>
              <a:rPr lang="en-US" sz="1200" b="0" i="0" u="none" strike="noStrike" kern="1200" baseline="0" dirty="0" smtClean="0">
                <a:solidFill>
                  <a:schemeClr val="tx1"/>
                </a:solidFill>
                <a:latin typeface="+mn-lt"/>
                <a:ea typeface="+mn-ea"/>
                <a:cs typeface="+mn-cs"/>
              </a:rPr>
              <a:t>.</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Now, suppose the agent has a nonrefundable ticket to fly out of Bucharest the </a:t>
            </a:r>
            <a:r>
              <a:rPr lang="en-US" sz="1200" b="0" i="0" u="none" strike="noStrike" kern="1200" baseline="0" dirty="0" smtClean="0">
                <a:solidFill>
                  <a:schemeClr val="tx1"/>
                </a:solidFill>
                <a:latin typeface="+mn-lt"/>
                <a:ea typeface="+mn-ea"/>
                <a:cs typeface="+mn-cs"/>
              </a:rPr>
              <a:t>following day</a:t>
            </a:r>
            <a:r>
              <a:rPr lang="en-US" sz="1200" b="0" i="0" u="none" strike="noStrike" kern="1200" baseline="0" dirty="0" smtClean="0">
                <a:solidFill>
                  <a:schemeClr val="tx1"/>
                </a:solidFill>
                <a:latin typeface="+mn-lt"/>
                <a:ea typeface="+mn-ea"/>
                <a:cs typeface="+mn-cs"/>
              </a:rPr>
              <a:t>. In that case, it makes sense for the agent to adopt the </a:t>
            </a:r>
            <a:r>
              <a:rPr lang="en-US" sz="1200" b="1" i="0" u="none" strike="noStrike" kern="1200" baseline="0" dirty="0" smtClean="0">
                <a:solidFill>
                  <a:schemeClr val="tx1"/>
                </a:solidFill>
                <a:latin typeface="+mn-lt"/>
                <a:ea typeface="+mn-ea"/>
                <a:cs typeface="+mn-cs"/>
              </a:rPr>
              <a:t>goal </a:t>
            </a:r>
            <a:r>
              <a:rPr lang="en-US" sz="1200" b="0" i="0" u="none" strike="noStrike" kern="1200" baseline="0" dirty="0" smtClean="0">
                <a:solidFill>
                  <a:schemeClr val="tx1"/>
                </a:solidFill>
                <a:latin typeface="+mn-lt"/>
                <a:ea typeface="+mn-ea"/>
                <a:cs typeface="+mn-cs"/>
              </a:rPr>
              <a:t>of getting to Bucharest</a:t>
            </a:r>
            <a:r>
              <a:rPr lang="en-US" sz="1200" b="0" i="0" u="none" strike="noStrike" kern="1200" baseline="0" dirty="0" smtClean="0">
                <a:solidFill>
                  <a:schemeClr val="tx1"/>
                </a:solidFill>
                <a:latin typeface="+mn-lt"/>
                <a:ea typeface="+mn-ea"/>
                <a:cs typeface="+mn-cs"/>
              </a:rPr>
              <a:t>. Courses </a:t>
            </a:r>
            <a:r>
              <a:rPr lang="en-US" sz="1200" b="0" i="0" u="none" strike="noStrike" kern="1200" baseline="0" dirty="0" smtClean="0">
                <a:solidFill>
                  <a:schemeClr val="tx1"/>
                </a:solidFill>
                <a:latin typeface="+mn-lt"/>
                <a:ea typeface="+mn-ea"/>
                <a:cs typeface="+mn-cs"/>
              </a:rPr>
              <a:t>of action that don’t reach Bucharest on time can be rejected without further </a:t>
            </a:r>
            <a:r>
              <a:rPr lang="en-US" sz="1200" b="0" i="0" u="none" strike="noStrike" kern="1200" baseline="0" dirty="0" smtClean="0">
                <a:solidFill>
                  <a:schemeClr val="tx1"/>
                </a:solidFill>
                <a:latin typeface="+mn-lt"/>
                <a:ea typeface="+mn-ea"/>
                <a:cs typeface="+mn-cs"/>
              </a:rPr>
              <a:t>consideration and </a:t>
            </a:r>
            <a:r>
              <a:rPr lang="en-US" sz="1200" b="0" i="0" u="none" strike="noStrike" kern="1200" baseline="0" dirty="0" smtClean="0">
                <a:solidFill>
                  <a:schemeClr val="tx1"/>
                </a:solidFill>
                <a:latin typeface="+mn-lt"/>
                <a:ea typeface="+mn-ea"/>
                <a:cs typeface="+mn-cs"/>
              </a:rPr>
              <a:t>the agent’s decision problem is greatly simplified. </a:t>
            </a:r>
            <a:endParaRPr lang="en-US" sz="1200" b="0" i="0" u="none" strike="noStrike" kern="1200" baseline="0" dirty="0" smtClean="0">
              <a:solidFill>
                <a:schemeClr val="tx1"/>
              </a:solidFill>
              <a:latin typeface="+mn-lt"/>
              <a:ea typeface="+mn-ea"/>
              <a:cs typeface="+mn-cs"/>
            </a:endParaRPr>
          </a:p>
          <a:p>
            <a:r>
              <a:rPr lang="en-US" sz="1200" b="1" i="1" u="none" strike="noStrike" kern="1200" baseline="0" dirty="0" smtClean="0">
                <a:solidFill>
                  <a:schemeClr val="tx1"/>
                </a:solidFill>
                <a:latin typeface="+mn-lt"/>
                <a:ea typeface="+mn-ea"/>
                <a:cs typeface="+mn-cs"/>
              </a:rPr>
              <a:t>Goals </a:t>
            </a:r>
            <a:r>
              <a:rPr lang="en-US" sz="1200" b="1" i="1" u="none" strike="noStrike" kern="1200" baseline="0" dirty="0" smtClean="0">
                <a:solidFill>
                  <a:schemeClr val="tx1"/>
                </a:solidFill>
                <a:latin typeface="+mn-lt"/>
                <a:ea typeface="+mn-ea"/>
                <a:cs typeface="+mn-cs"/>
              </a:rPr>
              <a:t>help organize </a:t>
            </a:r>
            <a:r>
              <a:rPr lang="en-US" sz="1200" b="1" i="1" u="none" strike="noStrike" kern="1200" baseline="0" dirty="0" smtClean="0">
                <a:solidFill>
                  <a:schemeClr val="tx1"/>
                </a:solidFill>
                <a:latin typeface="+mn-lt"/>
                <a:ea typeface="+mn-ea"/>
                <a:cs typeface="+mn-cs"/>
              </a:rPr>
              <a:t>behavior by </a:t>
            </a:r>
            <a:r>
              <a:rPr lang="en-US" sz="1200" b="1" i="1" u="none" strike="noStrike" kern="1200" baseline="0" dirty="0" smtClean="0">
                <a:solidFill>
                  <a:schemeClr val="tx1"/>
                </a:solidFill>
                <a:latin typeface="+mn-lt"/>
                <a:ea typeface="+mn-ea"/>
                <a:cs typeface="+mn-cs"/>
              </a:rPr>
              <a:t>limiting the objectives that the agent is trying to achieve and hence the actions it needs</a:t>
            </a:r>
          </a:p>
          <a:p>
            <a:r>
              <a:rPr lang="en-US" sz="1200" b="1" i="1" u="none" strike="noStrike" kern="1200" baseline="0" dirty="0" smtClean="0">
                <a:solidFill>
                  <a:schemeClr val="tx1"/>
                </a:solidFill>
                <a:latin typeface="+mn-lt"/>
                <a:ea typeface="+mn-ea"/>
                <a:cs typeface="+mn-cs"/>
              </a:rPr>
              <a:t>to consider. </a:t>
            </a:r>
          </a:p>
          <a:p>
            <a:endParaRPr lang="en-US" sz="1200" b="1" i="1"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Goal formulation</a:t>
            </a:r>
            <a:r>
              <a:rPr lang="en-US" sz="1200" b="0" i="0" u="none" strike="noStrike" kern="1200" baseline="0" dirty="0" smtClean="0">
                <a:solidFill>
                  <a:schemeClr val="tx1"/>
                </a:solidFill>
                <a:latin typeface="+mn-lt"/>
                <a:ea typeface="+mn-ea"/>
                <a:cs typeface="+mn-cs"/>
              </a:rPr>
              <a:t>, based on the current situation and the agent’s </a:t>
            </a:r>
            <a:r>
              <a:rPr lang="en-US" sz="1200" b="0" i="0" u="none" strike="noStrike" kern="1200" baseline="0" dirty="0" smtClean="0">
                <a:solidFill>
                  <a:schemeClr val="tx1"/>
                </a:solidFill>
                <a:latin typeface="+mn-lt"/>
                <a:ea typeface="+mn-ea"/>
                <a:cs typeface="+mn-cs"/>
              </a:rPr>
              <a:t>performance measure</a:t>
            </a:r>
            <a:r>
              <a:rPr lang="en-US" sz="1200" b="0" i="0" u="none" strike="noStrike" kern="1200" baseline="0" dirty="0" smtClean="0">
                <a:solidFill>
                  <a:schemeClr val="tx1"/>
                </a:solidFill>
                <a:latin typeface="+mn-lt"/>
                <a:ea typeface="+mn-ea"/>
                <a:cs typeface="+mn-cs"/>
              </a:rPr>
              <a:t>, is the first step in problem solving.</a:t>
            </a:r>
          </a:p>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2308C1A-682D-484E-9FA1-C724AB61AC34}" type="slidenum">
              <a:rPr lang="en-GB" smtClean="0"/>
              <a:pPr/>
              <a:t>6</a:t>
            </a:fld>
            <a:endParaRPr lang="en-GB"/>
          </a:p>
        </p:txBody>
      </p:sp>
    </p:spTree>
    <p:extLst>
      <p:ext uri="{BB962C8B-B14F-4D97-AF65-F5344CB8AC3E}">
        <p14:creationId xmlns:p14="http://schemas.microsoft.com/office/powerpoint/2010/main" val="2898585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will consider a goal to be a set of world states—exactly those states in which the</a:t>
            </a:r>
          </a:p>
          <a:p>
            <a:r>
              <a:rPr lang="en-US" sz="1200" b="0" i="0" u="none" strike="noStrike" kern="1200" baseline="0" dirty="0" smtClean="0">
                <a:solidFill>
                  <a:schemeClr val="tx1"/>
                </a:solidFill>
                <a:latin typeface="+mn-lt"/>
                <a:ea typeface="+mn-ea"/>
                <a:cs typeface="+mn-cs"/>
              </a:rPr>
              <a:t>goal is satisfied. </a:t>
            </a:r>
            <a:r>
              <a:rPr lang="en-US" sz="1200" b="1" i="0" u="none" strike="noStrike" kern="1200" baseline="0" dirty="0" smtClean="0">
                <a:solidFill>
                  <a:schemeClr val="tx1"/>
                </a:solidFill>
                <a:latin typeface="+mn-lt"/>
                <a:ea typeface="+mn-ea"/>
                <a:cs typeface="+mn-cs"/>
              </a:rPr>
              <a:t>The agent’s task is to find out how to act, now and in the future, so that it</a:t>
            </a:r>
          </a:p>
          <a:p>
            <a:r>
              <a:rPr lang="en-US" sz="1200" b="1" i="0" u="none" strike="noStrike" kern="1200" baseline="0" dirty="0" smtClean="0">
                <a:solidFill>
                  <a:schemeClr val="tx1"/>
                </a:solidFill>
                <a:latin typeface="+mn-lt"/>
                <a:ea typeface="+mn-ea"/>
                <a:cs typeface="+mn-cs"/>
              </a:rPr>
              <a:t>reaches a goal state. </a:t>
            </a:r>
            <a:r>
              <a:rPr lang="en-US" sz="1200" b="0" i="0" u="none" strike="noStrike" kern="1200" baseline="0" dirty="0" smtClean="0">
                <a:solidFill>
                  <a:schemeClr val="tx1"/>
                </a:solidFill>
                <a:latin typeface="+mn-lt"/>
                <a:ea typeface="+mn-ea"/>
                <a:cs typeface="+mn-cs"/>
              </a:rPr>
              <a:t>Before it can do this, it needs to decide (or we need to decide on its</a:t>
            </a:r>
          </a:p>
          <a:p>
            <a:r>
              <a:rPr lang="en-US" sz="1200" b="0" i="0" u="none" strike="noStrike" kern="1200" baseline="0" dirty="0" smtClean="0">
                <a:solidFill>
                  <a:schemeClr val="tx1"/>
                </a:solidFill>
                <a:latin typeface="+mn-lt"/>
                <a:ea typeface="+mn-ea"/>
                <a:cs typeface="+mn-cs"/>
              </a:rPr>
              <a:t>behalf) what sorts of actions and states it should consider. If it were to consider actions at</a:t>
            </a:r>
          </a:p>
          <a:p>
            <a:r>
              <a:rPr lang="en-US" sz="1200" b="0" i="0" u="none" strike="noStrike" kern="1200" baseline="0" dirty="0" smtClean="0">
                <a:solidFill>
                  <a:schemeClr val="tx1"/>
                </a:solidFill>
                <a:latin typeface="+mn-lt"/>
                <a:ea typeface="+mn-ea"/>
                <a:cs typeface="+mn-cs"/>
              </a:rPr>
              <a:t>the level of “move the left foot forward an inch” or “turn the steering wheel one degree left,”</a:t>
            </a:r>
          </a:p>
          <a:p>
            <a:r>
              <a:rPr lang="en-US" sz="1200" b="0" i="0" u="none" strike="noStrike" kern="1200" baseline="0" dirty="0" smtClean="0">
                <a:solidFill>
                  <a:schemeClr val="tx1"/>
                </a:solidFill>
                <a:latin typeface="+mn-lt"/>
                <a:ea typeface="+mn-ea"/>
                <a:cs typeface="+mn-cs"/>
              </a:rPr>
              <a:t>the agent would probably never find its way out of the parking lot, let alone to Bucharest,</a:t>
            </a:r>
          </a:p>
          <a:p>
            <a:r>
              <a:rPr lang="en-US" sz="1200" b="0" i="0" u="none" strike="noStrike" kern="1200" baseline="0" dirty="0" smtClean="0">
                <a:solidFill>
                  <a:schemeClr val="tx1"/>
                </a:solidFill>
                <a:latin typeface="+mn-lt"/>
                <a:ea typeface="+mn-ea"/>
                <a:cs typeface="+mn-cs"/>
              </a:rPr>
              <a:t>because at that level of detail there is too much uncertainty in the world and there would be</a:t>
            </a:r>
          </a:p>
          <a:p>
            <a:r>
              <a:rPr lang="en-US" sz="1200" b="0" i="0" u="none" strike="noStrike" kern="1200" baseline="0" dirty="0" smtClean="0">
                <a:solidFill>
                  <a:schemeClr val="tx1"/>
                </a:solidFill>
                <a:latin typeface="+mn-lt"/>
                <a:ea typeface="+mn-ea"/>
                <a:cs typeface="+mn-cs"/>
              </a:rPr>
              <a:t>too many steps in a solution. </a:t>
            </a:r>
            <a:r>
              <a:rPr lang="en-US" sz="1200" b="1" i="0" u="none" strike="noStrike" kern="1200" baseline="0" dirty="0" smtClean="0">
                <a:solidFill>
                  <a:schemeClr val="tx1"/>
                </a:solidFill>
                <a:latin typeface="+mn-lt"/>
                <a:ea typeface="+mn-ea"/>
                <a:cs typeface="+mn-cs"/>
              </a:rPr>
              <a:t>Problem formulation </a:t>
            </a:r>
            <a:r>
              <a:rPr lang="en-US" sz="1200" b="0" i="0" u="none" strike="noStrike" kern="1200" baseline="0" dirty="0" smtClean="0">
                <a:solidFill>
                  <a:schemeClr val="tx1"/>
                </a:solidFill>
                <a:latin typeface="+mn-lt"/>
                <a:ea typeface="+mn-ea"/>
                <a:cs typeface="+mn-cs"/>
              </a:rPr>
              <a:t>is </a:t>
            </a:r>
            <a:r>
              <a:rPr lang="en-US" sz="1200" b="1" i="1" u="none" strike="noStrike" kern="1200" baseline="0" dirty="0" smtClean="0">
                <a:solidFill>
                  <a:schemeClr val="tx1"/>
                </a:solidFill>
                <a:latin typeface="+mn-lt"/>
                <a:ea typeface="+mn-ea"/>
                <a:cs typeface="+mn-cs"/>
              </a:rPr>
              <a:t>the process of deciding what actions</a:t>
            </a:r>
            <a:endParaRPr lang="en-GB" sz="1200" b="1" i="1" u="none" strike="noStrike" kern="1200" baseline="0" dirty="0" smtClean="0">
              <a:solidFill>
                <a:schemeClr val="tx1"/>
              </a:solidFill>
              <a:latin typeface="+mn-lt"/>
              <a:ea typeface="+mn-ea"/>
              <a:cs typeface="+mn-cs"/>
            </a:endParaRPr>
          </a:p>
          <a:p>
            <a:r>
              <a:rPr lang="en-US" sz="1200" b="1" i="1" u="none" strike="noStrike" kern="1200" baseline="0" dirty="0" smtClean="0">
                <a:solidFill>
                  <a:schemeClr val="tx1"/>
                </a:solidFill>
                <a:latin typeface="+mn-lt"/>
                <a:ea typeface="+mn-ea"/>
                <a:cs typeface="+mn-cs"/>
              </a:rPr>
              <a:t>and states to consider, given a goal. </a:t>
            </a:r>
            <a:r>
              <a:rPr lang="en-US" sz="1200" b="0" i="0" u="none" strike="noStrike" kern="1200" baseline="0" dirty="0" smtClean="0">
                <a:solidFill>
                  <a:schemeClr val="tx1"/>
                </a:solidFill>
                <a:latin typeface="+mn-lt"/>
                <a:ea typeface="+mn-ea"/>
                <a:cs typeface="+mn-cs"/>
              </a:rPr>
              <a:t>We discuss this process in more detail later. For now, let</a:t>
            </a:r>
          </a:p>
          <a:p>
            <a:r>
              <a:rPr lang="en-US" sz="1200" b="0" i="0" u="none" strike="noStrike" kern="1200" baseline="0" dirty="0" smtClean="0">
                <a:solidFill>
                  <a:schemeClr val="tx1"/>
                </a:solidFill>
                <a:latin typeface="+mn-lt"/>
                <a:ea typeface="+mn-ea"/>
                <a:cs typeface="+mn-cs"/>
              </a:rPr>
              <a:t>us assume that the agent will consider actions at the level of driving from one major town to</a:t>
            </a:r>
          </a:p>
          <a:p>
            <a:r>
              <a:rPr lang="en-US" sz="1200" b="0" i="0" u="none" strike="noStrike" kern="1200" baseline="0" dirty="0" smtClean="0">
                <a:solidFill>
                  <a:schemeClr val="tx1"/>
                </a:solidFill>
                <a:latin typeface="+mn-lt"/>
                <a:ea typeface="+mn-ea"/>
                <a:cs typeface="+mn-cs"/>
              </a:rPr>
              <a:t>another. Each state therefore corresponds to being in a particular town.</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7</a:t>
            </a:fld>
            <a:endParaRPr lang="en-GB"/>
          </a:p>
        </p:txBody>
      </p:sp>
    </p:spTree>
    <p:extLst>
      <p:ext uri="{BB962C8B-B14F-4D97-AF65-F5344CB8AC3E}">
        <p14:creationId xmlns:p14="http://schemas.microsoft.com/office/powerpoint/2010/main" val="663755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en-US" b="1" dirty="0" smtClean="0"/>
              <a:t>Properties of Environment</a:t>
            </a:r>
          </a:p>
          <a:p>
            <a:r>
              <a:rPr lang="en-US" altLang="en-US" dirty="0" smtClean="0"/>
              <a:t>The environment has multifold properties −</a:t>
            </a:r>
          </a:p>
          <a:p>
            <a:endParaRPr lang="en-US" altLang="en-US" b="1" dirty="0" smtClean="0"/>
          </a:p>
          <a:p>
            <a:r>
              <a:rPr lang="en-US" altLang="en-US" b="1" dirty="0" smtClean="0"/>
              <a:t>Observable / Partially Observable</a:t>
            </a:r>
            <a:r>
              <a:rPr lang="en-US" altLang="en-US" dirty="0" smtClean="0"/>
              <a:t> − If it is possible to determine the complete state of the environment at each time point from the percepts it is observable; otherwise it is only partially observable.</a:t>
            </a:r>
          </a:p>
          <a:p>
            <a:r>
              <a:rPr lang="en-US" altLang="en-US" b="1" dirty="0" smtClean="0"/>
              <a:t>Accessible / Inaccessible</a:t>
            </a:r>
            <a:r>
              <a:rPr lang="en-US" altLang="en-US" dirty="0" smtClean="0"/>
              <a:t> − If the agent’s sensory apparatus can have access to the complete state of the environment, then the environment is accessible to that agent.</a:t>
            </a:r>
          </a:p>
          <a:p>
            <a:r>
              <a:rPr lang="en-US" altLang="en-US" b="1" dirty="0" smtClean="0"/>
              <a:t>Deterministic / Non-deterministic</a:t>
            </a:r>
            <a:r>
              <a:rPr lang="en-US" altLang="en-US" dirty="0" smtClean="0"/>
              <a:t> − If the next state of the environment is completely determined by the current state and the actions of the agent, then the environment is deterministic; otherwise it is non-deterministic.</a:t>
            </a:r>
          </a:p>
          <a:p>
            <a:endParaRPr lang="en-US" altLang="en-US" dirty="0" smtClean="0"/>
          </a:p>
          <a:p>
            <a:r>
              <a:rPr lang="en-US" sz="1200" b="0" i="0" u="none" strike="noStrike" kern="1200" baseline="0" dirty="0" smtClean="0">
                <a:solidFill>
                  <a:schemeClr val="tx1"/>
                </a:solidFill>
                <a:latin typeface="+mn-lt"/>
                <a:ea typeface="+mn-ea"/>
                <a:cs typeface="+mn-cs"/>
              </a:rPr>
              <a:t>Well, in general it could be a branching strategy that recommends different actions in the future depending on what percepts arrive.</a:t>
            </a:r>
          </a:p>
          <a:p>
            <a:r>
              <a:rPr lang="en-US" sz="1200" b="0" i="0" u="none" strike="noStrike" kern="1200" baseline="0" dirty="0" smtClean="0">
                <a:solidFill>
                  <a:schemeClr val="tx1"/>
                </a:solidFill>
                <a:latin typeface="+mn-lt"/>
                <a:ea typeface="+mn-ea"/>
                <a:cs typeface="+mn-cs"/>
              </a:rPr>
              <a:t>For example, under less than ideal conditions, the agent might plan to drive from Arad to</a:t>
            </a:r>
          </a:p>
          <a:p>
            <a:r>
              <a:rPr lang="en-US" sz="1200" b="0" i="0" u="none" strike="noStrike" kern="1200" baseline="0" dirty="0" smtClean="0">
                <a:solidFill>
                  <a:schemeClr val="tx1"/>
                </a:solidFill>
                <a:latin typeface="+mn-lt"/>
                <a:ea typeface="+mn-ea"/>
                <a:cs typeface="+mn-cs"/>
              </a:rPr>
              <a:t>Sibiu and then to </a:t>
            </a:r>
            <a:r>
              <a:rPr lang="en-US" sz="1200" b="0" i="0" u="none" strike="noStrike" kern="1200" baseline="0" dirty="0" err="1" smtClean="0">
                <a:solidFill>
                  <a:schemeClr val="tx1"/>
                </a:solidFill>
                <a:latin typeface="+mn-lt"/>
                <a:ea typeface="+mn-ea"/>
                <a:cs typeface="+mn-cs"/>
              </a:rPr>
              <a:t>Rimnicu</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Vilcea</a:t>
            </a:r>
            <a:r>
              <a:rPr lang="en-US" sz="1200" b="0" i="0" u="none" strike="noStrike" kern="1200" baseline="0" dirty="0" smtClean="0">
                <a:solidFill>
                  <a:schemeClr val="tx1"/>
                </a:solidFill>
                <a:latin typeface="+mn-lt"/>
                <a:ea typeface="+mn-ea"/>
                <a:cs typeface="+mn-cs"/>
              </a:rPr>
              <a:t> but may also need to have a contingency plan in case it</a:t>
            </a:r>
          </a:p>
          <a:p>
            <a:r>
              <a:rPr lang="en-US" sz="1200" b="0" i="0" u="none" strike="noStrike" kern="1200" baseline="0" dirty="0" smtClean="0">
                <a:solidFill>
                  <a:schemeClr val="tx1"/>
                </a:solidFill>
                <a:latin typeface="+mn-lt"/>
                <a:ea typeface="+mn-ea"/>
                <a:cs typeface="+mn-cs"/>
              </a:rPr>
              <a:t>arrives by accident in </a:t>
            </a:r>
            <a:r>
              <a:rPr lang="en-US" sz="1200" b="0" i="0" u="none" strike="noStrike" kern="1200" baseline="0" dirty="0" err="1" smtClean="0">
                <a:solidFill>
                  <a:schemeClr val="tx1"/>
                </a:solidFill>
                <a:latin typeface="+mn-lt"/>
                <a:ea typeface="+mn-ea"/>
                <a:cs typeface="+mn-cs"/>
              </a:rPr>
              <a:t>Zerind</a:t>
            </a:r>
            <a:r>
              <a:rPr lang="en-US" sz="1200" b="0" i="0" u="none" strike="noStrike" kern="1200" baseline="0" dirty="0" smtClean="0">
                <a:solidFill>
                  <a:schemeClr val="tx1"/>
                </a:solidFill>
                <a:latin typeface="+mn-lt"/>
                <a:ea typeface="+mn-ea"/>
                <a:cs typeface="+mn-cs"/>
              </a:rPr>
              <a:t> instead of Sibiu. Fortunately, </a:t>
            </a:r>
            <a:r>
              <a:rPr lang="en-US" sz="1200" b="1" i="0" u="none" strike="noStrike" kern="1200" baseline="0" dirty="0" smtClean="0">
                <a:solidFill>
                  <a:schemeClr val="tx1"/>
                </a:solidFill>
                <a:latin typeface="+mn-lt"/>
                <a:ea typeface="+mn-ea"/>
                <a:cs typeface="+mn-cs"/>
              </a:rPr>
              <a:t>if the agent knows the initial state</a:t>
            </a:r>
          </a:p>
          <a:p>
            <a:r>
              <a:rPr lang="en-US" sz="1200" b="1" i="0" u="none" strike="noStrike" kern="1200" baseline="0" dirty="0" smtClean="0">
                <a:solidFill>
                  <a:schemeClr val="tx1"/>
                </a:solidFill>
                <a:latin typeface="+mn-lt"/>
                <a:ea typeface="+mn-ea"/>
                <a:cs typeface="+mn-cs"/>
              </a:rPr>
              <a:t>and the environment is known and deterministic, it knows exactly where it will be after the</a:t>
            </a:r>
          </a:p>
          <a:p>
            <a:r>
              <a:rPr lang="en-US" sz="1200" b="1" i="0" u="none" strike="noStrike" kern="1200" baseline="0" dirty="0" smtClean="0">
                <a:solidFill>
                  <a:schemeClr val="tx1"/>
                </a:solidFill>
                <a:latin typeface="+mn-lt"/>
                <a:ea typeface="+mn-ea"/>
                <a:cs typeface="+mn-cs"/>
              </a:rPr>
              <a:t>first action and what it will perceive. Since only one percept is possible after the first action,</a:t>
            </a:r>
          </a:p>
          <a:p>
            <a:r>
              <a:rPr lang="en-US" sz="1200" b="1" i="0" u="none" strike="noStrike" kern="1200" baseline="0" dirty="0" smtClean="0">
                <a:solidFill>
                  <a:schemeClr val="tx1"/>
                </a:solidFill>
                <a:latin typeface="+mn-lt"/>
                <a:ea typeface="+mn-ea"/>
                <a:cs typeface="+mn-cs"/>
              </a:rPr>
              <a:t>the solution can specify only one possible second action, and so on.</a:t>
            </a:r>
            <a:r>
              <a:rPr lang="en-US" sz="1200" b="0" i="0" u="none" strike="noStrike" kern="1200" baseline="0" dirty="0" smtClean="0">
                <a:solidFill>
                  <a:schemeClr val="tx1"/>
                </a:solidFill>
                <a:latin typeface="+mn-lt"/>
                <a:ea typeface="+mn-ea"/>
                <a:cs typeface="+mn-cs"/>
              </a:rPr>
              <a:t> The process of looking for a sequence of actions that reaches the goal is called </a:t>
            </a:r>
            <a:r>
              <a:rPr lang="en-US" sz="1200" b="1" i="0" u="none" strike="noStrike" kern="1200" baseline="0" dirty="0" smtClean="0">
                <a:solidFill>
                  <a:schemeClr val="tx1"/>
                </a:solidFill>
                <a:latin typeface="+mn-lt"/>
                <a:ea typeface="+mn-ea"/>
                <a:cs typeface="+mn-cs"/>
              </a:rPr>
              <a:t>search</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A search algorithm takes a problem as input and returns a </a:t>
            </a:r>
            <a:r>
              <a:rPr lang="en-US" sz="1200" b="1" i="0" u="none" strike="noStrike" kern="1200" baseline="0" dirty="0" smtClean="0">
                <a:solidFill>
                  <a:schemeClr val="tx1"/>
                </a:solidFill>
                <a:latin typeface="+mn-lt"/>
                <a:ea typeface="+mn-ea"/>
                <a:cs typeface="+mn-cs"/>
              </a:rPr>
              <a:t>solution </a:t>
            </a:r>
            <a:r>
              <a:rPr lang="en-US" sz="1200" b="0" i="0" u="none" strike="noStrike" kern="1200" baseline="0" dirty="0" smtClean="0">
                <a:solidFill>
                  <a:schemeClr val="tx1"/>
                </a:solidFill>
                <a:latin typeface="+mn-lt"/>
                <a:ea typeface="+mn-ea"/>
                <a:cs typeface="+mn-cs"/>
              </a:rPr>
              <a:t>in the form of an action</a:t>
            </a:r>
          </a:p>
          <a:p>
            <a:r>
              <a:rPr lang="en-US" sz="1200" b="0" i="0" u="none" strike="noStrike" kern="1200" baseline="0" dirty="0" smtClean="0">
                <a:solidFill>
                  <a:schemeClr val="tx1"/>
                </a:solidFill>
                <a:latin typeface="+mn-lt"/>
                <a:ea typeface="+mn-ea"/>
                <a:cs typeface="+mn-cs"/>
              </a:rPr>
              <a:t>sequence. Once a solution is found, the actions it recommends can be carried out. This</a:t>
            </a:r>
          </a:p>
          <a:p>
            <a:r>
              <a:rPr lang="en-US" sz="1200" b="0" i="0" u="none" strike="noStrike" kern="1200" baseline="0" dirty="0" smtClean="0">
                <a:solidFill>
                  <a:schemeClr val="tx1"/>
                </a:solidFill>
                <a:latin typeface="+mn-lt"/>
                <a:ea typeface="+mn-ea"/>
                <a:cs typeface="+mn-cs"/>
              </a:rPr>
              <a:t>is called the </a:t>
            </a:r>
            <a:r>
              <a:rPr lang="en-US" sz="1200" b="1" i="0" u="none" strike="noStrike" kern="1200" baseline="0" dirty="0" smtClean="0">
                <a:solidFill>
                  <a:schemeClr val="tx1"/>
                </a:solidFill>
                <a:latin typeface="+mn-lt"/>
                <a:ea typeface="+mn-ea"/>
                <a:cs typeface="+mn-cs"/>
              </a:rPr>
              <a:t>execution </a:t>
            </a:r>
            <a:r>
              <a:rPr lang="en-US" sz="1200" b="0" i="0" u="none" strike="noStrike" kern="1200" baseline="0" dirty="0" smtClean="0">
                <a:solidFill>
                  <a:schemeClr val="tx1"/>
                </a:solidFill>
                <a:latin typeface="+mn-lt"/>
                <a:ea typeface="+mn-ea"/>
                <a:cs typeface="+mn-cs"/>
              </a:rPr>
              <a:t>phase.</a:t>
            </a:r>
            <a:endParaRPr lang="en-US" sz="1200" b="1" i="0" u="none" strike="noStrike" kern="1200" baseline="0" dirty="0" smtClean="0">
              <a:solidFill>
                <a:schemeClr val="tx1"/>
              </a:solidFill>
              <a:latin typeface="+mn-lt"/>
              <a:ea typeface="+mn-ea"/>
              <a:cs typeface="+mn-cs"/>
            </a:endParaRPr>
          </a:p>
          <a:p>
            <a:endParaRPr lang="en-US" altLang="en-US" sz="1200" b="1" i="0" u="none" strike="noStrike" kern="1200" baseline="0" dirty="0" smtClean="0">
              <a:solidFill>
                <a:schemeClr val="tx1"/>
              </a:solidFill>
              <a:latin typeface="+mn-lt"/>
              <a:ea typeface="+mn-ea"/>
              <a:cs typeface="+mn-cs"/>
            </a:endParaRPr>
          </a:p>
          <a:p>
            <a:endParaRPr lang="en-US" altLang="en-US" b="1" dirty="0" smtClean="0"/>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8</a:t>
            </a:fld>
            <a:endParaRPr lang="en-GB"/>
          </a:p>
        </p:txBody>
      </p:sp>
    </p:spTree>
    <p:extLst>
      <p:ext uri="{BB962C8B-B14F-4D97-AF65-F5344CB8AC3E}">
        <p14:creationId xmlns:p14="http://schemas.microsoft.com/office/powerpoint/2010/main" val="3069982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t>We use the term </a:t>
            </a:r>
            <a:r>
              <a:rPr lang="en-GB" b="1" dirty="0" smtClean="0"/>
              <a:t>percept </a:t>
            </a:r>
            <a:r>
              <a:rPr lang="en-GB" dirty="0" smtClean="0"/>
              <a:t>to refer to the agent’s perceptual inputs at any given instant. An agent’s </a:t>
            </a:r>
            <a:r>
              <a:rPr lang="en-GB" b="1" dirty="0" smtClean="0"/>
              <a:t>percept sequence </a:t>
            </a:r>
            <a:r>
              <a:rPr lang="en-GB" dirty="0" smtClean="0"/>
              <a:t>is the complete history of everything the agent has ever perceived. </a:t>
            </a:r>
            <a:r>
              <a:rPr lang="en-GB" strike="sngStrike" dirty="0" smtClean="0"/>
              <a:t>In general, </a:t>
            </a:r>
            <a:r>
              <a:rPr lang="en-GB" i="1" strike="sngStrike" dirty="0" smtClean="0"/>
              <a:t>an agent’s choice of action at any given instant can depend on the entire percept sequence observed to date, but not on anything it hasn’t perceived. </a:t>
            </a:r>
            <a:r>
              <a:rPr lang="en-GB" strike="sngStrike" dirty="0" smtClean="0"/>
              <a:t>By specifying the agent’s choice of action for every possible percept sequence, we have said more or less everything there is to say about the agent.</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9</a:t>
            </a:fld>
            <a:endParaRPr lang="en-GB"/>
          </a:p>
        </p:txBody>
      </p:sp>
    </p:spTree>
    <p:extLst>
      <p:ext uri="{BB962C8B-B14F-4D97-AF65-F5344CB8AC3E}">
        <p14:creationId xmlns:p14="http://schemas.microsoft.com/office/powerpoint/2010/main" val="2173996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Summary – see current slide</a:t>
            </a:r>
            <a:endParaRPr lang="en-GB" dirty="0" smtClean="0"/>
          </a:p>
          <a:p>
            <a:endParaRPr lang="en-US" dirty="0" smtClean="0"/>
          </a:p>
          <a:p>
            <a:pPr fontAlgn="base"/>
            <a:r>
              <a:rPr lang="en-US" sz="1200" b="1" i="0" kern="1200" dirty="0" smtClean="0">
                <a:solidFill>
                  <a:schemeClr val="tx1"/>
                </a:solidFill>
                <a:effectLst/>
                <a:latin typeface="+mn-lt"/>
                <a:ea typeface="+mn-ea"/>
                <a:cs typeface="+mn-cs"/>
              </a:rPr>
              <a:t>Goal Formulation:</a:t>
            </a:r>
            <a:r>
              <a:rPr lang="en-US" sz="1200" b="0" i="0" kern="1200" dirty="0" smtClean="0">
                <a:solidFill>
                  <a:schemeClr val="tx1"/>
                </a:solidFill>
                <a:effectLst/>
                <a:latin typeface="+mn-lt"/>
                <a:ea typeface="+mn-ea"/>
                <a:cs typeface="+mn-cs"/>
              </a:rPr>
              <a:t> It is the first and simplest step in problem-solving. It organizes the steps/sequence required to formulate one goal out of multiple goals as well as actions to achieve that goal. Goal formulation is based on the current situation and the agent’s performance measure (discussed below).</a:t>
            </a:r>
          </a:p>
          <a:p>
            <a:pPr fontAlgn="base"/>
            <a:r>
              <a:rPr lang="en-US" sz="1200" b="1" i="0" kern="1200" dirty="0" smtClean="0">
                <a:solidFill>
                  <a:schemeClr val="tx1"/>
                </a:solidFill>
                <a:effectLst/>
                <a:latin typeface="+mn-lt"/>
                <a:ea typeface="+mn-ea"/>
                <a:cs typeface="+mn-cs"/>
              </a:rPr>
              <a:t>Problem Formulation:</a:t>
            </a:r>
            <a:r>
              <a:rPr lang="en-US" sz="1200" b="0" i="0" kern="1200" dirty="0" smtClean="0">
                <a:solidFill>
                  <a:schemeClr val="tx1"/>
                </a:solidFill>
                <a:effectLst/>
                <a:latin typeface="+mn-lt"/>
                <a:ea typeface="+mn-ea"/>
                <a:cs typeface="+mn-cs"/>
              </a:rPr>
              <a:t> It is the most important step of problem-solving which decides what actions should be taken to achieve the formulated goal. There are following five components involved in problem formulation:</a:t>
            </a:r>
          </a:p>
          <a:p>
            <a:pPr fontAlgn="base"/>
            <a:endParaRPr lang="en-US" sz="1200" b="0" i="0" kern="1200" dirty="0" smtClean="0">
              <a:solidFill>
                <a:schemeClr val="tx1"/>
              </a:solidFill>
              <a:effectLst/>
              <a:latin typeface="+mn-lt"/>
              <a:ea typeface="+mn-ea"/>
              <a:cs typeface="+mn-cs"/>
            </a:endParaRPr>
          </a:p>
          <a:p>
            <a:pPr fontAlgn="base"/>
            <a:r>
              <a:rPr lang="en-US" sz="1200" b="0" i="0" kern="1200" dirty="0" smtClean="0">
                <a:solidFill>
                  <a:schemeClr val="tx1"/>
                </a:solidFill>
                <a:effectLst/>
                <a:latin typeface="+mn-lt"/>
                <a:ea typeface="+mn-ea"/>
                <a:cs typeface="+mn-cs"/>
              </a:rPr>
              <a:t>	1. </a:t>
            </a:r>
            <a:r>
              <a:rPr lang="en-US" sz="1200" b="1" i="0" kern="1200" dirty="0" smtClean="0">
                <a:solidFill>
                  <a:schemeClr val="tx1"/>
                </a:solidFill>
                <a:effectLst/>
                <a:latin typeface="+mn-lt"/>
                <a:ea typeface="+mn-ea"/>
                <a:cs typeface="+mn-cs"/>
              </a:rPr>
              <a:t>Initial State:</a:t>
            </a:r>
            <a:r>
              <a:rPr lang="en-US" sz="1200" b="0" i="0" kern="1200" dirty="0" smtClean="0">
                <a:solidFill>
                  <a:schemeClr val="tx1"/>
                </a:solidFill>
                <a:effectLst/>
                <a:latin typeface="+mn-lt"/>
                <a:ea typeface="+mn-ea"/>
                <a:cs typeface="+mn-cs"/>
              </a:rPr>
              <a:t> It is the starting state or initial step of the agent towards its goal.</a:t>
            </a:r>
          </a:p>
          <a:p>
            <a:pPr lvl="2" fontAlgn="base"/>
            <a:r>
              <a:rPr lang="en-US" sz="1200" b="1" i="0" kern="1200" dirty="0" smtClean="0">
                <a:solidFill>
                  <a:schemeClr val="tx1"/>
                </a:solidFill>
                <a:effectLst/>
                <a:latin typeface="+mn-lt"/>
                <a:ea typeface="+mn-ea"/>
                <a:cs typeface="+mn-cs"/>
              </a:rPr>
              <a:t>2. Actions:</a:t>
            </a:r>
            <a:r>
              <a:rPr lang="en-US" sz="1200" b="0" i="0" kern="1200" dirty="0" smtClean="0">
                <a:solidFill>
                  <a:schemeClr val="tx1"/>
                </a:solidFill>
                <a:effectLst/>
                <a:latin typeface="+mn-lt"/>
                <a:ea typeface="+mn-ea"/>
                <a:cs typeface="+mn-cs"/>
              </a:rPr>
              <a:t> It is the description of the possible actions available to the agent.</a:t>
            </a:r>
          </a:p>
          <a:p>
            <a:pPr lvl="2" fontAlgn="base"/>
            <a:r>
              <a:rPr lang="en-US" sz="1200" b="1" i="0" kern="1200" dirty="0" smtClean="0">
                <a:solidFill>
                  <a:schemeClr val="tx1"/>
                </a:solidFill>
                <a:effectLst/>
                <a:latin typeface="+mn-lt"/>
                <a:ea typeface="+mn-ea"/>
                <a:cs typeface="+mn-cs"/>
              </a:rPr>
              <a:t>3.</a:t>
            </a:r>
            <a:r>
              <a:rPr lang="en-US" sz="1200" b="1" i="0" kern="1200" baseline="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Transition Model:</a:t>
            </a:r>
            <a:r>
              <a:rPr lang="en-US" sz="1200" b="0" i="0" kern="1200" dirty="0" smtClean="0">
                <a:solidFill>
                  <a:schemeClr val="tx1"/>
                </a:solidFill>
                <a:effectLst/>
                <a:latin typeface="+mn-lt"/>
                <a:ea typeface="+mn-ea"/>
                <a:cs typeface="+mn-cs"/>
              </a:rPr>
              <a:t> It describes what each action does.</a:t>
            </a:r>
          </a:p>
          <a:p>
            <a:pPr lvl="2" fontAlgn="base"/>
            <a:r>
              <a:rPr lang="en-US" sz="1200" b="1" i="0" kern="1200" dirty="0" smtClean="0">
                <a:solidFill>
                  <a:schemeClr val="tx1"/>
                </a:solidFill>
                <a:effectLst/>
                <a:latin typeface="+mn-lt"/>
                <a:ea typeface="+mn-ea"/>
                <a:cs typeface="+mn-cs"/>
              </a:rPr>
              <a:t>4. Goal Test:</a:t>
            </a:r>
            <a:r>
              <a:rPr lang="en-US" sz="1200" b="0" i="0" kern="1200" dirty="0" smtClean="0">
                <a:solidFill>
                  <a:schemeClr val="tx1"/>
                </a:solidFill>
                <a:effectLst/>
                <a:latin typeface="+mn-lt"/>
                <a:ea typeface="+mn-ea"/>
                <a:cs typeface="+mn-cs"/>
              </a:rPr>
              <a:t> It determines if the given state is a goal state.</a:t>
            </a:r>
          </a:p>
          <a:p>
            <a:pPr lvl="2" fontAlgn="base"/>
            <a:r>
              <a:rPr lang="en-US" sz="1200" b="1" i="0" kern="1200" dirty="0" smtClean="0">
                <a:solidFill>
                  <a:schemeClr val="tx1"/>
                </a:solidFill>
                <a:effectLst/>
                <a:latin typeface="+mn-lt"/>
                <a:ea typeface="+mn-ea"/>
                <a:cs typeface="+mn-cs"/>
              </a:rPr>
              <a:t>5. Path cost:</a:t>
            </a:r>
            <a:r>
              <a:rPr lang="en-US" sz="1200" b="0" i="0" kern="1200" dirty="0" smtClean="0">
                <a:solidFill>
                  <a:schemeClr val="tx1"/>
                </a:solidFill>
                <a:effectLst/>
                <a:latin typeface="+mn-lt"/>
                <a:ea typeface="+mn-ea"/>
                <a:cs typeface="+mn-cs"/>
              </a:rPr>
              <a:t> It assigns a numeric cost to each path that follows the goal. The problem-solving agent selects a cost function, which reflects its performance measure. Remember, </a:t>
            </a:r>
            <a:r>
              <a:rPr lang="en-US" sz="1200" b="1" i="0" kern="1200" dirty="0" smtClean="0">
                <a:solidFill>
                  <a:schemeClr val="tx1"/>
                </a:solidFill>
                <a:effectLst/>
                <a:latin typeface="+mn-lt"/>
                <a:ea typeface="+mn-ea"/>
                <a:cs typeface="+mn-cs"/>
              </a:rPr>
              <a:t>an optimal solution has the lowest path cost among all the solutions.</a:t>
            </a:r>
            <a:endParaRPr lang="en-US" sz="1200" b="0" i="0" kern="1200" dirty="0" smtClean="0">
              <a:solidFill>
                <a:schemeClr val="tx1"/>
              </a:solidFill>
              <a:effectLst/>
              <a:latin typeface="+mn-lt"/>
              <a:ea typeface="+mn-ea"/>
              <a:cs typeface="+mn-cs"/>
            </a:endParaRPr>
          </a:p>
          <a:p>
            <a:pPr fontAlgn="base"/>
            <a:endParaRPr lang="en-US" sz="1200" b="0" i="0" kern="120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Search:</a:t>
            </a:r>
            <a:r>
              <a:rPr lang="en-US" sz="1200" b="0" i="0" kern="1200" dirty="0" smtClean="0">
                <a:solidFill>
                  <a:schemeClr val="tx1"/>
                </a:solidFill>
                <a:effectLst/>
                <a:latin typeface="+mn-lt"/>
                <a:ea typeface="+mn-ea"/>
                <a:cs typeface="+mn-cs"/>
              </a:rPr>
              <a:t> It identifies all the best possible sequence of actions to reach the goal state from the current state. It takes a problem as an input and returns solution as its output.</a:t>
            </a:r>
          </a:p>
          <a:p>
            <a:pPr fontAlgn="base"/>
            <a:r>
              <a:rPr lang="en-US" sz="1200" b="1" i="0" kern="1200" dirty="0" smtClean="0">
                <a:solidFill>
                  <a:schemeClr val="tx1"/>
                </a:solidFill>
                <a:effectLst/>
                <a:latin typeface="+mn-lt"/>
                <a:ea typeface="+mn-ea"/>
                <a:cs typeface="+mn-cs"/>
              </a:rPr>
              <a:t>Solution:</a:t>
            </a:r>
            <a:r>
              <a:rPr lang="en-US" sz="1200" b="0" i="0" kern="1200" dirty="0" smtClean="0">
                <a:solidFill>
                  <a:schemeClr val="tx1"/>
                </a:solidFill>
                <a:effectLst/>
                <a:latin typeface="+mn-lt"/>
                <a:ea typeface="+mn-ea"/>
                <a:cs typeface="+mn-cs"/>
              </a:rPr>
              <a:t> It finds the best algorithm out of various algorithms, which may be proven as the best optimal solution.</a:t>
            </a:r>
          </a:p>
          <a:p>
            <a:pPr fontAlgn="base"/>
            <a:r>
              <a:rPr lang="en-US" sz="1200" b="1" i="0" kern="1200" dirty="0" smtClean="0">
                <a:solidFill>
                  <a:schemeClr val="tx1"/>
                </a:solidFill>
                <a:effectLst/>
                <a:latin typeface="+mn-lt"/>
                <a:ea typeface="+mn-ea"/>
                <a:cs typeface="+mn-cs"/>
              </a:rPr>
              <a:t>Execution:</a:t>
            </a:r>
            <a:r>
              <a:rPr lang="en-US" sz="1200" b="0" i="0" kern="1200" dirty="0" smtClean="0">
                <a:solidFill>
                  <a:schemeClr val="tx1"/>
                </a:solidFill>
                <a:effectLst/>
                <a:latin typeface="+mn-lt"/>
                <a:ea typeface="+mn-ea"/>
                <a:cs typeface="+mn-cs"/>
              </a:rPr>
              <a:t> It executes the best optimal solution from the searching algorithms to reach the goal state from the current state.</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10</a:t>
            </a:fld>
            <a:endParaRPr lang="en-GB"/>
          </a:p>
        </p:txBody>
      </p:sp>
    </p:spTree>
    <p:extLst>
      <p:ext uri="{BB962C8B-B14F-4D97-AF65-F5344CB8AC3E}">
        <p14:creationId xmlns:p14="http://schemas.microsoft.com/office/powerpoint/2010/main" val="1597544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Problem Formulation</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a:t>
            </a:r>
            <a:r>
              <a:rPr lang="en-US" sz="1200" b="1" i="0" u="none" strike="noStrike" kern="1200" baseline="0" dirty="0" smtClean="0">
                <a:solidFill>
                  <a:schemeClr val="tx1"/>
                </a:solidFill>
                <a:latin typeface="+mn-lt"/>
                <a:ea typeface="+mn-ea"/>
                <a:cs typeface="+mn-cs"/>
              </a:rPr>
              <a:t> problem </a:t>
            </a:r>
            <a:r>
              <a:rPr lang="en-US" sz="1200" b="0" i="0" u="none" strike="noStrike" kern="1200" baseline="0" dirty="0" smtClean="0">
                <a:solidFill>
                  <a:schemeClr val="tx1"/>
                </a:solidFill>
                <a:latin typeface="+mn-lt"/>
                <a:ea typeface="+mn-ea"/>
                <a:cs typeface="+mn-cs"/>
              </a:rPr>
              <a:t>consists of five parts: the </a:t>
            </a:r>
            <a:r>
              <a:rPr lang="en-US" sz="1200" b="1" i="0" u="none" strike="noStrike" kern="1200" baseline="0" dirty="0" smtClean="0">
                <a:solidFill>
                  <a:schemeClr val="tx1"/>
                </a:solidFill>
                <a:latin typeface="+mn-lt"/>
                <a:ea typeface="+mn-ea"/>
                <a:cs typeface="+mn-cs"/>
              </a:rPr>
              <a:t>initial state</a:t>
            </a:r>
            <a:r>
              <a:rPr lang="en-US" sz="1200" b="0" i="0" u="none" strike="noStrike" kern="1200" baseline="0" dirty="0" smtClean="0">
                <a:solidFill>
                  <a:schemeClr val="tx1"/>
                </a:solidFill>
                <a:latin typeface="+mn-lt"/>
                <a:ea typeface="+mn-ea"/>
                <a:cs typeface="+mn-cs"/>
              </a:rPr>
              <a:t>, a set of </a:t>
            </a:r>
            <a:r>
              <a:rPr lang="en-US" sz="1200" b="1" i="0" u="none" strike="noStrike" kern="1200" baseline="0" dirty="0" smtClean="0">
                <a:solidFill>
                  <a:schemeClr val="tx1"/>
                </a:solidFill>
                <a:latin typeface="+mn-lt"/>
                <a:ea typeface="+mn-ea"/>
                <a:cs typeface="+mn-cs"/>
              </a:rPr>
              <a:t>actions</a:t>
            </a:r>
            <a:r>
              <a:rPr lang="en-US" sz="1200" b="0" i="0" u="none" strike="noStrike" kern="1200" baseline="0" dirty="0" smtClean="0">
                <a:solidFill>
                  <a:schemeClr val="tx1"/>
                </a:solidFill>
                <a:latin typeface="+mn-lt"/>
                <a:ea typeface="+mn-ea"/>
                <a:cs typeface="+mn-cs"/>
              </a:rPr>
              <a:t>, a </a:t>
            </a:r>
            <a:r>
              <a:rPr lang="en-US" sz="1200" b="1" i="0" u="none" strike="noStrike" kern="1200" baseline="0" dirty="0" smtClean="0">
                <a:solidFill>
                  <a:schemeClr val="tx1"/>
                </a:solidFill>
                <a:latin typeface="+mn-lt"/>
                <a:ea typeface="+mn-ea"/>
                <a:cs typeface="+mn-cs"/>
              </a:rPr>
              <a:t>transition model </a:t>
            </a:r>
            <a:r>
              <a:rPr lang="en-US" sz="1200" b="0" i="0" u="none" strike="noStrike" kern="1200" baseline="0" dirty="0" smtClean="0">
                <a:solidFill>
                  <a:schemeClr val="tx1"/>
                </a:solidFill>
                <a:latin typeface="+mn-lt"/>
                <a:ea typeface="+mn-ea"/>
                <a:cs typeface="+mn-cs"/>
              </a:rPr>
              <a:t>describing the results of those actions, a </a:t>
            </a:r>
            <a:r>
              <a:rPr lang="en-US" sz="1200" b="1" i="0" u="none" strike="noStrike" kern="1200" baseline="0" dirty="0" smtClean="0">
                <a:solidFill>
                  <a:schemeClr val="tx1"/>
                </a:solidFill>
                <a:latin typeface="+mn-lt"/>
                <a:ea typeface="+mn-ea"/>
                <a:cs typeface="+mn-cs"/>
              </a:rPr>
              <a:t>goal test </a:t>
            </a:r>
            <a:r>
              <a:rPr lang="en-US" sz="1200" b="0" i="0" u="none" strike="noStrike" kern="1200" baseline="0" dirty="0" smtClean="0">
                <a:solidFill>
                  <a:schemeClr val="tx1"/>
                </a:solidFill>
                <a:latin typeface="+mn-lt"/>
                <a:ea typeface="+mn-ea"/>
                <a:cs typeface="+mn-cs"/>
              </a:rPr>
              <a:t>function, and a </a:t>
            </a:r>
            <a:r>
              <a:rPr lang="en-US" sz="1200" b="1" i="0" u="none" strike="noStrike" kern="1200" baseline="0" dirty="0" smtClean="0">
                <a:solidFill>
                  <a:schemeClr val="tx1"/>
                </a:solidFill>
                <a:latin typeface="+mn-lt"/>
                <a:ea typeface="+mn-ea"/>
                <a:cs typeface="+mn-cs"/>
              </a:rPr>
              <a:t>path cost </a:t>
            </a:r>
            <a:r>
              <a:rPr lang="en-US" sz="1200" b="0" i="0" u="none" strike="noStrike" kern="1200" baseline="0" dirty="0" smtClean="0">
                <a:solidFill>
                  <a:schemeClr val="tx1"/>
                </a:solidFill>
                <a:latin typeface="+mn-lt"/>
                <a:ea typeface="+mn-ea"/>
                <a:cs typeface="+mn-cs"/>
              </a:rPr>
              <a:t>function.</a:t>
            </a:r>
          </a:p>
          <a:p>
            <a:r>
              <a:rPr lang="en-US" sz="1200" b="0" i="0" u="none" strike="noStrike" kern="1200" baseline="0" dirty="0" smtClean="0">
                <a:solidFill>
                  <a:schemeClr val="tx1"/>
                </a:solidFill>
                <a:latin typeface="+mn-lt"/>
                <a:ea typeface="+mn-ea"/>
                <a:cs typeface="+mn-cs"/>
              </a:rPr>
              <a:t>The environment of the problem is represented by a </a:t>
            </a:r>
            <a:r>
              <a:rPr lang="en-US" sz="1200" b="1" i="0" u="none" strike="noStrike" kern="1200" baseline="0" dirty="0" smtClean="0">
                <a:solidFill>
                  <a:schemeClr val="tx1"/>
                </a:solidFill>
                <a:latin typeface="+mn-lt"/>
                <a:ea typeface="+mn-ea"/>
                <a:cs typeface="+mn-cs"/>
              </a:rPr>
              <a:t>state space</a:t>
            </a:r>
            <a:r>
              <a:rPr lang="en-US" sz="1200" b="0" i="0" u="none" strike="noStrike" kern="1200" baseline="0" dirty="0" smtClean="0">
                <a:solidFill>
                  <a:schemeClr val="tx1"/>
                </a:solidFill>
                <a:latin typeface="+mn-lt"/>
                <a:ea typeface="+mn-ea"/>
                <a:cs typeface="+mn-cs"/>
              </a:rPr>
              <a:t>. A </a:t>
            </a:r>
            <a:r>
              <a:rPr lang="en-US" sz="1200" b="1" i="0" u="none" strike="noStrike" kern="1200" baseline="0" dirty="0" smtClean="0">
                <a:solidFill>
                  <a:schemeClr val="tx1"/>
                </a:solidFill>
                <a:latin typeface="+mn-lt"/>
                <a:ea typeface="+mn-ea"/>
                <a:cs typeface="+mn-cs"/>
              </a:rPr>
              <a:t>path </a:t>
            </a:r>
            <a:r>
              <a:rPr lang="en-US" sz="1200" b="0" i="0" u="none" strike="noStrike" kern="1200" baseline="0" dirty="0" smtClean="0">
                <a:solidFill>
                  <a:schemeClr val="tx1"/>
                </a:solidFill>
                <a:latin typeface="+mn-lt"/>
                <a:ea typeface="+mn-ea"/>
                <a:cs typeface="+mn-cs"/>
              </a:rPr>
              <a:t>through the state space from the initial state to a goal state is a </a:t>
            </a:r>
            <a:r>
              <a:rPr lang="en-US" sz="1200" b="1" i="0" u="none" strike="noStrike" kern="1200" baseline="0" dirty="0" smtClean="0">
                <a:solidFill>
                  <a:schemeClr val="tx1"/>
                </a:solidFill>
                <a:latin typeface="+mn-lt"/>
                <a:ea typeface="+mn-ea"/>
                <a:cs typeface="+mn-cs"/>
              </a:rPr>
              <a:t>solution</a:t>
            </a:r>
            <a:r>
              <a:rPr lang="en-US" sz="1200" b="0" i="0" u="none" strike="noStrike" kern="1200" baseline="0" dirty="0" smtClean="0">
                <a:solidFill>
                  <a:schemeClr val="tx1"/>
                </a:solidFill>
                <a:latin typeface="+mn-lt"/>
                <a:ea typeface="+mn-ea"/>
                <a:cs typeface="+mn-cs"/>
              </a:rPr>
              <a:t>.</a:t>
            </a:r>
            <a:endParaRPr lang="en-GB"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pPr fontAlgn="base"/>
            <a:r>
              <a:rPr lang="en-US" sz="1200" b="1" i="0" kern="1200" dirty="0" smtClean="0">
                <a:solidFill>
                  <a:schemeClr val="tx1"/>
                </a:solidFill>
                <a:effectLst/>
                <a:latin typeface="+mn-lt"/>
                <a:ea typeface="+mn-ea"/>
                <a:cs typeface="+mn-cs"/>
              </a:rPr>
              <a:t>Components to formulate the associated problem: </a:t>
            </a:r>
          </a:p>
          <a:p>
            <a:pPr fontAlgn="base"/>
            <a:endParaRPr lang="en-US" sz="1200" b="0" i="0" kern="120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Initial State: </a:t>
            </a:r>
            <a:r>
              <a:rPr lang="en-US" sz="1200" b="0" i="0" kern="1200" dirty="0" smtClean="0">
                <a:solidFill>
                  <a:schemeClr val="tx1"/>
                </a:solidFill>
                <a:effectLst/>
                <a:latin typeface="+mn-lt"/>
                <a:ea typeface="+mn-ea"/>
                <a:cs typeface="+mn-cs"/>
              </a:rPr>
              <a:t>This state requires an initial state for the problem which starts the AI agent towards a specified goal. In this state new methods also initialize problem domain solving by a specific class.</a:t>
            </a:r>
          </a:p>
          <a:p>
            <a:pPr fontAlgn="base"/>
            <a:r>
              <a:rPr lang="en-US" sz="1200" b="1" i="0" kern="1200" dirty="0" smtClean="0">
                <a:solidFill>
                  <a:schemeClr val="tx1"/>
                </a:solidFill>
                <a:effectLst/>
                <a:latin typeface="+mn-lt"/>
                <a:ea typeface="+mn-ea"/>
                <a:cs typeface="+mn-cs"/>
              </a:rPr>
              <a:t>Action:</a:t>
            </a:r>
            <a:r>
              <a:rPr lang="en-US" sz="1200" b="0" i="0" kern="1200" dirty="0" smtClean="0">
                <a:solidFill>
                  <a:schemeClr val="tx1"/>
                </a:solidFill>
                <a:effectLst/>
                <a:latin typeface="+mn-lt"/>
                <a:ea typeface="+mn-ea"/>
                <a:cs typeface="+mn-cs"/>
              </a:rPr>
              <a:t> This stage of problem formulation works with function with a specific class taken from the initial state and all possible actions done in this stage.</a:t>
            </a:r>
          </a:p>
          <a:p>
            <a:pPr fontAlgn="base"/>
            <a:endParaRPr lang="en-US" sz="1200" b="1" i="0" kern="1200" dirty="0" smtClean="0">
              <a:solidFill>
                <a:schemeClr val="tx1"/>
              </a:solidFill>
              <a:effectLst/>
              <a:latin typeface="+mn-lt"/>
              <a:ea typeface="+mn-ea"/>
              <a:cs typeface="+mn-cs"/>
            </a:endParaRPr>
          </a:p>
          <a:p>
            <a:pPr fontAlgn="base"/>
            <a:r>
              <a:rPr lang="en-US" sz="1200" b="1" i="0" strike="sngStrike" kern="1200" dirty="0" smtClean="0">
                <a:solidFill>
                  <a:schemeClr val="tx1"/>
                </a:solidFill>
                <a:effectLst/>
                <a:latin typeface="+mn-lt"/>
                <a:ea typeface="+mn-ea"/>
                <a:cs typeface="+mn-cs"/>
              </a:rPr>
              <a:t>Transition or transition</a:t>
            </a:r>
            <a:r>
              <a:rPr lang="en-US" sz="1200" b="1" i="0" strike="sngStrike" kern="1200" baseline="0" dirty="0" smtClean="0">
                <a:solidFill>
                  <a:schemeClr val="tx1"/>
                </a:solidFill>
                <a:effectLst/>
                <a:latin typeface="+mn-lt"/>
                <a:ea typeface="+mn-ea"/>
                <a:cs typeface="+mn-cs"/>
              </a:rPr>
              <a:t> model</a:t>
            </a:r>
            <a:r>
              <a:rPr lang="en-US" sz="1200" b="1" i="0" strike="sngStrike" kern="1200" dirty="0" smtClean="0">
                <a:solidFill>
                  <a:schemeClr val="tx1"/>
                </a:solidFill>
                <a:effectLst/>
                <a:latin typeface="+mn-lt"/>
                <a:ea typeface="+mn-ea"/>
                <a:cs typeface="+mn-cs"/>
              </a:rPr>
              <a:t>: </a:t>
            </a:r>
            <a:r>
              <a:rPr lang="en-US" sz="1200" b="0" i="0" strike="sngStrike" kern="1200" dirty="0" smtClean="0">
                <a:solidFill>
                  <a:schemeClr val="tx1"/>
                </a:solidFill>
                <a:effectLst/>
                <a:latin typeface="+mn-lt"/>
                <a:ea typeface="+mn-ea"/>
                <a:cs typeface="+mn-cs"/>
              </a:rPr>
              <a:t>This stage of problem formulation integrates the actual action done by the previous action stage and collects the final stage to forward it to their next stage.</a:t>
            </a:r>
          </a:p>
          <a:p>
            <a:pPr fontAlgn="base"/>
            <a:r>
              <a:rPr lang="en-US" sz="1200" b="1" i="0" strike="sngStrike" kern="1200" dirty="0" smtClean="0">
                <a:solidFill>
                  <a:schemeClr val="tx1"/>
                </a:solidFill>
                <a:effectLst/>
                <a:latin typeface="+mn-lt"/>
                <a:ea typeface="+mn-ea"/>
                <a:cs typeface="+mn-cs"/>
              </a:rPr>
              <a:t>Goal test: </a:t>
            </a:r>
            <a:r>
              <a:rPr lang="en-US" sz="1200" b="0" i="0" strike="sngStrike" kern="1200" dirty="0" smtClean="0">
                <a:solidFill>
                  <a:schemeClr val="tx1"/>
                </a:solidFill>
                <a:effectLst/>
                <a:latin typeface="+mn-lt"/>
                <a:ea typeface="+mn-ea"/>
                <a:cs typeface="+mn-cs"/>
              </a:rPr>
              <a:t>This stage determines that the specified goal achieved by the integrated transition model or not, whenever the goal achieves stop the action and forward into the next stage to determines the cost to achieve the goal.  </a:t>
            </a:r>
          </a:p>
          <a:p>
            <a:pPr fontAlgn="base"/>
            <a:r>
              <a:rPr lang="en-US" sz="1200" b="1" i="0" strike="sngStrike" kern="1200" dirty="0" smtClean="0">
                <a:solidFill>
                  <a:schemeClr val="tx1"/>
                </a:solidFill>
                <a:effectLst/>
                <a:latin typeface="+mn-lt"/>
                <a:ea typeface="+mn-ea"/>
                <a:cs typeface="+mn-cs"/>
              </a:rPr>
              <a:t>Path costing: </a:t>
            </a:r>
            <a:r>
              <a:rPr lang="en-US" sz="1200" b="0" i="0" strike="sngStrike" kern="1200" dirty="0" smtClean="0">
                <a:solidFill>
                  <a:schemeClr val="tx1"/>
                </a:solidFill>
                <a:effectLst/>
                <a:latin typeface="+mn-lt"/>
                <a:ea typeface="+mn-ea"/>
                <a:cs typeface="+mn-cs"/>
              </a:rPr>
              <a:t>This component of problem-solving numerical assigned what will be the cost to achieve the goal. It requires all hardware software and human working cost. Remember, </a:t>
            </a:r>
            <a:r>
              <a:rPr lang="en-US" sz="1200" b="1" i="0" strike="sngStrike" kern="1200" dirty="0" smtClean="0">
                <a:solidFill>
                  <a:schemeClr val="tx1"/>
                </a:solidFill>
                <a:effectLst/>
                <a:latin typeface="+mn-lt"/>
                <a:ea typeface="+mn-ea"/>
                <a:cs typeface="+mn-cs"/>
              </a:rPr>
              <a:t>an optimal solution has the lowest path cost among all the solutions.</a:t>
            </a:r>
          </a:p>
          <a:p>
            <a:pPr fontAlgn="base"/>
            <a:endParaRPr lang="en-US" sz="1200" b="1" i="0" kern="1200" dirty="0" smtClean="0">
              <a:solidFill>
                <a:schemeClr val="tx1"/>
              </a:solidFill>
              <a:effectLst/>
              <a:latin typeface="+mn-lt"/>
              <a:ea typeface="+mn-ea"/>
              <a:cs typeface="+mn-cs"/>
            </a:endParaRPr>
          </a:p>
          <a:p>
            <a:pPr fontAlgn="base"/>
            <a:r>
              <a:rPr lang="en-US" sz="1200" b="1" i="0" kern="1200" dirty="0" smtClean="0">
                <a:solidFill>
                  <a:schemeClr val="tx1"/>
                </a:solidFill>
                <a:effectLst/>
                <a:latin typeface="+mn-lt"/>
                <a:ea typeface="+mn-ea"/>
                <a:cs typeface="+mn-cs"/>
              </a:rPr>
              <a:t>Note: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Initial state, actions</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transition model</a:t>
            </a:r>
            <a:r>
              <a:rPr lang="en-US" sz="1200" b="0" i="0" kern="1200" dirty="0" smtClean="0">
                <a:solidFill>
                  <a:schemeClr val="tx1"/>
                </a:solidFill>
                <a:effectLst/>
                <a:latin typeface="+mn-lt"/>
                <a:ea typeface="+mn-ea"/>
                <a:cs typeface="+mn-cs"/>
              </a:rPr>
              <a:t> together define the </a:t>
            </a:r>
            <a:r>
              <a:rPr lang="en-US" sz="1200" b="1" i="0" kern="1200" dirty="0" smtClean="0">
                <a:solidFill>
                  <a:schemeClr val="tx1"/>
                </a:solidFill>
                <a:effectLst/>
                <a:latin typeface="+mn-lt"/>
                <a:ea typeface="+mn-ea"/>
                <a:cs typeface="+mn-cs"/>
              </a:rPr>
              <a:t>state-space</a:t>
            </a:r>
            <a:r>
              <a:rPr lang="en-US" sz="1200" b="0" i="0" kern="1200" dirty="0" smtClean="0">
                <a:solidFill>
                  <a:schemeClr val="tx1"/>
                </a:solidFill>
                <a:effectLst/>
                <a:latin typeface="+mn-lt"/>
                <a:ea typeface="+mn-ea"/>
                <a:cs typeface="+mn-cs"/>
              </a:rPr>
              <a:t> of the problem implicitly. State-space of a problem is a set of all states which can be reached from the initial state followed by any sequence of actions. The state-space forms a directed map or graph where nodes are the states, links between the nodes are actions, and the path is a sequence of states connected by the sequence of actions.</a:t>
            </a:r>
            <a:r>
              <a:rPr lang="en-US" dirty="0" smtClean="0"/>
              <a:t/>
            </a:r>
            <a:br>
              <a:rPr lang="en-US" dirty="0" smtClean="0"/>
            </a:b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11</a:t>
            </a:fld>
            <a:endParaRPr lang="en-GB"/>
          </a:p>
        </p:txBody>
      </p:sp>
    </p:spTree>
    <p:extLst>
      <p:ext uri="{BB962C8B-B14F-4D97-AF65-F5344CB8AC3E}">
        <p14:creationId xmlns:p14="http://schemas.microsoft.com/office/powerpoint/2010/main" val="2675243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Goal test: </a:t>
            </a:r>
            <a:r>
              <a:rPr lang="en-US" sz="1200" b="0" i="0" kern="1200" dirty="0" smtClean="0">
                <a:solidFill>
                  <a:schemeClr val="tx1"/>
                </a:solidFill>
                <a:effectLst/>
                <a:latin typeface="+mn-lt"/>
                <a:ea typeface="+mn-ea"/>
                <a:cs typeface="+mn-cs"/>
              </a:rPr>
              <a:t>This stage determines that the specified goal achieved by the integrated transition model or not, whenever the goal achieves stop the action and forward into the next stage to determines the cost to achieve the goal.  </a:t>
            </a:r>
          </a:p>
          <a:p>
            <a:pPr fontAlgn="base"/>
            <a:r>
              <a:rPr lang="en-US" sz="1200" b="1" i="0" kern="1200" dirty="0" smtClean="0">
                <a:solidFill>
                  <a:schemeClr val="tx1"/>
                </a:solidFill>
                <a:effectLst/>
                <a:latin typeface="+mn-lt"/>
                <a:ea typeface="+mn-ea"/>
                <a:cs typeface="+mn-cs"/>
              </a:rPr>
              <a:t>Path costing: </a:t>
            </a:r>
            <a:r>
              <a:rPr lang="en-US" sz="1200" b="0" i="0" kern="1200" dirty="0" smtClean="0">
                <a:solidFill>
                  <a:schemeClr val="tx1"/>
                </a:solidFill>
                <a:effectLst/>
                <a:latin typeface="+mn-lt"/>
                <a:ea typeface="+mn-ea"/>
                <a:cs typeface="+mn-cs"/>
              </a:rPr>
              <a:t>This component of problem-solving numerical assigned what will be the cost to achieve the goal. It requires all hardware software and human working cost. Remember, </a:t>
            </a:r>
            <a:r>
              <a:rPr lang="en-US" sz="1200" b="1" i="0" kern="1200" dirty="0" smtClean="0">
                <a:solidFill>
                  <a:schemeClr val="tx1"/>
                </a:solidFill>
                <a:effectLst/>
                <a:latin typeface="+mn-lt"/>
                <a:ea typeface="+mn-ea"/>
                <a:cs typeface="+mn-cs"/>
              </a:rPr>
              <a:t>an optimal solution has the lowest path cost among all the solutions.</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A </a:t>
            </a:r>
            <a:r>
              <a:rPr lang="en-US" sz="1200" b="1" i="0" u="none" strike="noStrike" kern="1200" baseline="0" dirty="0" smtClean="0">
                <a:solidFill>
                  <a:schemeClr val="tx1"/>
                </a:solidFill>
                <a:latin typeface="+mn-lt"/>
                <a:ea typeface="+mn-ea"/>
                <a:cs typeface="+mn-cs"/>
              </a:rPr>
              <a:t>path </a:t>
            </a:r>
            <a:r>
              <a:rPr lang="en-US" sz="1200" b="0" i="0" u="none" strike="noStrike" kern="1200" baseline="0" dirty="0" smtClean="0">
                <a:solidFill>
                  <a:schemeClr val="tx1"/>
                </a:solidFill>
                <a:latin typeface="+mn-lt"/>
                <a:ea typeface="+mn-ea"/>
                <a:cs typeface="+mn-cs"/>
              </a:rPr>
              <a:t>through the state space from the initial state to a goal state is a </a:t>
            </a:r>
            <a:r>
              <a:rPr lang="en-US" sz="1200" b="1" i="0" u="none" strike="noStrike" kern="1200" baseline="0" dirty="0" smtClean="0">
                <a:solidFill>
                  <a:schemeClr val="tx1"/>
                </a:solidFill>
                <a:latin typeface="+mn-lt"/>
                <a:ea typeface="+mn-ea"/>
                <a:cs typeface="+mn-cs"/>
              </a:rPr>
              <a:t>solution</a:t>
            </a:r>
            <a:r>
              <a:rPr lang="en-US" sz="1200" b="0" i="0" u="none" strike="noStrike" kern="1200" baseline="0" dirty="0" smtClean="0">
                <a:solidFill>
                  <a:schemeClr val="tx1"/>
                </a:solidFill>
                <a:latin typeface="+mn-lt"/>
                <a:ea typeface="+mn-ea"/>
                <a:cs typeface="+mn-cs"/>
              </a:rPr>
              <a:t>.</a:t>
            </a:r>
            <a:endParaRPr lang="en-GB" sz="1200" b="0" i="0" u="none" strike="noStrike" kern="1200" baseline="0" dirty="0" smtClean="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13</a:t>
            </a:fld>
            <a:endParaRPr lang="en-GB"/>
          </a:p>
        </p:txBody>
      </p:sp>
    </p:spTree>
    <p:extLst>
      <p:ext uri="{BB962C8B-B14F-4D97-AF65-F5344CB8AC3E}">
        <p14:creationId xmlns:p14="http://schemas.microsoft.com/office/powerpoint/2010/main" val="3258708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 </a:t>
            </a:r>
            <a:r>
              <a:rPr lang="en-US" b="1" dirty="0" smtClean="0"/>
              <a:t>step cost </a:t>
            </a:r>
            <a:r>
              <a:rPr lang="en-US" dirty="0" smtClean="0"/>
              <a:t>of taking action a in state s to reach state s is denoted by c(s, a, s). The step costs for Romania are shown in Figure 3.2 as route distances. We assume that step costs are nonnegative.</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14</a:t>
            </a:fld>
            <a:endParaRPr lang="en-GB"/>
          </a:p>
        </p:txBody>
      </p:sp>
    </p:spTree>
    <p:extLst>
      <p:ext uri="{BB962C8B-B14F-4D97-AF65-F5344CB8AC3E}">
        <p14:creationId xmlns:p14="http://schemas.microsoft.com/office/powerpoint/2010/main" val="2149830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a:t>
            </a:r>
            <a:r>
              <a:rPr lang="en-US" sz="1200" b="1" i="0" u="none" strike="noStrike" kern="1200" baseline="0" dirty="0" smtClean="0">
                <a:solidFill>
                  <a:schemeClr val="tx1"/>
                </a:solidFill>
                <a:latin typeface="+mn-lt"/>
                <a:ea typeface="+mn-ea"/>
                <a:cs typeface="+mn-cs"/>
              </a:rPr>
              <a:t> problem </a:t>
            </a:r>
            <a:r>
              <a:rPr lang="en-US" sz="1200" b="0" i="0" u="none" strike="noStrike" kern="1200" baseline="0" dirty="0" smtClean="0">
                <a:solidFill>
                  <a:schemeClr val="tx1"/>
                </a:solidFill>
                <a:latin typeface="+mn-lt"/>
                <a:ea typeface="+mn-ea"/>
                <a:cs typeface="+mn-cs"/>
              </a:rPr>
              <a:t>consists of five parts: the </a:t>
            </a:r>
            <a:r>
              <a:rPr lang="en-US" sz="1200" b="1" i="0" u="none" strike="noStrike" kern="1200" baseline="0" dirty="0" smtClean="0">
                <a:solidFill>
                  <a:schemeClr val="tx1"/>
                </a:solidFill>
                <a:latin typeface="+mn-lt"/>
                <a:ea typeface="+mn-ea"/>
                <a:cs typeface="+mn-cs"/>
              </a:rPr>
              <a:t>initial state</a:t>
            </a:r>
            <a:r>
              <a:rPr lang="en-US" sz="1200" b="0" i="0" u="none" strike="noStrike" kern="1200" baseline="0" dirty="0" smtClean="0">
                <a:solidFill>
                  <a:schemeClr val="tx1"/>
                </a:solidFill>
                <a:latin typeface="+mn-lt"/>
                <a:ea typeface="+mn-ea"/>
                <a:cs typeface="+mn-cs"/>
              </a:rPr>
              <a:t>, a set of </a:t>
            </a:r>
            <a:r>
              <a:rPr lang="en-US" sz="1200" b="1" i="0" u="none" strike="noStrike" kern="1200" baseline="0" dirty="0" smtClean="0">
                <a:solidFill>
                  <a:schemeClr val="tx1"/>
                </a:solidFill>
                <a:latin typeface="+mn-lt"/>
                <a:ea typeface="+mn-ea"/>
                <a:cs typeface="+mn-cs"/>
              </a:rPr>
              <a:t>actions</a:t>
            </a:r>
            <a:r>
              <a:rPr lang="en-US" sz="1200" b="0" i="0" u="none" strike="noStrike" kern="1200" baseline="0" dirty="0" smtClean="0">
                <a:solidFill>
                  <a:schemeClr val="tx1"/>
                </a:solidFill>
                <a:latin typeface="+mn-lt"/>
                <a:ea typeface="+mn-ea"/>
                <a:cs typeface="+mn-cs"/>
              </a:rPr>
              <a:t>, a </a:t>
            </a:r>
            <a:r>
              <a:rPr lang="en-US" sz="1200" b="1" i="0" u="none" strike="noStrike" kern="1200" baseline="0" dirty="0" smtClean="0">
                <a:solidFill>
                  <a:schemeClr val="tx1"/>
                </a:solidFill>
                <a:latin typeface="+mn-lt"/>
                <a:ea typeface="+mn-ea"/>
                <a:cs typeface="+mn-cs"/>
              </a:rPr>
              <a:t>transition model</a:t>
            </a:r>
          </a:p>
          <a:p>
            <a:r>
              <a:rPr lang="en-US" sz="1200" b="0" i="0" u="none" strike="noStrike" kern="1200" baseline="0" dirty="0" smtClean="0">
                <a:solidFill>
                  <a:schemeClr val="tx1"/>
                </a:solidFill>
                <a:latin typeface="+mn-lt"/>
                <a:ea typeface="+mn-ea"/>
                <a:cs typeface="+mn-cs"/>
              </a:rPr>
              <a:t>describing the results of those actions, a </a:t>
            </a:r>
            <a:r>
              <a:rPr lang="en-US" sz="1200" b="1" i="0" u="none" strike="noStrike" kern="1200" baseline="0" dirty="0" smtClean="0">
                <a:solidFill>
                  <a:schemeClr val="tx1"/>
                </a:solidFill>
                <a:latin typeface="+mn-lt"/>
                <a:ea typeface="+mn-ea"/>
                <a:cs typeface="+mn-cs"/>
              </a:rPr>
              <a:t>goal test </a:t>
            </a:r>
            <a:r>
              <a:rPr lang="en-US" sz="1200" b="0" i="0" u="none" strike="noStrike" kern="1200" baseline="0" dirty="0" smtClean="0">
                <a:solidFill>
                  <a:schemeClr val="tx1"/>
                </a:solidFill>
                <a:latin typeface="+mn-lt"/>
                <a:ea typeface="+mn-ea"/>
                <a:cs typeface="+mn-cs"/>
              </a:rPr>
              <a:t>function, and a </a:t>
            </a:r>
            <a:r>
              <a:rPr lang="en-US" sz="1200" b="1" i="0" u="none" strike="noStrike" kern="1200" baseline="0" dirty="0" smtClean="0">
                <a:solidFill>
                  <a:schemeClr val="tx1"/>
                </a:solidFill>
                <a:latin typeface="+mn-lt"/>
                <a:ea typeface="+mn-ea"/>
                <a:cs typeface="+mn-cs"/>
              </a:rPr>
              <a:t>path cost </a:t>
            </a:r>
            <a:r>
              <a:rPr lang="en-US" sz="1200" b="0" i="0" u="none" strike="noStrike" kern="1200" baseline="0" dirty="0" smtClean="0">
                <a:solidFill>
                  <a:schemeClr val="tx1"/>
                </a:solidFill>
                <a:latin typeface="+mn-lt"/>
                <a:ea typeface="+mn-ea"/>
                <a:cs typeface="+mn-cs"/>
              </a:rPr>
              <a:t>function.</a:t>
            </a:r>
          </a:p>
          <a:p>
            <a:r>
              <a:rPr lang="en-US" sz="1200" b="0" i="0" u="none" strike="noStrike" kern="1200" baseline="0" dirty="0" smtClean="0">
                <a:solidFill>
                  <a:schemeClr val="tx1"/>
                </a:solidFill>
                <a:latin typeface="+mn-lt"/>
                <a:ea typeface="+mn-ea"/>
                <a:cs typeface="+mn-cs"/>
              </a:rPr>
              <a:t>The environment of the problem is represented by a </a:t>
            </a:r>
            <a:r>
              <a:rPr lang="en-US" sz="1200" b="1" i="0" u="none" strike="noStrike" kern="1200" baseline="0" dirty="0" smtClean="0">
                <a:solidFill>
                  <a:schemeClr val="tx1"/>
                </a:solidFill>
                <a:latin typeface="+mn-lt"/>
                <a:ea typeface="+mn-ea"/>
                <a:cs typeface="+mn-cs"/>
              </a:rPr>
              <a:t>state space</a:t>
            </a:r>
            <a:r>
              <a:rPr lang="en-US" sz="1200" b="0" i="0" u="none" strike="noStrike" kern="1200" baseline="0" dirty="0" smtClean="0">
                <a:solidFill>
                  <a:schemeClr val="tx1"/>
                </a:solidFill>
                <a:latin typeface="+mn-lt"/>
                <a:ea typeface="+mn-ea"/>
                <a:cs typeface="+mn-cs"/>
              </a:rPr>
              <a:t>. A </a:t>
            </a:r>
            <a:r>
              <a:rPr lang="en-US" sz="1200" b="1" i="0" u="none" strike="noStrike" kern="1200" baseline="0" dirty="0" smtClean="0">
                <a:solidFill>
                  <a:schemeClr val="tx1"/>
                </a:solidFill>
                <a:latin typeface="+mn-lt"/>
                <a:ea typeface="+mn-ea"/>
                <a:cs typeface="+mn-cs"/>
              </a:rPr>
              <a:t>path </a:t>
            </a:r>
            <a:r>
              <a:rPr lang="en-US" sz="1200" b="0" i="0" u="none" strike="noStrike" kern="1200" baseline="0" dirty="0" smtClean="0">
                <a:solidFill>
                  <a:schemeClr val="tx1"/>
                </a:solidFill>
                <a:latin typeface="+mn-lt"/>
                <a:ea typeface="+mn-ea"/>
                <a:cs typeface="+mn-cs"/>
              </a:rPr>
              <a:t>through the</a:t>
            </a:r>
          </a:p>
          <a:p>
            <a:r>
              <a:rPr lang="en-US" sz="1200" b="0" i="0" u="none" strike="noStrike" kern="1200" baseline="0" dirty="0" smtClean="0">
                <a:solidFill>
                  <a:schemeClr val="tx1"/>
                </a:solidFill>
                <a:latin typeface="+mn-lt"/>
                <a:ea typeface="+mn-ea"/>
                <a:cs typeface="+mn-cs"/>
              </a:rPr>
              <a:t>state space from the initial state to a goal state is a </a:t>
            </a:r>
            <a:r>
              <a:rPr lang="en-US" sz="1200" b="1" i="0" u="none" strike="noStrike" kern="1200" baseline="0" dirty="0" smtClean="0">
                <a:solidFill>
                  <a:schemeClr val="tx1"/>
                </a:solidFill>
                <a:latin typeface="+mn-lt"/>
                <a:ea typeface="+mn-ea"/>
                <a:cs typeface="+mn-cs"/>
              </a:rPr>
              <a:t>solution</a:t>
            </a:r>
            <a:r>
              <a:rPr lang="en-US" sz="1200" b="0" i="0" u="none" strike="noStrike" kern="1200" baseline="0" dirty="0" smtClean="0">
                <a:solidFill>
                  <a:schemeClr val="tx1"/>
                </a:solidFill>
                <a:latin typeface="+mn-lt"/>
                <a:ea typeface="+mn-ea"/>
                <a:cs typeface="+mn-cs"/>
              </a:rPr>
              <a:t>.</a:t>
            </a:r>
            <a:endParaRPr lang="en-GB" dirty="0" smtClean="0"/>
          </a:p>
          <a:p>
            <a:endParaRPr lang="en-US" dirty="0" smtClean="0"/>
          </a:p>
          <a:p>
            <a:pPr fontAlgn="base"/>
            <a:r>
              <a:rPr lang="en-US" sz="1200" b="1" i="0" kern="1200" dirty="0" smtClean="0">
                <a:solidFill>
                  <a:schemeClr val="tx1"/>
                </a:solidFill>
                <a:effectLst/>
                <a:latin typeface="+mn-lt"/>
                <a:ea typeface="+mn-ea"/>
                <a:cs typeface="+mn-cs"/>
              </a:rPr>
              <a:t>Goal test: </a:t>
            </a:r>
            <a:r>
              <a:rPr lang="en-US" sz="1200" b="0" i="0" kern="1200" dirty="0" smtClean="0">
                <a:solidFill>
                  <a:schemeClr val="tx1"/>
                </a:solidFill>
                <a:effectLst/>
                <a:latin typeface="+mn-lt"/>
                <a:ea typeface="+mn-ea"/>
                <a:cs typeface="+mn-cs"/>
              </a:rPr>
              <a:t>This stage determines that the specified goal achieved by the integrated transition model or not, whenever the goal achieves stop the action and forward into the next stage to determines the cost to achieve the goal.  </a:t>
            </a:r>
          </a:p>
          <a:p>
            <a:pPr fontAlgn="base"/>
            <a:r>
              <a:rPr lang="en-US" sz="1200" b="1" i="0" kern="1200" dirty="0" smtClean="0">
                <a:solidFill>
                  <a:schemeClr val="tx1"/>
                </a:solidFill>
                <a:effectLst/>
                <a:latin typeface="+mn-lt"/>
                <a:ea typeface="+mn-ea"/>
                <a:cs typeface="+mn-cs"/>
              </a:rPr>
              <a:t>Path costing: </a:t>
            </a:r>
            <a:r>
              <a:rPr lang="en-US" sz="1200" b="0" i="0" kern="1200" dirty="0" smtClean="0">
                <a:solidFill>
                  <a:schemeClr val="tx1"/>
                </a:solidFill>
                <a:effectLst/>
                <a:latin typeface="+mn-lt"/>
                <a:ea typeface="+mn-ea"/>
                <a:cs typeface="+mn-cs"/>
              </a:rPr>
              <a:t>This component of problem-solving numerical assigned what will be the cost to achieve the goal. It requires all hardware software and human working cost. Remember, </a:t>
            </a:r>
            <a:r>
              <a:rPr lang="en-US" sz="1200" b="1" i="0" kern="1200" dirty="0" smtClean="0">
                <a:solidFill>
                  <a:schemeClr val="tx1"/>
                </a:solidFill>
                <a:effectLst/>
                <a:latin typeface="+mn-lt"/>
                <a:ea typeface="+mn-ea"/>
                <a:cs typeface="+mn-cs"/>
              </a:rPr>
              <a:t>an optimal solution has the lowest path cost among all the solutions.</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15</a:t>
            </a:fld>
            <a:endParaRPr lang="en-GB"/>
          </a:p>
        </p:txBody>
      </p:sp>
    </p:spTree>
    <p:extLst>
      <p:ext uri="{BB962C8B-B14F-4D97-AF65-F5344CB8AC3E}">
        <p14:creationId xmlns:p14="http://schemas.microsoft.com/office/powerpoint/2010/main" val="6496866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panose="05000000000000000000" pitchFamily="2" charset="2"/>
              <a:buChar char="q"/>
            </a:pPr>
            <a:r>
              <a:rPr lang="en-US" dirty="0" smtClean="0"/>
              <a:t>In the preceding section we proposed a formulation of the problem of getting to Bucharest in terms of </a:t>
            </a:r>
            <a:r>
              <a:rPr lang="en-US" b="1" i="1" dirty="0" smtClean="0"/>
              <a:t>the initial state, actions, transition model, goal test, and path cost. T</a:t>
            </a:r>
            <a:r>
              <a:rPr lang="en-US" dirty="0" smtClean="0"/>
              <a:t>his formulation seems reasonable, but it is still a </a:t>
            </a:r>
            <a:r>
              <a:rPr lang="en-US" i="1" dirty="0" smtClean="0"/>
              <a:t>model</a:t>
            </a:r>
            <a:r>
              <a:rPr lang="en-US" dirty="0" smtClean="0"/>
              <a:t>—an abstract mathematical description—and not the real thing. </a:t>
            </a:r>
          </a:p>
          <a:p>
            <a:pPr lvl="1">
              <a:buFont typeface="Arial" panose="020B0604020202020204" pitchFamily="34" charset="0"/>
              <a:buChar char="•"/>
            </a:pPr>
            <a:r>
              <a:rPr lang="en-US" dirty="0" smtClean="0"/>
              <a:t>Compare the simple state description we have chosen, In(Arad), to an actual cross country trip, where the state of the world includes so many things: the traveling companions, the current radio program, the scenery out of the window, the proximity of law enforcement officers, the distance to the next rest stop, the condition of the road, the weather, and so on.</a:t>
            </a:r>
          </a:p>
          <a:p>
            <a:pPr>
              <a:buFont typeface="Wingdings" panose="05000000000000000000" pitchFamily="2" charset="2"/>
              <a:buChar char="q"/>
            </a:pPr>
            <a:r>
              <a:rPr lang="en-US" dirty="0" smtClean="0"/>
              <a:t>All these considerations are left out of our state descriptions because they are irrelevant to the problem of finding a route to Bucharest. </a:t>
            </a:r>
          </a:p>
          <a:p>
            <a:pPr>
              <a:buFont typeface="Wingdings" panose="05000000000000000000" pitchFamily="2" charset="2"/>
              <a:buChar char="q"/>
            </a:pPr>
            <a:r>
              <a:rPr lang="en-US" dirty="0" smtClean="0"/>
              <a:t>The process of removing detail from a representation is called </a:t>
            </a:r>
            <a:r>
              <a:rPr lang="en-US" b="1" dirty="0" smtClean="0"/>
              <a:t>abstraction</a:t>
            </a:r>
            <a:r>
              <a:rPr lang="en-US" dirty="0" smtClean="0"/>
              <a:t>.</a:t>
            </a:r>
          </a:p>
          <a:p>
            <a:pPr>
              <a:buFont typeface="Wingdings" panose="05000000000000000000" pitchFamily="2" charset="2"/>
              <a:buChar char="q"/>
            </a:pPr>
            <a:r>
              <a:rPr lang="en-US" dirty="0" smtClean="0"/>
              <a:t>In addition to abstracting the state description, we must abstract the actions themselves. A driving action has many effects.</a:t>
            </a:r>
            <a:endParaRPr lang="en-GB" dirty="0" smtClean="0"/>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16</a:t>
            </a:fld>
            <a:endParaRPr lang="en-GB"/>
          </a:p>
        </p:txBody>
      </p:sp>
    </p:spTree>
    <p:extLst>
      <p:ext uri="{BB962C8B-B14F-4D97-AF65-F5344CB8AC3E}">
        <p14:creationId xmlns:p14="http://schemas.microsoft.com/office/powerpoint/2010/main" val="3279990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Basically, there are two types of problem approaches:</a:t>
            </a:r>
          </a:p>
          <a:p>
            <a:pPr fontAlgn="base"/>
            <a:r>
              <a:rPr lang="en-US" sz="1200" b="1" i="0" kern="1200" dirty="0" smtClean="0">
                <a:solidFill>
                  <a:schemeClr val="tx1"/>
                </a:solidFill>
                <a:effectLst/>
                <a:latin typeface="+mn-lt"/>
                <a:ea typeface="+mn-ea"/>
                <a:cs typeface="+mn-cs"/>
              </a:rPr>
              <a:t>Toy Problem:</a:t>
            </a:r>
            <a:r>
              <a:rPr lang="en-US" sz="1200" b="0" i="0" kern="1200" dirty="0" smtClean="0">
                <a:solidFill>
                  <a:schemeClr val="tx1"/>
                </a:solidFill>
                <a:effectLst/>
                <a:latin typeface="+mn-lt"/>
                <a:ea typeface="+mn-ea"/>
                <a:cs typeface="+mn-cs"/>
              </a:rPr>
              <a:t> It is a concise and exact description of the problem which is used by the researchers to compare the performance of algorithms.</a:t>
            </a:r>
          </a:p>
          <a:p>
            <a:pPr fontAlgn="base"/>
            <a:r>
              <a:rPr lang="en-US" sz="1200" b="1" i="0" kern="1200" dirty="0" smtClean="0">
                <a:solidFill>
                  <a:schemeClr val="tx1"/>
                </a:solidFill>
                <a:effectLst/>
                <a:latin typeface="+mn-lt"/>
                <a:ea typeface="+mn-ea"/>
                <a:cs typeface="+mn-cs"/>
              </a:rPr>
              <a:t>Real-world Problem:</a:t>
            </a:r>
            <a:r>
              <a:rPr lang="en-US" sz="1200" b="0" i="0" kern="1200" dirty="0" smtClean="0">
                <a:solidFill>
                  <a:schemeClr val="tx1"/>
                </a:solidFill>
                <a:effectLst/>
                <a:latin typeface="+mn-lt"/>
                <a:ea typeface="+mn-ea"/>
                <a:cs typeface="+mn-cs"/>
              </a:rPr>
              <a:t> It is real-world based problems which require solutions. Unlike a toy problem, it does not depend on descriptions, but we can have a general formulation of the problem.</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17</a:t>
            </a:fld>
            <a:endParaRPr lang="en-GB"/>
          </a:p>
        </p:txBody>
      </p:sp>
    </p:spTree>
    <p:extLst>
      <p:ext uri="{BB962C8B-B14F-4D97-AF65-F5344CB8AC3E}">
        <p14:creationId xmlns:p14="http://schemas.microsoft.com/office/powerpoint/2010/main" val="3866798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18</a:t>
            </a:fld>
            <a:endParaRPr lang="en-GB"/>
          </a:p>
        </p:txBody>
      </p:sp>
    </p:spTree>
    <p:extLst>
      <p:ext uri="{BB962C8B-B14F-4D97-AF65-F5344CB8AC3E}">
        <p14:creationId xmlns:p14="http://schemas.microsoft.com/office/powerpoint/2010/main" val="3306084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smtClean="0">
                <a:latin typeface="+mn-lt"/>
              </a:rPr>
              <a:t>Water Jug Problem</a:t>
            </a:r>
            <a:r>
              <a:rPr lang="en-GB" sz="1200" dirty="0" smtClean="0">
                <a:latin typeface="+mn-lt"/>
              </a:rPr>
              <a:t>: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We are given two jugs, a 4-gallon one and 3-gallon one. Neither has any measuring marked on it. There is a pump, which can be used to fill the jugs with water. How can we get exactly 2 gallons of water into 4-gallon jug?</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20</a:t>
            </a:fld>
            <a:endParaRPr lang="en-GB"/>
          </a:p>
        </p:txBody>
      </p:sp>
    </p:spTree>
    <p:extLst>
      <p:ext uri="{BB962C8B-B14F-4D97-AF65-F5344CB8AC3E}">
        <p14:creationId xmlns:p14="http://schemas.microsoft.com/office/powerpoint/2010/main" val="1256599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kern="1200" dirty="0" smtClean="0">
                <a:solidFill>
                  <a:schemeClr val="tx1"/>
                </a:solidFill>
                <a:effectLst/>
                <a:latin typeface="+mn-lt"/>
                <a:ea typeface="+mn-ea"/>
                <a:cs typeface="+mn-cs"/>
              </a:rPr>
              <a:t>The state space for this problem can be described as the set of ordered pairs of integers (X, Y) such that X = 0, 1, 2, 3 or 4 and Y = 0, 1, 2 or 3; </a:t>
            </a:r>
          </a:p>
          <a:p>
            <a:pPr fontAlgn="base"/>
            <a:endParaRPr lang="en-US" sz="1200" b="0" kern="1200" dirty="0" smtClean="0">
              <a:solidFill>
                <a:schemeClr val="tx1"/>
              </a:solidFill>
              <a:effectLst/>
              <a:latin typeface="+mn-lt"/>
              <a:ea typeface="+mn-ea"/>
              <a:cs typeface="+mn-cs"/>
            </a:endParaRPr>
          </a:p>
          <a:p>
            <a:pPr fontAlgn="base"/>
            <a:r>
              <a:rPr lang="en-US" sz="1200" b="1" kern="1200" dirty="0" smtClean="0">
                <a:solidFill>
                  <a:schemeClr val="tx1"/>
                </a:solidFill>
                <a:effectLst/>
                <a:latin typeface="+mn-lt"/>
                <a:ea typeface="+mn-ea"/>
                <a:cs typeface="+mn-cs"/>
              </a:rPr>
              <a:t>X is the number of gallons of water in the 4-gallon jug and Y the quantity of water in the 3-gallon jug.</a:t>
            </a:r>
          </a:p>
          <a:p>
            <a:pPr fontAlgn="base"/>
            <a:endParaRPr lang="en-US" sz="1200" b="0" kern="1200" dirty="0" smtClean="0">
              <a:solidFill>
                <a:schemeClr val="tx1"/>
              </a:solidFill>
              <a:effectLst/>
              <a:latin typeface="+mn-lt"/>
              <a:ea typeface="+mn-ea"/>
              <a:cs typeface="+mn-cs"/>
            </a:endParaRPr>
          </a:p>
          <a:p>
            <a:pPr fontAlgn="base"/>
            <a:r>
              <a:rPr lang="en-US" sz="1200" b="1" kern="1200" dirty="0" smtClean="0">
                <a:solidFill>
                  <a:schemeClr val="tx1"/>
                </a:solidFill>
                <a:effectLst/>
                <a:latin typeface="+mn-lt"/>
                <a:ea typeface="+mn-ea"/>
                <a:cs typeface="+mn-cs"/>
              </a:rPr>
              <a:t>The start state  / initial state</a:t>
            </a:r>
            <a:r>
              <a:rPr lang="en-US" sz="1200" b="1" kern="1200" baseline="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is (0, 0) and the goal state is (2, n) for any value of n, as the problem does not specify how many gallons need to be filled in the 3-gallon jug (0, 1, 2, 3). </a:t>
            </a:r>
            <a:r>
              <a:rPr lang="en-US" sz="1200" b="0" kern="1200" dirty="0" smtClean="0">
                <a:solidFill>
                  <a:schemeClr val="tx1"/>
                </a:solidFill>
                <a:effectLst/>
                <a:latin typeface="+mn-lt"/>
                <a:ea typeface="+mn-ea"/>
                <a:cs typeface="+mn-cs"/>
              </a:rPr>
              <a:t>So the problem has one initial state and many goal states. Some problems may have many initial states and one or many goal states.</a:t>
            </a:r>
          </a:p>
          <a:p>
            <a:endParaRPr lang="en-US" dirty="0" smtClean="0"/>
          </a:p>
          <a:p>
            <a:endParaRPr lang="en-US" dirty="0" smtClean="0"/>
          </a:p>
          <a:p>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natural </a:t>
            </a:r>
            <a:r>
              <a:rPr lang="en-US" sz="1200" b="0" i="0" kern="1200" dirty="0" smtClean="0">
                <a:solidFill>
                  <a:schemeClr val="tx1"/>
                </a:solidFill>
                <a:effectLst/>
                <a:latin typeface="+mn-lt"/>
                <a:ea typeface="+mn-ea"/>
                <a:cs typeface="+mn-cs"/>
              </a:rPr>
              <a:t>(or </a:t>
            </a:r>
            <a:r>
              <a:rPr lang="en-US" sz="1200" b="1" i="0" kern="1200" dirty="0" smtClean="0">
                <a:solidFill>
                  <a:schemeClr val="tx1"/>
                </a:solidFill>
                <a:effectLst/>
                <a:latin typeface="+mn-lt"/>
                <a:ea typeface="+mn-ea"/>
                <a:cs typeface="+mn-cs"/>
              </a:rPr>
              <a:t>counting</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numbers</a:t>
            </a:r>
            <a:r>
              <a:rPr lang="en-US" sz="1200" b="0" i="0" kern="1200" dirty="0" smtClean="0">
                <a:solidFill>
                  <a:schemeClr val="tx1"/>
                </a:solidFill>
                <a:effectLst/>
                <a:latin typeface="+mn-lt"/>
                <a:ea typeface="+mn-ea"/>
                <a:cs typeface="+mn-cs"/>
              </a:rPr>
              <a:t> are </a:t>
            </a:r>
            <a:r>
              <a:rPr lang="en-US" sz="1200" b="0" i="0" u="none" strike="noStrike" kern="1200" dirty="0" smtClean="0">
                <a:solidFill>
                  <a:schemeClr val="tx1"/>
                </a:solidFill>
                <a:effectLst/>
                <a:latin typeface="+mn-lt"/>
                <a:ea typeface="+mn-ea"/>
                <a:cs typeface="+mn-cs"/>
              </a:rPr>
              <a:t>1,2,3,4,5,1,2,3,4,5,</a:t>
            </a:r>
            <a:r>
              <a:rPr lang="en-US" sz="1200" b="0" i="0" kern="1200" dirty="0" smtClean="0">
                <a:solidFill>
                  <a:schemeClr val="tx1"/>
                </a:solidFill>
                <a:effectLst/>
                <a:latin typeface="+mn-lt"/>
                <a:ea typeface="+mn-ea"/>
                <a:cs typeface="+mn-cs"/>
              </a:rPr>
              <a:t> etc. There are infinitely many natural numbers. The </a:t>
            </a:r>
            <a:r>
              <a:rPr lang="en-US" sz="1200" b="0" i="0" u="none" strike="noStrike" kern="1200" dirty="0" smtClean="0">
                <a:solidFill>
                  <a:schemeClr val="tx1"/>
                </a:solidFill>
                <a:effectLst/>
                <a:latin typeface="+mn-lt"/>
                <a:ea typeface="+mn-ea"/>
                <a:cs typeface="+mn-cs"/>
                <a:hlinkClick r:id="rId3"/>
              </a:rPr>
              <a:t>set</a:t>
            </a:r>
            <a:r>
              <a:rPr lang="en-US" sz="1200" b="0" i="0" kern="1200" dirty="0" smtClean="0">
                <a:solidFill>
                  <a:schemeClr val="tx1"/>
                </a:solidFill>
                <a:effectLst/>
                <a:latin typeface="+mn-lt"/>
                <a:ea typeface="+mn-ea"/>
                <a:cs typeface="+mn-cs"/>
              </a:rPr>
              <a:t> of natural numbers, </a:t>
            </a:r>
            <a:r>
              <a:rPr lang="en-US" sz="1200" b="0" i="0" u="none" strike="noStrike" kern="1200" dirty="0" smtClean="0">
                <a:solidFill>
                  <a:schemeClr val="tx1"/>
                </a:solidFill>
                <a:effectLst/>
                <a:latin typeface="+mn-lt"/>
                <a:ea typeface="+mn-ea"/>
                <a:cs typeface="+mn-cs"/>
              </a:rPr>
              <a:t>{1,2,3,4,5,...}{1,2,3,4,5,...}</a:t>
            </a:r>
            <a:r>
              <a:rPr lang="en-US" sz="1200" b="0" i="0" kern="1200" dirty="0" smtClean="0">
                <a:solidFill>
                  <a:schemeClr val="tx1"/>
                </a:solidFill>
                <a:effectLst/>
                <a:latin typeface="+mn-lt"/>
                <a:ea typeface="+mn-ea"/>
                <a:cs typeface="+mn-cs"/>
              </a:rPr>
              <a:t>, is sometimes written </a:t>
            </a:r>
            <a:r>
              <a:rPr lang="en-US" sz="1200" b="0" i="0" u="none" strike="noStrike" kern="1200" dirty="0" smtClean="0">
                <a:solidFill>
                  <a:schemeClr val="tx1"/>
                </a:solidFill>
                <a:effectLst/>
                <a:latin typeface="+mn-lt"/>
                <a:ea typeface="+mn-ea"/>
                <a:cs typeface="+mn-cs"/>
              </a:rPr>
              <a:t>N</a:t>
            </a:r>
            <a:r>
              <a:rPr lang="en-US" sz="1200" b="0" i="0" u="none" strike="noStrike" kern="1200" baseline="0" dirty="0" smtClean="0">
                <a:solidFill>
                  <a:schemeClr val="tx1"/>
                </a:solidFill>
                <a:effectLst/>
                <a:latin typeface="+mn-lt"/>
                <a:ea typeface="+mn-ea"/>
                <a:cs typeface="+mn-cs"/>
              </a:rPr>
              <a:t> or n</a:t>
            </a:r>
            <a:r>
              <a:rPr lang="en-US" sz="1200" b="0" i="0" kern="1200" dirty="0" smtClean="0">
                <a:solidFill>
                  <a:schemeClr val="tx1"/>
                </a:solidFill>
                <a:effectLst/>
                <a:latin typeface="+mn-lt"/>
                <a:ea typeface="+mn-ea"/>
                <a:cs typeface="+mn-cs"/>
              </a:rPr>
              <a:t> for short]</a:t>
            </a:r>
          </a:p>
          <a:p>
            <a:endParaRPr lang="en-US" sz="1200" b="0" i="0" kern="1200" dirty="0" smtClean="0">
              <a:solidFill>
                <a:schemeClr val="tx1"/>
              </a:solidFill>
              <a:effectLst/>
              <a:latin typeface="+mn-lt"/>
              <a:ea typeface="+mn-ea"/>
              <a:cs typeface="+mn-cs"/>
            </a:endParaRPr>
          </a:p>
          <a:p>
            <a:r>
              <a:rPr lang="en-GB" b="1" dirty="0" smtClean="0"/>
              <a:t>https://www.youtube.com/watch?v=GUF-RbTVgGo</a:t>
            </a:r>
          </a:p>
          <a:p>
            <a:r>
              <a:rPr lang="en-GB" b="1" dirty="0" smtClean="0"/>
              <a:t>https://www.engineeringenotes.com/artificial-intelligence-2/state-space-search/notes-on-water-jug-problem-artificial-intelligence/34582</a:t>
            </a:r>
            <a:endParaRPr lang="en-GB" b="1"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21</a:t>
            </a:fld>
            <a:endParaRPr lang="en-GB"/>
          </a:p>
        </p:txBody>
      </p:sp>
    </p:spTree>
    <p:extLst>
      <p:ext uri="{BB962C8B-B14F-4D97-AF65-F5344CB8AC3E}">
        <p14:creationId xmlns:p14="http://schemas.microsoft.com/office/powerpoint/2010/main" val="75336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Here is one solution that we can use. We must define a set of operators that</a:t>
            </a:r>
            <a:r>
              <a:rPr lang="en-US" sz="1200" b="1" i="0" kern="1200" baseline="0" dirty="0" smtClean="0">
                <a:solidFill>
                  <a:schemeClr val="tx1"/>
                </a:solidFill>
                <a:effectLst/>
                <a:latin typeface="+mn-lt"/>
                <a:ea typeface="+mn-ea"/>
                <a:cs typeface="+mn-cs"/>
              </a:rPr>
              <a:t> will take us from one state to another.</a:t>
            </a:r>
            <a:r>
              <a:rPr lang="en-US" sz="1200" b="1" i="0" strike="sngStrike" kern="1200" baseline="0" dirty="0" smtClean="0">
                <a:solidFill>
                  <a:schemeClr val="tx1"/>
                </a:solidFill>
                <a:effectLst/>
                <a:latin typeface="+mn-lt"/>
                <a:ea typeface="+mn-ea"/>
                <a:cs typeface="+mn-cs"/>
              </a:rPr>
              <a:t> (</a:t>
            </a:r>
            <a:r>
              <a:rPr lang="en-US" sz="1200" b="1" i="0" strike="sngStrike" kern="1200" dirty="0" smtClean="0">
                <a:solidFill>
                  <a:schemeClr val="tx1"/>
                </a:solidFill>
                <a:effectLst/>
                <a:latin typeface="+mn-lt"/>
                <a:ea typeface="+mn-ea"/>
                <a:cs typeface="+mn-cs"/>
              </a:rPr>
              <a:t>The operators to be used to solve the problem can be described as shown in Fig above)</a:t>
            </a:r>
            <a:endParaRPr lang="en-GB" strike="sngStrike"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22</a:t>
            </a:fld>
            <a:endParaRPr lang="en-GB"/>
          </a:p>
        </p:txBody>
      </p:sp>
    </p:spTree>
    <p:extLst>
      <p:ext uri="{BB962C8B-B14F-4D97-AF65-F5344CB8AC3E}">
        <p14:creationId xmlns:p14="http://schemas.microsoft.com/office/powerpoint/2010/main" val="825565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23</a:t>
            </a:fld>
            <a:endParaRPr lang="en-GB"/>
          </a:p>
        </p:txBody>
      </p:sp>
    </p:spTree>
    <p:extLst>
      <p:ext uri="{BB962C8B-B14F-4D97-AF65-F5344CB8AC3E}">
        <p14:creationId xmlns:p14="http://schemas.microsoft.com/office/powerpoint/2010/main" val="219041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24</a:t>
            </a:fld>
            <a:endParaRPr lang="en-GB"/>
          </a:p>
        </p:txBody>
      </p:sp>
    </p:spTree>
    <p:extLst>
      <p:ext uri="{BB962C8B-B14F-4D97-AF65-F5344CB8AC3E}">
        <p14:creationId xmlns:p14="http://schemas.microsoft.com/office/powerpoint/2010/main" val="2342743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fontAlgn="base"/>
            <a:r>
              <a:rPr lang="en-US" sz="1200" b="1" kern="1200" dirty="0" smtClean="0">
                <a:solidFill>
                  <a:schemeClr val="tx1"/>
                </a:solidFill>
                <a:effectLst/>
                <a:latin typeface="+mn-lt"/>
                <a:ea typeface="+mn-ea"/>
                <a:cs typeface="+mn-cs"/>
              </a:rPr>
              <a:t>To formalize a problem the following steps are needed:</a:t>
            </a:r>
            <a:endParaRPr lang="en-US" sz="1200" b="0" kern="1200" dirty="0" smtClean="0">
              <a:solidFill>
                <a:schemeClr val="tx1"/>
              </a:solidFill>
              <a:effectLst/>
              <a:latin typeface="+mn-lt"/>
              <a:ea typeface="+mn-ea"/>
              <a:cs typeface="+mn-cs"/>
            </a:endParaRPr>
          </a:p>
          <a:p>
            <a:pPr fontAlgn="base"/>
            <a:r>
              <a:rPr lang="en-US" sz="1200" b="0" kern="1200" dirty="0" smtClean="0">
                <a:solidFill>
                  <a:schemeClr val="tx1"/>
                </a:solidFill>
                <a:effectLst/>
                <a:latin typeface="+mn-lt"/>
                <a:ea typeface="+mn-ea"/>
                <a:cs typeface="+mn-cs"/>
              </a:rPr>
              <a:t>(</a:t>
            </a:r>
            <a:r>
              <a:rPr lang="en-US" sz="1200" b="0" kern="1200" dirty="0" err="1" smtClean="0">
                <a:solidFill>
                  <a:schemeClr val="tx1"/>
                </a:solidFill>
                <a:effectLst/>
                <a:latin typeface="+mn-lt"/>
                <a:ea typeface="+mn-ea"/>
                <a:cs typeface="+mn-cs"/>
              </a:rPr>
              <a:t>i</a:t>
            </a:r>
            <a:r>
              <a:rPr lang="en-US" sz="1200" b="0" kern="1200" dirty="0" smtClean="0">
                <a:solidFill>
                  <a:schemeClr val="tx1"/>
                </a:solidFill>
                <a:effectLst/>
                <a:latin typeface="+mn-lt"/>
                <a:ea typeface="+mn-ea"/>
                <a:cs typeface="+mn-cs"/>
              </a:rPr>
              <a:t>) Define the problem precisely, giving the specification of what the initial situation (s) and the final situation (s) will be.</a:t>
            </a:r>
          </a:p>
          <a:p>
            <a:pPr fontAlgn="base"/>
            <a:r>
              <a:rPr lang="en-US" sz="1200" b="0" kern="1200" dirty="0" smtClean="0">
                <a:solidFill>
                  <a:schemeClr val="tx1"/>
                </a:solidFill>
                <a:effectLst/>
                <a:latin typeface="+mn-lt"/>
                <a:ea typeface="+mn-ea"/>
                <a:cs typeface="+mn-cs"/>
              </a:rPr>
              <a:t>(ii) Analyze the problem because a few important features can have immense impact on the suitability of different techniques available for solving the problem.</a:t>
            </a:r>
          </a:p>
          <a:p>
            <a:pPr fontAlgn="base"/>
            <a:r>
              <a:rPr lang="en-US" sz="1200" b="0" kern="1200" dirty="0" smtClean="0">
                <a:solidFill>
                  <a:schemeClr val="tx1"/>
                </a:solidFill>
                <a:effectLst/>
                <a:latin typeface="+mn-lt"/>
                <a:ea typeface="+mn-ea"/>
                <a:cs typeface="+mn-cs"/>
              </a:rPr>
              <a:t>(iii) Represent the knowledge completely, which is necessary to solve problem in a given domain.</a:t>
            </a:r>
          </a:p>
          <a:p>
            <a:pPr fontAlgn="base"/>
            <a:r>
              <a:rPr lang="en-US" sz="1200" b="0" kern="1200" dirty="0" smtClean="0">
                <a:solidFill>
                  <a:schemeClr val="tx1"/>
                </a:solidFill>
                <a:effectLst/>
                <a:latin typeface="+mn-lt"/>
                <a:ea typeface="+mn-ea"/>
                <a:cs typeface="+mn-cs"/>
              </a:rPr>
              <a:t>(iv) Choose the best technique(s) and apply it (them) to the particular problem.</a:t>
            </a:r>
          </a:p>
          <a:p>
            <a:pPr fontAlgn="base"/>
            <a:r>
              <a:rPr lang="en-US" sz="1200" b="0" kern="1200" dirty="0" smtClean="0">
                <a:solidFill>
                  <a:schemeClr val="tx1"/>
                </a:solidFill>
                <a:effectLst/>
                <a:latin typeface="+mn-lt"/>
                <a:ea typeface="+mn-ea"/>
                <a:cs typeface="+mn-cs"/>
              </a:rPr>
              <a:t>Depending upon the control strategy</a:t>
            </a:r>
            <a:r>
              <a:rPr lang="en-US" sz="1200" b="0" kern="1200" baseline="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to be used the performance of problem solving procedure can be improved or degraded. It is thus clear that to create a program for solving a problem simply the formal description of the problem has to be generated using the knowledge about the given problem. This process is called operationalization.</a:t>
            </a:r>
          </a:p>
          <a:p>
            <a:pPr fontAlgn="base"/>
            <a:r>
              <a:rPr lang="en-US" sz="1200" b="0" kern="1200" dirty="0" smtClean="0">
                <a:solidFill>
                  <a:schemeClr val="tx1"/>
                </a:solidFill>
                <a:effectLst/>
                <a:latin typeface="+mn-lt"/>
                <a:ea typeface="+mn-ea"/>
                <a:cs typeface="+mn-cs"/>
              </a:rPr>
              <a:t>Water jug problem is a simple illustration of solving a problem through state space search. But many difficult problems such as understanding of natural Language which need to be solved by the AI techniques, the water jug problem can act as a strong basis for such tedious problems. This was done in the case of ELIZA, an early AI program.</a:t>
            </a:r>
          </a:p>
          <a:p>
            <a:endParaRPr lang="en-US" dirty="0" smtClean="0"/>
          </a:p>
          <a:p>
            <a:pPr fontAlgn="base"/>
            <a:r>
              <a:rPr lang="en-US" sz="1200" b="1" kern="1200" dirty="0" err="1" smtClean="0">
                <a:solidFill>
                  <a:schemeClr val="tx1"/>
                </a:solidFill>
                <a:effectLst/>
                <a:latin typeface="+mn-lt"/>
                <a:ea typeface="+mn-ea"/>
                <a:cs typeface="+mn-cs"/>
              </a:rPr>
              <a:t>Summarizingly</a:t>
            </a:r>
            <a:r>
              <a:rPr lang="en-US" sz="1200" b="1" kern="1200" dirty="0" smtClean="0">
                <a:solidFill>
                  <a:schemeClr val="tx1"/>
                </a:solidFill>
                <a:effectLst/>
                <a:latin typeface="+mn-lt"/>
                <a:ea typeface="+mn-ea"/>
                <a:cs typeface="+mn-cs"/>
              </a:rPr>
              <a:t> any problem can be solved by the following series of step:</a:t>
            </a:r>
            <a:endParaRPr lang="en-US" sz="1200" b="0" kern="1200" dirty="0" smtClean="0">
              <a:solidFill>
                <a:schemeClr val="tx1"/>
              </a:solidFill>
              <a:effectLst/>
              <a:latin typeface="+mn-lt"/>
              <a:ea typeface="+mn-ea"/>
              <a:cs typeface="+mn-cs"/>
            </a:endParaRPr>
          </a:p>
          <a:p>
            <a:pPr fontAlgn="base"/>
            <a:r>
              <a:rPr lang="en-US" sz="1200" b="0" kern="1200" dirty="0" smtClean="0">
                <a:solidFill>
                  <a:schemeClr val="tx1"/>
                </a:solidFill>
                <a:effectLst/>
                <a:latin typeface="+mn-lt"/>
                <a:ea typeface="+mn-ea"/>
                <a:cs typeface="+mn-cs"/>
              </a:rPr>
              <a:t>1. </a:t>
            </a:r>
            <a:r>
              <a:rPr lang="en-US" sz="1200" b="1" i="1" kern="1200" dirty="0" smtClean="0">
                <a:solidFill>
                  <a:schemeClr val="tx1"/>
                </a:solidFill>
                <a:effectLst/>
                <a:latin typeface="+mn-lt"/>
                <a:ea typeface="+mn-ea"/>
                <a:cs typeface="+mn-cs"/>
              </a:rPr>
              <a:t>Define a state space which contains all the possible configurations of the relevant objects and even some impossible ones.</a:t>
            </a:r>
          </a:p>
          <a:p>
            <a:pPr fontAlgn="base"/>
            <a:r>
              <a:rPr lang="en-US" sz="1200" b="1" i="1" kern="1200" dirty="0" smtClean="0">
                <a:solidFill>
                  <a:schemeClr val="tx1"/>
                </a:solidFill>
                <a:effectLst/>
                <a:latin typeface="+mn-lt"/>
                <a:ea typeface="+mn-ea"/>
                <a:cs typeface="+mn-cs"/>
              </a:rPr>
              <a:t>2. Specify one or more </a:t>
            </a:r>
            <a:r>
              <a:rPr lang="en-US" sz="1200" b="1" i="1" kern="1200" dirty="0" smtClean="0">
                <a:solidFill>
                  <a:schemeClr val="tx1"/>
                </a:solidFill>
                <a:effectLst/>
                <a:latin typeface="+mn-lt"/>
                <a:ea typeface="+mn-ea"/>
                <a:cs typeface="+mn-cs"/>
              </a:rPr>
              <a:t>states within that space which would describe possible situations from which the problem solving process may start. These states are called the initial states.</a:t>
            </a:r>
          </a:p>
          <a:p>
            <a:pPr fontAlgn="base"/>
            <a:r>
              <a:rPr lang="en-US" sz="1200" b="1" i="1" kern="1200" dirty="0" smtClean="0">
                <a:solidFill>
                  <a:schemeClr val="tx1"/>
                </a:solidFill>
                <a:effectLst/>
                <a:latin typeface="+mn-lt"/>
                <a:ea typeface="+mn-ea"/>
                <a:cs typeface="+mn-cs"/>
              </a:rPr>
              <a:t>3. Specify one or more states which would be acceptable as solutions to the problem. These states are called goal states.</a:t>
            </a:r>
          </a:p>
          <a:p>
            <a:pPr fontAlgn="base"/>
            <a:r>
              <a:rPr lang="en-US" sz="1200" b="1" i="1" kern="1200" dirty="0" smtClean="0">
                <a:solidFill>
                  <a:schemeClr val="tx1"/>
                </a:solidFill>
                <a:effectLst/>
                <a:latin typeface="+mn-lt"/>
                <a:ea typeface="+mn-ea"/>
                <a:cs typeface="+mn-cs"/>
              </a:rPr>
              <a:t>4</a:t>
            </a:r>
            <a:r>
              <a:rPr lang="en-US" sz="1200" b="1" i="1" kern="1200" dirty="0" smtClean="0">
                <a:solidFill>
                  <a:schemeClr val="tx1"/>
                </a:solidFill>
                <a:effectLst/>
                <a:latin typeface="+mn-lt"/>
                <a:ea typeface="+mn-ea"/>
                <a:cs typeface="+mn-cs"/>
              </a:rPr>
              <a:t>. Specify a set of rules which describe the actions (operators) available and a control strategy to decide the order of application of these rules.</a:t>
            </a:r>
          </a:p>
          <a:p>
            <a:pPr fontAlgn="base"/>
            <a:r>
              <a:rPr lang="en-US" sz="1200" b="0" kern="1200" dirty="0" smtClean="0">
                <a:solidFill>
                  <a:schemeClr val="tx1"/>
                </a:solidFill>
                <a:effectLst/>
                <a:latin typeface="+mn-lt"/>
                <a:ea typeface="+mn-ea"/>
                <a:cs typeface="+mn-cs"/>
              </a:rPr>
              <a:t>The problem can be solved by collecting all knowledge of the problem, (in the present case, water jug problem) with the help of production rules and using an appropriate control strategy; move through the problem space until a path from an initial state to goal state is found.</a:t>
            </a:r>
          </a:p>
          <a:p>
            <a:pPr fontAlgn="base"/>
            <a:r>
              <a:rPr lang="en-US" sz="1200" b="0" kern="1200" dirty="0" smtClean="0">
                <a:solidFill>
                  <a:schemeClr val="tx1"/>
                </a:solidFill>
                <a:effectLst/>
                <a:latin typeface="+mn-lt"/>
                <a:ea typeface="+mn-ea"/>
                <a:cs typeface="+mn-cs"/>
              </a:rPr>
              <a:t>This is the process of search which is fundamental to the problem solving process. (This does not, however, mean that other more direct approaches cannot be exploited. Whenever possible, they can be included in the search by embedding them into the rules).</a:t>
            </a:r>
          </a:p>
          <a:p>
            <a:pPr fontAlgn="base"/>
            <a:r>
              <a:rPr lang="en-US" sz="1200" b="0" kern="1200" dirty="0" smtClean="0">
                <a:solidFill>
                  <a:schemeClr val="tx1"/>
                </a:solidFill>
                <a:effectLst/>
                <a:latin typeface="+mn-lt"/>
                <a:ea typeface="+mn-ea"/>
                <a:cs typeface="+mn-cs"/>
              </a:rPr>
              <a:t>Since search provides the core of many intelligent processes, it is useful to structure AI program in a way which facilitates describing and performing the search process.</a:t>
            </a:r>
          </a:p>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25</a:t>
            </a:fld>
            <a:endParaRPr lang="en-GB"/>
          </a:p>
        </p:txBody>
      </p:sp>
    </p:spTree>
    <p:extLst>
      <p:ext uri="{BB962C8B-B14F-4D97-AF65-F5344CB8AC3E}">
        <p14:creationId xmlns:p14="http://schemas.microsoft.com/office/powerpoint/2010/main" val="3205201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Strategies that know whether </a:t>
            </a:r>
            <a:r>
              <a:rPr lang="en-US" sz="1200" b="0" i="0" u="none" strike="noStrike" kern="1200" baseline="0" dirty="0" smtClean="0">
                <a:solidFill>
                  <a:schemeClr val="tx1"/>
                </a:solidFill>
                <a:latin typeface="+mn-lt"/>
                <a:ea typeface="+mn-ea"/>
                <a:cs typeface="+mn-cs"/>
              </a:rPr>
              <a:t>one non-goal state is “more promising” than another are called </a:t>
            </a:r>
            <a:r>
              <a:rPr lang="en-US" sz="1200" b="1" i="0" u="none" strike="noStrike" kern="1200" baseline="0" dirty="0" smtClean="0">
                <a:solidFill>
                  <a:schemeClr val="tx1"/>
                </a:solidFill>
                <a:latin typeface="+mn-lt"/>
                <a:ea typeface="+mn-ea"/>
                <a:cs typeface="+mn-cs"/>
              </a:rPr>
              <a:t>informed search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heuristic </a:t>
            </a:r>
            <a:r>
              <a:rPr lang="en-GB" sz="1200" b="1" i="0" u="none" strike="noStrike" kern="1200" baseline="0" dirty="0" smtClean="0">
                <a:solidFill>
                  <a:schemeClr val="tx1"/>
                </a:solidFill>
                <a:latin typeface="+mn-lt"/>
                <a:ea typeface="+mn-ea"/>
                <a:cs typeface="+mn-cs"/>
              </a:rPr>
              <a:t>search </a:t>
            </a:r>
            <a:r>
              <a:rPr lang="en-GB" sz="1200" b="0" i="0" u="none" strike="noStrike" kern="1200" baseline="0" dirty="0" smtClean="0">
                <a:solidFill>
                  <a:schemeClr val="tx1"/>
                </a:solidFill>
                <a:latin typeface="+mn-lt"/>
                <a:ea typeface="+mn-ea"/>
                <a:cs typeface="+mn-cs"/>
              </a:rPr>
              <a:t>strategies.</a:t>
            </a:r>
          </a:p>
          <a:p>
            <a:endParaRPr lang="en-US" sz="1200" b="0" i="0" u="none" strike="noStrike" kern="1200" baseline="0" dirty="0" smtClean="0">
              <a:solidFill>
                <a:schemeClr val="tx1"/>
              </a:solidFill>
              <a:latin typeface="+mn-lt"/>
              <a:ea typeface="+mn-ea"/>
              <a:cs typeface="+mn-cs"/>
            </a:endParaRPr>
          </a:p>
          <a:p>
            <a:r>
              <a:rPr lang="en-GB" sz="1200" b="1" i="0" u="none" strike="noStrike" kern="1200" baseline="0" dirty="0" smtClean="0">
                <a:solidFill>
                  <a:schemeClr val="tx1"/>
                </a:solidFill>
                <a:latin typeface="+mn-lt"/>
                <a:ea typeface="+mn-ea"/>
                <a:cs typeface="+mn-cs"/>
              </a:rPr>
              <a:t>Uninformed </a:t>
            </a:r>
            <a:r>
              <a:rPr lang="en-US" sz="1200" b="1" i="0" u="none" strike="noStrike" kern="1200" baseline="0" dirty="0" smtClean="0">
                <a:solidFill>
                  <a:schemeClr val="tx1"/>
                </a:solidFill>
                <a:latin typeface="+mn-lt"/>
                <a:ea typeface="+mn-ea"/>
                <a:cs typeface="+mn-cs"/>
              </a:rPr>
              <a:t>search </a:t>
            </a:r>
            <a:r>
              <a:rPr lang="en-US" sz="1200" b="0" i="0" u="none" strike="noStrike" kern="1200" baseline="0" dirty="0" smtClean="0">
                <a:solidFill>
                  <a:schemeClr val="tx1"/>
                </a:solidFill>
                <a:latin typeface="+mn-lt"/>
                <a:ea typeface="+mn-ea"/>
                <a:cs typeface="+mn-cs"/>
              </a:rPr>
              <a:t>(also called </a:t>
            </a:r>
            <a:r>
              <a:rPr lang="en-US" sz="1200" b="1" i="0" u="none" strike="noStrike" kern="1200" baseline="0" dirty="0" smtClean="0">
                <a:solidFill>
                  <a:schemeClr val="tx1"/>
                </a:solidFill>
                <a:latin typeface="+mn-lt"/>
                <a:ea typeface="+mn-ea"/>
                <a:cs typeface="+mn-cs"/>
              </a:rPr>
              <a:t>blind search</a:t>
            </a:r>
            <a:r>
              <a:rPr lang="en-US" sz="1200" b="0" i="0" u="none" strike="noStrike" kern="1200" baseline="0" dirty="0" smtClean="0">
                <a:solidFill>
                  <a:schemeClr val="tx1"/>
                </a:solidFill>
                <a:latin typeface="+mn-lt"/>
                <a:ea typeface="+mn-ea"/>
                <a:cs typeface="+mn-cs"/>
              </a:rPr>
              <a:t>) means that the strategies have no additional information about states beyond that provided in the problem definition. All they can do is</a:t>
            </a:r>
          </a:p>
          <a:p>
            <a:r>
              <a:rPr lang="en-US" sz="1200" b="0" i="0" u="none" strike="noStrike" kern="1200" baseline="0" dirty="0" smtClean="0">
                <a:solidFill>
                  <a:schemeClr val="tx1"/>
                </a:solidFill>
                <a:latin typeface="+mn-lt"/>
                <a:ea typeface="+mn-ea"/>
                <a:cs typeface="+mn-cs"/>
              </a:rPr>
              <a:t>generate successors and distinguish a goal state from a non-goal state. All search strategies are distinguished by the </a:t>
            </a:r>
            <a:r>
              <a:rPr lang="en-US" sz="1200" b="0" i="1" u="none" strike="noStrike" kern="1200" baseline="0" dirty="0" smtClean="0">
                <a:solidFill>
                  <a:schemeClr val="tx1"/>
                </a:solidFill>
                <a:latin typeface="+mn-lt"/>
                <a:ea typeface="+mn-ea"/>
                <a:cs typeface="+mn-cs"/>
              </a:rPr>
              <a:t>order </a:t>
            </a:r>
            <a:r>
              <a:rPr lang="en-US" sz="1200" b="0" i="0" u="none" strike="noStrike" kern="1200" baseline="0" dirty="0" smtClean="0">
                <a:solidFill>
                  <a:schemeClr val="tx1"/>
                </a:solidFill>
                <a:latin typeface="+mn-lt"/>
                <a:ea typeface="+mn-ea"/>
                <a:cs typeface="+mn-cs"/>
              </a:rPr>
              <a:t>in which nodes are expanded.</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33</a:t>
            </a:fld>
            <a:endParaRPr lang="en-GB"/>
          </a:p>
        </p:txBody>
      </p:sp>
    </p:spTree>
    <p:extLst>
      <p:ext uri="{BB962C8B-B14F-4D97-AF65-F5344CB8AC3E}">
        <p14:creationId xmlns:p14="http://schemas.microsoft.com/office/powerpoint/2010/main" val="3957483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Breadth-first search </a:t>
            </a:r>
            <a:r>
              <a:rPr lang="en-US" sz="1200" b="0" i="0" u="none" strike="noStrike" kern="1200" baseline="0" dirty="0" smtClean="0">
                <a:solidFill>
                  <a:schemeClr val="tx1"/>
                </a:solidFill>
                <a:latin typeface="+mn-lt"/>
                <a:ea typeface="+mn-ea"/>
                <a:cs typeface="+mn-cs"/>
              </a:rPr>
              <a:t>is a simple strategy in which the root node is expanded first, then all the successors of the root node are expanded next, then </a:t>
            </a:r>
            <a:r>
              <a:rPr lang="en-US" sz="1200" b="0" i="1" u="none" strike="noStrike" kern="1200" baseline="0" dirty="0" smtClean="0">
                <a:solidFill>
                  <a:schemeClr val="tx1"/>
                </a:solidFill>
                <a:latin typeface="+mn-lt"/>
                <a:ea typeface="+mn-ea"/>
                <a:cs typeface="+mn-cs"/>
              </a:rPr>
              <a:t>their </a:t>
            </a:r>
            <a:r>
              <a:rPr lang="en-US" sz="1200" b="0" i="0" u="none" strike="noStrike" kern="1200" baseline="0" dirty="0" smtClean="0">
                <a:solidFill>
                  <a:schemeClr val="tx1"/>
                </a:solidFill>
                <a:latin typeface="+mn-lt"/>
                <a:ea typeface="+mn-ea"/>
                <a:cs typeface="+mn-cs"/>
              </a:rPr>
              <a:t>successors, and so on. In general, all the nodes are expanded at a given depth in the search tree before any nodes at the next </a:t>
            </a:r>
            <a:r>
              <a:rPr lang="en-GB" sz="1200" b="0" i="0" u="none" strike="noStrike" kern="1200" baseline="0" dirty="0" smtClean="0">
                <a:solidFill>
                  <a:schemeClr val="tx1"/>
                </a:solidFill>
                <a:latin typeface="+mn-lt"/>
                <a:ea typeface="+mn-ea"/>
                <a:cs typeface="+mn-cs"/>
              </a:rPr>
              <a:t>level are expanded.</a:t>
            </a:r>
          </a:p>
          <a:p>
            <a:endParaRPr lang="en-US" sz="1200" b="0" i="0" u="none" strike="noStrike" kern="1200" baseline="0" dirty="0" smtClean="0">
              <a:solidFill>
                <a:schemeClr val="tx1"/>
              </a:solidFill>
              <a:latin typeface="+mn-lt"/>
              <a:ea typeface="+mn-ea"/>
              <a:cs typeface="+mn-cs"/>
            </a:endParaRPr>
          </a:p>
          <a:p>
            <a:r>
              <a:rPr lang="en-US" b="1" dirty="0" smtClean="0"/>
              <a:t>Depth-first </a:t>
            </a:r>
            <a:r>
              <a:rPr lang="en-US" dirty="0" smtClean="0"/>
              <a:t>search always expands the deepest node in the current frontier of the search tree. The search proceeds immediately to the deepest level of the search tree, where the nodes have no successors. As those nodes are expanded, they are dropped from the frontier, so then the search “backs up” to the next deepest node that still has unexplored successors.</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34</a:t>
            </a:fld>
            <a:endParaRPr lang="en-GB"/>
          </a:p>
        </p:txBody>
      </p:sp>
    </p:spTree>
    <p:extLst>
      <p:ext uri="{BB962C8B-B14F-4D97-AF65-F5344CB8AC3E}">
        <p14:creationId xmlns:p14="http://schemas.microsoft.com/office/powerpoint/2010/main" val="2659398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section shows how an </a:t>
            </a:r>
            <a:r>
              <a:rPr lang="en-US" b="1" dirty="0" smtClean="0"/>
              <a:t>informed search strategy—one </a:t>
            </a:r>
            <a:r>
              <a:rPr lang="en-US" dirty="0" smtClean="0"/>
              <a:t>that uses problem-specific knowledge</a:t>
            </a:r>
          </a:p>
          <a:p>
            <a:r>
              <a:rPr lang="en-US" dirty="0" smtClean="0"/>
              <a:t>beyond the definition of the problem itself—can find solutions more efficiently than can</a:t>
            </a:r>
          </a:p>
          <a:p>
            <a:r>
              <a:rPr lang="en-US" dirty="0" smtClean="0"/>
              <a:t>an uninformed strategy.</a:t>
            </a:r>
          </a:p>
          <a:p>
            <a:r>
              <a:rPr lang="en-US" sz="1200" b="1" i="0" u="none" strike="noStrike" kern="1200" baseline="0" dirty="0" smtClean="0">
                <a:solidFill>
                  <a:schemeClr val="tx1"/>
                </a:solidFill>
                <a:latin typeface="+mn-lt"/>
                <a:ea typeface="+mn-ea"/>
                <a:cs typeface="+mn-cs"/>
              </a:rPr>
              <a:t>Heuristic functions </a:t>
            </a:r>
            <a:r>
              <a:rPr lang="en-US" sz="1200" b="0" i="0" u="none" strike="noStrike" kern="1200" baseline="0" dirty="0" smtClean="0">
                <a:solidFill>
                  <a:schemeClr val="tx1"/>
                </a:solidFill>
                <a:latin typeface="+mn-lt"/>
                <a:ea typeface="+mn-ea"/>
                <a:cs typeface="+mn-cs"/>
              </a:rPr>
              <a:t>are the most common form in which additional knowledge of the problem is imparted to the search algorithm.</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36</a:t>
            </a:fld>
            <a:endParaRPr lang="en-GB"/>
          </a:p>
        </p:txBody>
      </p:sp>
    </p:spTree>
    <p:extLst>
      <p:ext uri="{BB962C8B-B14F-4D97-AF65-F5344CB8AC3E}">
        <p14:creationId xmlns:p14="http://schemas.microsoft.com/office/powerpoint/2010/main" val="1380882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39</a:t>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heuristics for the 8-puzzle, in order to shed light on the nature of heuristics in general.</a:t>
            </a:r>
          </a:p>
          <a:p>
            <a:r>
              <a:rPr lang="en-US" dirty="0" smtClean="0"/>
              <a:t>The 8-puzzle was one of the earliest heuristic search problems. The object of the puzzle is to slide the tiles horizontally or vertically into the empty space until the configuration matches the goal configuration (SEE</a:t>
            </a:r>
            <a:r>
              <a:rPr lang="en-US" baseline="0" dirty="0" smtClean="0"/>
              <a:t> </a:t>
            </a:r>
            <a:r>
              <a:rPr lang="en-US" dirty="0" smtClean="0"/>
              <a:t>Figure above).</a:t>
            </a:r>
          </a:p>
          <a:p>
            <a:r>
              <a:rPr lang="en-US" dirty="0" smtClean="0"/>
              <a:t>The average solution cost for a randomly generated 8-puzzle instance is about 22 steps. The branching factor is about 3. (When the empty tile is in the middle, four moves are possible; when it is in a corner, two; and when it is along an edge, three.) This means that an exhaustive tree search to depth 22 would look at about 322 ≈ 3.1×1010 states.</a:t>
            </a:r>
          </a:p>
          <a:p>
            <a:endParaRPr lang="en-US" dirty="0" smtClean="0"/>
          </a:p>
          <a:p>
            <a:r>
              <a:rPr lang="en-US" dirty="0" smtClean="0"/>
              <a:t>A graph search would cut this down by a factor of about 170,000 because only 9!/2 = 181, 440 distinct states are reachable. (See Exercise 3.4.) This is a manageable number, but </a:t>
            </a:r>
            <a:r>
              <a:rPr lang="en-US" sz="1200" b="0" i="0" u="none" strike="noStrike" kern="1200" baseline="0" dirty="0" smtClean="0">
                <a:solidFill>
                  <a:schemeClr val="tx1"/>
                </a:solidFill>
                <a:latin typeface="+mn-lt"/>
                <a:ea typeface="+mn-ea"/>
                <a:cs typeface="+mn-cs"/>
              </a:rPr>
              <a:t>the corresponding number for the 15-puzzle is roughly 1013, so the next order of business is to find a good heuristic function. If we want to find the shortest solutions by using A∗, we</a:t>
            </a:r>
          </a:p>
          <a:p>
            <a:r>
              <a:rPr lang="en-US" sz="1200" b="0" i="0" u="none" strike="noStrike" kern="1200" baseline="0" dirty="0" smtClean="0">
                <a:solidFill>
                  <a:schemeClr val="tx1"/>
                </a:solidFill>
                <a:latin typeface="+mn-lt"/>
                <a:ea typeface="+mn-ea"/>
                <a:cs typeface="+mn-cs"/>
              </a:rPr>
              <a:t>need a heuristic function that never overestimates the number of steps to the goal. There is a</a:t>
            </a:r>
          </a:p>
          <a:p>
            <a:r>
              <a:rPr lang="en-US" sz="1200" b="0" i="0" u="none" strike="noStrike" kern="1200" baseline="0" dirty="0" smtClean="0">
                <a:solidFill>
                  <a:schemeClr val="tx1"/>
                </a:solidFill>
                <a:latin typeface="+mn-lt"/>
                <a:ea typeface="+mn-ea"/>
                <a:cs typeface="+mn-cs"/>
              </a:rPr>
              <a:t>long history of such heuristics for the 15-puzzle; here are two commonly used candidates:</a:t>
            </a:r>
          </a:p>
          <a:p>
            <a:r>
              <a:rPr lang="en-US" sz="1200" b="0" i="0" u="none" strike="noStrike" kern="1200" baseline="0" dirty="0" smtClean="0">
                <a:solidFill>
                  <a:schemeClr val="tx1"/>
                </a:solidFill>
                <a:latin typeface="+mn-lt"/>
                <a:ea typeface="+mn-ea"/>
                <a:cs typeface="+mn-cs"/>
              </a:rPr>
              <a:t>• h1 = the number of misplaced tiles. For Figure 3.28, all of the eight tiles are out of</a:t>
            </a:r>
          </a:p>
          <a:p>
            <a:r>
              <a:rPr lang="en-US" sz="1200" b="0" i="0" u="none" strike="noStrike" kern="1200" baseline="0" dirty="0" smtClean="0">
                <a:solidFill>
                  <a:schemeClr val="tx1"/>
                </a:solidFill>
                <a:latin typeface="+mn-lt"/>
                <a:ea typeface="+mn-ea"/>
                <a:cs typeface="+mn-cs"/>
              </a:rPr>
              <a:t>position, so the start state would have h1 = 8. h1 is an admissible heuristic because it</a:t>
            </a:r>
          </a:p>
          <a:p>
            <a:r>
              <a:rPr lang="en-US" sz="1200" b="0" i="0" u="none" strike="noStrike" kern="1200" baseline="0" dirty="0" smtClean="0">
                <a:solidFill>
                  <a:schemeClr val="tx1"/>
                </a:solidFill>
                <a:latin typeface="+mn-lt"/>
                <a:ea typeface="+mn-ea"/>
                <a:cs typeface="+mn-cs"/>
              </a:rPr>
              <a:t>is clear that any tile that is out of place must be moved at least once.</a:t>
            </a:r>
          </a:p>
          <a:p>
            <a:r>
              <a:rPr lang="en-US" sz="1200" b="0" i="0" u="none" strike="noStrike" kern="1200" baseline="0" dirty="0" smtClean="0">
                <a:solidFill>
                  <a:schemeClr val="tx1"/>
                </a:solidFill>
                <a:latin typeface="+mn-lt"/>
                <a:ea typeface="+mn-ea"/>
                <a:cs typeface="+mn-cs"/>
              </a:rPr>
              <a:t>• h2 = the sum of the distances of the tiles from their goal positions. </a:t>
            </a:r>
          </a:p>
          <a:p>
            <a:r>
              <a:rPr lang="en-US" sz="1200" b="0" i="0" u="none" strike="noStrike" kern="1200" baseline="0" dirty="0" smtClean="0">
                <a:solidFill>
                  <a:schemeClr val="tx1"/>
                </a:solidFill>
                <a:latin typeface="+mn-lt"/>
                <a:ea typeface="+mn-ea"/>
                <a:cs typeface="+mn-cs"/>
              </a:rPr>
              <a:t>Because tiles cannot move along diagonals, the distance we will count is the sum of the horizontal</a:t>
            </a:r>
          </a:p>
          <a:p>
            <a:r>
              <a:rPr lang="en-US" sz="1200" b="0" i="0" u="none" strike="noStrike" kern="1200" baseline="0" dirty="0" smtClean="0">
                <a:solidFill>
                  <a:schemeClr val="tx1"/>
                </a:solidFill>
                <a:latin typeface="+mn-lt"/>
                <a:ea typeface="+mn-ea"/>
                <a:cs typeface="+mn-cs"/>
              </a:rPr>
              <a:t>and vertical distances. This is sometimes called the </a:t>
            </a:r>
            <a:r>
              <a:rPr lang="en-US" sz="1200" b="1" i="0" u="none" strike="noStrike" kern="1200" baseline="0" dirty="0" smtClean="0">
                <a:solidFill>
                  <a:schemeClr val="tx1"/>
                </a:solidFill>
                <a:latin typeface="+mn-lt"/>
                <a:ea typeface="+mn-ea"/>
                <a:cs typeface="+mn-cs"/>
              </a:rPr>
              <a:t>city block distance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Manhattan</a:t>
            </a:r>
          </a:p>
          <a:p>
            <a:r>
              <a:rPr lang="en-US" sz="1200" b="1" i="0" u="none" strike="noStrike" kern="1200" baseline="0" dirty="0" smtClean="0">
                <a:solidFill>
                  <a:schemeClr val="tx1"/>
                </a:solidFill>
                <a:latin typeface="+mn-lt"/>
                <a:ea typeface="+mn-ea"/>
                <a:cs typeface="+mn-cs"/>
              </a:rPr>
              <a:t>distance</a:t>
            </a:r>
            <a:r>
              <a:rPr lang="en-US" sz="1200" b="0" i="0" u="none" strike="noStrike" kern="1200" baseline="0" dirty="0" smtClean="0">
                <a:solidFill>
                  <a:schemeClr val="tx1"/>
                </a:solidFill>
                <a:latin typeface="+mn-lt"/>
                <a:ea typeface="+mn-ea"/>
                <a:cs typeface="+mn-cs"/>
              </a:rPr>
              <a:t>.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h2 is also admissible MANHATTAN because all any move can do is move one tile one step</a:t>
            </a:r>
          </a:p>
          <a:p>
            <a:r>
              <a:rPr lang="en-GB" sz="1200" b="0" i="0" u="none" strike="noStrike" kern="1200" baseline="0" dirty="0" smtClean="0">
                <a:solidFill>
                  <a:schemeClr val="tx1"/>
                </a:solidFill>
                <a:latin typeface="+mn-lt"/>
                <a:ea typeface="+mn-ea"/>
                <a:cs typeface="+mn-cs"/>
              </a:rPr>
              <a:t>DISTANCE</a:t>
            </a:r>
          </a:p>
          <a:p>
            <a:r>
              <a:rPr lang="en-US" sz="1200" b="0" i="0" u="none" strike="noStrike" kern="1200" baseline="0" dirty="0" smtClean="0">
                <a:solidFill>
                  <a:schemeClr val="tx1"/>
                </a:solidFill>
                <a:latin typeface="+mn-lt"/>
                <a:ea typeface="+mn-ea"/>
                <a:cs typeface="+mn-cs"/>
              </a:rPr>
              <a:t>closer to the goal. Tiles 1 to 8 in the start state give a Manhattan distance of</a:t>
            </a:r>
          </a:p>
          <a:p>
            <a:r>
              <a:rPr lang="pt-BR" sz="1200" b="0" i="0" u="none" strike="noStrike" kern="1200" baseline="0" dirty="0" smtClean="0">
                <a:solidFill>
                  <a:schemeClr val="tx1"/>
                </a:solidFill>
                <a:latin typeface="+mn-lt"/>
                <a:ea typeface="+mn-ea"/>
                <a:cs typeface="+mn-cs"/>
              </a:rPr>
              <a:t>h2 = 3+1 + 2 + 2+ 2 + 3+ 3 + 2 = 18 .</a:t>
            </a:r>
          </a:p>
          <a:p>
            <a:r>
              <a:rPr lang="en-US" sz="1200" b="0" i="0" u="none" strike="noStrike" kern="1200" baseline="0" dirty="0" smtClean="0">
                <a:solidFill>
                  <a:schemeClr val="tx1"/>
                </a:solidFill>
                <a:latin typeface="+mn-lt"/>
                <a:ea typeface="+mn-ea"/>
                <a:cs typeface="+mn-cs"/>
              </a:rPr>
              <a:t>As expected, neither of these overestimates the true solution cost, which is 26.</a:t>
            </a:r>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41</a:t>
            </a:fld>
            <a:endParaRPr lang="en-GB"/>
          </a:p>
        </p:txBody>
      </p:sp>
    </p:spTree>
    <p:extLst>
      <p:ext uri="{BB962C8B-B14F-4D97-AF65-F5344CB8AC3E}">
        <p14:creationId xmlns:p14="http://schemas.microsoft.com/office/powerpoint/2010/main" val="9271733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58</a:t>
            </a:fld>
            <a:endParaRPr lang="en-GB"/>
          </a:p>
        </p:txBody>
      </p:sp>
    </p:spTree>
    <p:extLst>
      <p:ext uri="{BB962C8B-B14F-4D97-AF65-F5344CB8AC3E}">
        <p14:creationId xmlns:p14="http://schemas.microsoft.com/office/powerpoint/2010/main" val="2188368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D2308C1A-682D-484E-9FA1-C724AB61AC34}" type="slidenum">
              <a:rPr lang="en-GB" smtClean="0"/>
              <a:pPr/>
              <a:t>66</a:t>
            </a:fld>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08C1A-682D-484E-9FA1-C724AB61AC34}" type="slidenum">
              <a:rPr lang="en-GB" smtClean="0"/>
              <a:pPr/>
              <a:t>67</a:t>
            </a:fld>
            <a:endParaRPr lang="en-GB"/>
          </a:p>
        </p:txBody>
      </p:sp>
    </p:spTree>
    <p:extLst>
      <p:ext uri="{BB962C8B-B14F-4D97-AF65-F5344CB8AC3E}">
        <p14:creationId xmlns:p14="http://schemas.microsoft.com/office/powerpoint/2010/main" val="15643718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defRPr/>
            </a:pPr>
            <a:fld id="{C187771D-9A6C-4FAF-9FF3-6236A7C25807}" type="datetime1">
              <a:rPr lang="en-GB" smtClean="0"/>
              <a:pPr>
                <a:defRPr/>
              </a:pPr>
              <a:t>23/Apr/21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ADF14477-E52F-4E2A-9086-155184A945C3}" type="slidenum">
              <a:rPr lang="en-GB" smtClean="0"/>
              <a:pPr>
                <a:defRPr/>
              </a:pPr>
              <a:t>‹#›</a:t>
            </a:fld>
            <a:endParaRPr lang="en-GB"/>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0" y="-1"/>
            <a:ext cx="9144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85169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A88A16C5-5A25-4102-8860-80DF42461D97}" type="datetime1">
              <a:rPr lang="en-GB" smtClean="0"/>
              <a:pPr>
                <a:defRPr/>
              </a:pPr>
              <a:t>23/Apr/21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3905E3E4-CFAE-4E99-838D-A3B3AA45630C}" type="slidenum">
              <a:rPr lang="en-GB" smtClean="0"/>
              <a:pPr>
                <a:defRPr/>
              </a:pPr>
              <a:t>‹#›</a:t>
            </a:fld>
            <a:endParaRPr lang="en-GB"/>
          </a:p>
        </p:txBody>
      </p:sp>
    </p:spTree>
    <p:extLst>
      <p:ext uri="{BB962C8B-B14F-4D97-AF65-F5344CB8AC3E}">
        <p14:creationId xmlns:p14="http://schemas.microsoft.com/office/powerpoint/2010/main" val="3284108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a:defRPr/>
            </a:pPr>
            <a:fld id="{9470EE87-2487-4E7D-9676-D317DB689845}" type="datetime1">
              <a:rPr lang="en-GB" smtClean="0"/>
              <a:pPr>
                <a:defRPr/>
              </a:pPr>
              <a:t>23/Apr/21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581DFF23-3D27-40DF-9892-F370AD0172DC}" type="slidenum">
              <a:rPr lang="en-GB" smtClean="0"/>
              <a:pPr>
                <a:defRPr/>
              </a:pPr>
              <a:t>‹#›</a:t>
            </a:fld>
            <a:endParaRPr lang="en-GB"/>
          </a:p>
        </p:txBody>
      </p:sp>
      <p:sp>
        <p:nvSpPr>
          <p:cNvPr id="10" name="Rectangle 9"/>
          <p:cNvSpPr/>
          <p:nvPr/>
        </p:nvSpPr>
        <p:spPr>
          <a:xfrm>
            <a:off x="0" y="-1"/>
            <a:ext cx="9144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8911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13DD999F-F6D4-4102-8479-1331E792DCBD}" type="datetime1">
              <a:rPr lang="en-GB" smtClean="0"/>
              <a:pPr>
                <a:defRPr/>
              </a:pPr>
              <a:t>23/Apr/21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8E210E05-F1FF-448D-B4FB-8CE543899E65}" type="slidenum">
              <a:rPr lang="en-GB" smtClean="0"/>
              <a:pPr>
                <a:defRPr/>
              </a:pPr>
              <a:t>‹#›</a:t>
            </a:fld>
            <a:endParaRPr lang="en-GB"/>
          </a:p>
        </p:txBody>
      </p:sp>
    </p:spTree>
    <p:extLst>
      <p:ext uri="{BB962C8B-B14F-4D97-AF65-F5344CB8AC3E}">
        <p14:creationId xmlns:p14="http://schemas.microsoft.com/office/powerpoint/2010/main" val="533160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3365B39F-5040-4299-847C-297A67BB1CC1}" type="datetime1">
              <a:rPr lang="en-GB" smtClean="0"/>
              <a:pPr>
                <a:defRPr/>
              </a:pPr>
              <a:t>23/Apr/21</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pPr>
              <a:defRPr/>
            </a:pPr>
            <a:fld id="{681FFAAC-2687-471E-B0BE-63F4823E2385}" type="slidenum">
              <a:rPr lang="en-GB" smtClean="0"/>
              <a:pPr>
                <a:defRPr/>
              </a:pPr>
              <a:t>‹#›</a:t>
            </a:fld>
            <a:endParaRPr lang="en-GB"/>
          </a:p>
        </p:txBody>
      </p:sp>
    </p:spTree>
    <p:extLst>
      <p:ext uri="{BB962C8B-B14F-4D97-AF65-F5344CB8AC3E}">
        <p14:creationId xmlns:p14="http://schemas.microsoft.com/office/powerpoint/2010/main" val="201422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a:defRPr/>
            </a:pPr>
            <a:fld id="{E0E90EDD-FD78-4520-836B-4FB4B6F1915F}" type="datetime1">
              <a:rPr lang="en-GB" smtClean="0"/>
              <a:pPr>
                <a:defRPr/>
              </a:pPr>
              <a:t>23/Apr/21</a:t>
            </a:fld>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pPr>
              <a:defRPr/>
            </a:pPr>
            <a:fld id="{5C2768DC-ABB3-41F6-8AF0-3B054CE15EBD}" type="slidenum">
              <a:rPr lang="en-GB" smtClean="0"/>
              <a:pPr>
                <a:defRPr/>
              </a:pPr>
              <a:t>‹#›</a:t>
            </a:fld>
            <a:endParaRPr lang="en-GB"/>
          </a:p>
        </p:txBody>
      </p:sp>
    </p:spTree>
    <p:extLst>
      <p:ext uri="{BB962C8B-B14F-4D97-AF65-F5344CB8AC3E}">
        <p14:creationId xmlns:p14="http://schemas.microsoft.com/office/powerpoint/2010/main" val="2546274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2320057A-8374-4C67-817F-6E3117FB4402}" type="datetime1">
              <a:rPr lang="en-GB" smtClean="0"/>
              <a:pPr>
                <a:defRPr/>
              </a:pPr>
              <a:t>23/Apr/21</a:t>
            </a:fld>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p:txBody>
          <a:bodyPr/>
          <a:lstStyle/>
          <a:p>
            <a:pPr>
              <a:defRPr/>
            </a:pPr>
            <a:fld id="{B15F4DED-9D0E-4FE2-8D45-C43843DD21EA}" type="slidenum">
              <a:rPr lang="en-GB" smtClean="0"/>
              <a:pPr>
                <a:defRPr/>
              </a:pPr>
              <a:t>‹#›</a:t>
            </a:fld>
            <a:endParaRPr lang="en-GB"/>
          </a:p>
        </p:txBody>
      </p:sp>
    </p:spTree>
    <p:extLst>
      <p:ext uri="{BB962C8B-B14F-4D97-AF65-F5344CB8AC3E}">
        <p14:creationId xmlns:p14="http://schemas.microsoft.com/office/powerpoint/2010/main" val="4186183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smtClean="0"/>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a:defRPr/>
            </a:pPr>
            <a:fld id="{D450E4BF-8FD0-47BB-8F41-BC65AA8289E8}" type="datetime1">
              <a:rPr lang="en-GB" smtClean="0"/>
              <a:pPr>
                <a:defRPr/>
              </a:pPr>
              <a:t>23/Apr/21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75F2AD2A-E74D-4F8D-9B85-3A8416AE33AA}" type="slidenum">
              <a:rPr lang="en-GB" smtClean="0"/>
              <a:pPr>
                <a:defRPr/>
              </a:pPr>
              <a:t>‹#›</a:t>
            </a:fld>
            <a:endParaRPr lang="en-GB"/>
          </a:p>
        </p:txBody>
      </p:sp>
    </p:spTree>
    <p:extLst>
      <p:ext uri="{BB962C8B-B14F-4D97-AF65-F5344CB8AC3E}">
        <p14:creationId xmlns:p14="http://schemas.microsoft.com/office/powerpoint/2010/main" val="4135495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pPr>
              <a:defRPr/>
            </a:pPr>
            <a:fld id="{F6F94D57-62EF-437C-A2DB-4E5BC442E2C8}" type="datetime1">
              <a:rPr lang="en-GB" smtClean="0"/>
              <a:pPr>
                <a:defRPr/>
              </a:pPr>
              <a:t>23/Apr/21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92DE2D09-BC19-4554-8EEA-DC585DDEE2A6}" type="slidenum">
              <a:rPr lang="en-GB" smtClean="0"/>
              <a:pPr>
                <a:defRPr/>
              </a:pPr>
              <a:t>‹#›</a:t>
            </a:fld>
            <a:endParaRPr lang="en-GB"/>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4110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26AD9FE3-109E-4344-B113-545E3BC3A6B0}" type="datetime1">
              <a:rPr lang="en-GB" smtClean="0"/>
              <a:pPr>
                <a:defRPr/>
              </a:pPr>
              <a:t>23/Apr/21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3EF01057-0734-48B6-B0B5-DE8E669F8E36}" type="slidenum">
              <a:rPr lang="en-GB" smtClean="0"/>
              <a:pPr>
                <a:defRPr/>
              </a:pPr>
              <a:t>‹#›</a:t>
            </a:fld>
            <a:endParaRPr lang="en-GB"/>
          </a:p>
        </p:txBody>
      </p:sp>
    </p:spTree>
    <p:extLst>
      <p:ext uri="{BB962C8B-B14F-4D97-AF65-F5344CB8AC3E}">
        <p14:creationId xmlns:p14="http://schemas.microsoft.com/office/powerpoint/2010/main" val="1160069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112BF759-BDCF-4FA3-A9D8-418C3AC80522}" type="datetime1">
              <a:rPr lang="en-GB" smtClean="0"/>
              <a:pPr>
                <a:defRPr/>
              </a:pPr>
              <a:t>23/Apr/21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3DC1D02A-FCE8-4C45-BE59-4BC6AE987261}" type="slidenum">
              <a:rPr lang="en-GB" smtClean="0"/>
              <a:pPr>
                <a:defRPr/>
              </a:pPr>
              <a:t>‹#›</a:t>
            </a:fld>
            <a:endParaRPr lang="en-GB"/>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80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8577798B-0173-448F-A117-AA5CF7E33F78}" type="datetime1">
              <a:rPr lang="en-GB" smtClean="0"/>
              <a:pPr>
                <a:defRPr/>
              </a:pPr>
              <a:t>23/Apr/21</a:t>
            </a:fld>
            <a:endParaRPr lang="en-GB"/>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en-GB"/>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2DBC2774-94EA-4EC4-8D21-FA474696C12E}" type="slidenum">
              <a:rPr lang="en-GB" smtClean="0"/>
              <a:pPr>
                <a:defRPr/>
              </a:pPr>
              <a:t>‹#›</a:t>
            </a:fld>
            <a:endParaRPr lang="en-GB"/>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8150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AI Problem Solving</a:t>
            </a:r>
            <a:endParaRPr lang="en-GB" dirty="0"/>
          </a:p>
        </p:txBody>
      </p:sp>
      <p:sp>
        <p:nvSpPr>
          <p:cNvPr id="3" name="Subtitle 2"/>
          <p:cNvSpPr>
            <a:spLocks noGrp="1"/>
          </p:cNvSpPr>
          <p:nvPr>
            <p:ph type="subTitle" idx="1"/>
          </p:nvPr>
        </p:nvSpPr>
        <p:spPr/>
        <p:txBody>
          <a:bodyPr/>
          <a:lstStyle/>
          <a:p>
            <a:r>
              <a:rPr lang="nn-NO" dirty="0" smtClean="0"/>
              <a:t>Siphokazi Tswane</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880915"/>
            <a:ext cx="8229600" cy="346050"/>
          </a:xfrm>
        </p:spPr>
        <p:txBody>
          <a:bodyPr>
            <a:normAutofit fontScale="90000"/>
          </a:bodyPr>
          <a:lstStyle/>
          <a:p>
            <a:r>
              <a:rPr lang="en-GB" dirty="0"/>
              <a:t>Search and problem </a:t>
            </a:r>
            <a:r>
              <a:rPr lang="en-GB" dirty="0" smtClean="0"/>
              <a:t>solving</a:t>
            </a:r>
            <a:endParaRPr lang="en-GB" dirty="0"/>
          </a:p>
        </p:txBody>
      </p:sp>
      <p:sp>
        <p:nvSpPr>
          <p:cNvPr id="3" name="Content Placeholder 2"/>
          <p:cNvSpPr>
            <a:spLocks noGrp="1"/>
          </p:cNvSpPr>
          <p:nvPr>
            <p:ph idx="1"/>
          </p:nvPr>
        </p:nvSpPr>
        <p:spPr>
          <a:xfrm>
            <a:off x="768096" y="1988840"/>
            <a:ext cx="7290055" cy="4320520"/>
          </a:xfrm>
        </p:spPr>
        <p:txBody>
          <a:bodyPr/>
          <a:lstStyle/>
          <a:p>
            <a:r>
              <a:rPr lang="en-US" b="1" dirty="0"/>
              <a:t>Search in practice: getting from A to B</a:t>
            </a:r>
          </a:p>
          <a:p>
            <a:pPr>
              <a:buFont typeface="Wingdings" panose="05000000000000000000" pitchFamily="2" charset="2"/>
              <a:buChar char="q"/>
            </a:pPr>
            <a:r>
              <a:rPr lang="en-US" dirty="0"/>
              <a:t>Y</a:t>
            </a:r>
            <a:r>
              <a:rPr lang="en-US" dirty="0" smtClean="0"/>
              <a:t>ou’re </a:t>
            </a:r>
            <a:r>
              <a:rPr lang="en-US" dirty="0"/>
              <a:t>in a foreign city, at some </a:t>
            </a:r>
            <a:r>
              <a:rPr lang="en-US" dirty="0" smtClean="0"/>
              <a:t>location (e.g. </a:t>
            </a:r>
            <a:r>
              <a:rPr lang="en-US" dirty="0"/>
              <a:t>a hotel) and </a:t>
            </a:r>
            <a:r>
              <a:rPr lang="en-US" dirty="0" smtClean="0"/>
              <a:t>you need to </a:t>
            </a:r>
            <a:r>
              <a:rPr lang="en-US" dirty="0"/>
              <a:t>get to another </a:t>
            </a:r>
            <a:r>
              <a:rPr lang="en-US" dirty="0" smtClean="0"/>
              <a:t>location.</a:t>
            </a:r>
          </a:p>
          <a:p>
            <a:pPr>
              <a:buFont typeface="Wingdings" panose="05000000000000000000" pitchFamily="2" charset="2"/>
              <a:buChar char="q"/>
            </a:pPr>
            <a:r>
              <a:rPr lang="en-US" dirty="0" smtClean="0"/>
              <a:t>What </a:t>
            </a:r>
            <a:r>
              <a:rPr lang="en-US" dirty="0"/>
              <a:t>do you do? </a:t>
            </a:r>
            <a:endParaRPr lang="en-US" dirty="0" smtClean="0"/>
          </a:p>
          <a:p>
            <a:r>
              <a:rPr lang="en-US" dirty="0"/>
              <a:t/>
            </a:r>
            <a:br>
              <a:rPr lang="en-US" dirty="0"/>
            </a:b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2</a:t>
            </a:fld>
            <a:endParaRPr lang="en-GB"/>
          </a:p>
        </p:txBody>
      </p:sp>
      <p:sp>
        <p:nvSpPr>
          <p:cNvPr id="5" name="AutoShape 2" descr="hand holding a phone using a navigation ap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3"/>
          <a:stretch>
            <a:fillRect/>
          </a:stretch>
        </p:blipFill>
        <p:spPr>
          <a:xfrm>
            <a:off x="2483767" y="3727760"/>
            <a:ext cx="3712297" cy="1933488"/>
          </a:xfrm>
          <a:prstGeom prst="rect">
            <a:avLst/>
          </a:prstGeom>
        </p:spPr>
      </p:pic>
    </p:spTree>
    <p:extLst>
      <p:ext uri="{BB962C8B-B14F-4D97-AF65-F5344CB8AC3E}">
        <p14:creationId xmlns:p14="http://schemas.microsoft.com/office/powerpoint/2010/main" val="24919010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q"/>
            </a:pPr>
            <a:r>
              <a:rPr lang="en-US" dirty="0"/>
              <a:t>This question </a:t>
            </a:r>
            <a:r>
              <a:rPr lang="en-US" b="1" dirty="0"/>
              <a:t>belongs to the class of search and planning problems. </a:t>
            </a:r>
            <a:endParaRPr lang="en-US" b="1" dirty="0" smtClean="0"/>
          </a:p>
          <a:p>
            <a:pPr lvl="1">
              <a:buFont typeface="Wingdings" panose="05000000000000000000" pitchFamily="2" charset="2"/>
              <a:buChar char="q"/>
            </a:pPr>
            <a:r>
              <a:rPr lang="en-US" dirty="0" smtClean="0"/>
              <a:t>Similar </a:t>
            </a:r>
            <a:r>
              <a:rPr lang="en-US" dirty="0"/>
              <a:t>problems need to be solved by self-driving cars, and (perhaps less obviously) AI for playing games. </a:t>
            </a:r>
            <a:endParaRPr lang="en-US" dirty="0" smtClean="0"/>
          </a:p>
          <a:p>
            <a:pPr lvl="1">
              <a:buFont typeface="Wingdings" panose="05000000000000000000" pitchFamily="2" charset="2"/>
              <a:buChar char="q"/>
            </a:pPr>
            <a:r>
              <a:rPr lang="en-US" dirty="0" smtClean="0"/>
              <a:t>In </a:t>
            </a:r>
            <a:r>
              <a:rPr lang="en-US" dirty="0"/>
              <a:t>the game of chess, for example, the difficulty is not so much in getting a piece from A to B as keeping your pieces safe from the opponent.</a:t>
            </a:r>
          </a:p>
          <a:p>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3</a:t>
            </a:fld>
            <a:endParaRPr lang="en-GB"/>
          </a:p>
        </p:txBody>
      </p:sp>
      <p:sp>
        <p:nvSpPr>
          <p:cNvPr id="5" name="AutoShape 2" descr="single path leading to a go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3"/>
          <a:stretch>
            <a:fillRect/>
          </a:stretch>
        </p:blipFill>
        <p:spPr>
          <a:xfrm>
            <a:off x="984250" y="4581128"/>
            <a:ext cx="7143750" cy="657225"/>
          </a:xfrm>
          <a:prstGeom prst="rect">
            <a:avLst/>
          </a:prstGeom>
        </p:spPr>
      </p:pic>
      <p:sp>
        <p:nvSpPr>
          <p:cNvPr id="7" name="Title 1"/>
          <p:cNvSpPr>
            <a:spLocks noGrp="1"/>
          </p:cNvSpPr>
          <p:nvPr>
            <p:ph type="title"/>
          </p:nvPr>
        </p:nvSpPr>
        <p:spPr>
          <a:xfrm>
            <a:off x="768096" y="729205"/>
            <a:ext cx="7290054" cy="971576"/>
          </a:xfrm>
        </p:spPr>
        <p:txBody>
          <a:bodyPr>
            <a:normAutofit/>
          </a:bodyPr>
          <a:lstStyle/>
          <a:p>
            <a:r>
              <a:rPr lang="en-GB" sz="4000" dirty="0"/>
              <a:t>Search and problem </a:t>
            </a:r>
            <a:r>
              <a:rPr lang="en-GB" sz="4000" dirty="0" smtClean="0"/>
              <a:t>solving (Cont.)</a:t>
            </a:r>
            <a:endParaRPr lang="en-GB" sz="4000" dirty="0"/>
          </a:p>
        </p:txBody>
      </p:sp>
    </p:spTree>
    <p:extLst>
      <p:ext uri="{BB962C8B-B14F-4D97-AF65-F5344CB8AC3E}">
        <p14:creationId xmlns:p14="http://schemas.microsoft.com/office/powerpoint/2010/main" val="42051008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768096" y="585216"/>
            <a:ext cx="7290054" cy="1259608"/>
          </a:xfrm>
        </p:spPr>
        <p:txBody>
          <a:bodyPr>
            <a:normAutofit/>
          </a:bodyPr>
          <a:lstStyle/>
          <a:p>
            <a:r>
              <a:rPr lang="en-GB" sz="4000" dirty="0"/>
              <a:t>Search and problem solving (Cont.)</a:t>
            </a:r>
          </a:p>
        </p:txBody>
      </p:sp>
      <p:sp>
        <p:nvSpPr>
          <p:cNvPr id="3" name="Content Placeholder 2"/>
          <p:cNvSpPr>
            <a:spLocks noGrp="1"/>
          </p:cNvSpPr>
          <p:nvPr>
            <p:ph idx="1"/>
          </p:nvPr>
        </p:nvSpPr>
        <p:spPr>
          <a:xfrm>
            <a:off x="768096" y="1844824"/>
            <a:ext cx="7290055" cy="4464536"/>
          </a:xfrm>
        </p:spPr>
        <p:txBody>
          <a:bodyPr/>
          <a:lstStyle/>
          <a:p>
            <a:pPr>
              <a:buFont typeface="Wingdings" panose="05000000000000000000" pitchFamily="2" charset="2"/>
              <a:buChar char="q"/>
            </a:pPr>
            <a:r>
              <a:rPr lang="en-US" dirty="0" smtClean="0"/>
              <a:t>There </a:t>
            </a:r>
            <a:r>
              <a:rPr lang="en-US" dirty="0"/>
              <a:t>are many different ways to solve the problem, </a:t>
            </a:r>
            <a:endParaRPr lang="en-US" dirty="0" smtClean="0"/>
          </a:p>
          <a:p>
            <a:pPr lvl="1">
              <a:buFont typeface="Wingdings" panose="05000000000000000000" pitchFamily="2" charset="2"/>
              <a:buChar char="q"/>
            </a:pPr>
            <a:r>
              <a:rPr lang="en-US" dirty="0" smtClean="0"/>
              <a:t>some </a:t>
            </a:r>
            <a:r>
              <a:rPr lang="en-US" dirty="0"/>
              <a:t>of which may be more preferable in terms of time, effort, cost or other criteria. </a:t>
            </a:r>
            <a:endParaRPr lang="en-US" dirty="0" smtClean="0"/>
          </a:p>
          <a:p>
            <a:pPr>
              <a:buFont typeface="Wingdings" panose="05000000000000000000" pitchFamily="2" charset="2"/>
              <a:buChar char="q"/>
            </a:pPr>
            <a:r>
              <a:rPr lang="en-US" dirty="0" smtClean="0"/>
              <a:t>Different </a:t>
            </a:r>
            <a:r>
              <a:rPr lang="en-US" dirty="0"/>
              <a:t>search techniques may lead to different </a:t>
            </a:r>
            <a:r>
              <a:rPr lang="en-US" dirty="0" smtClean="0"/>
              <a:t>solutions</a:t>
            </a:r>
            <a:r>
              <a:rPr lang="en-US" dirty="0"/>
              <a:t>.</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4</a:t>
            </a:fld>
            <a:endParaRPr lang="en-GB"/>
          </a:p>
        </p:txBody>
      </p:sp>
      <p:pic>
        <p:nvPicPr>
          <p:cNvPr id="5" name="Picture 4"/>
          <p:cNvPicPr>
            <a:picLocks noChangeAspect="1"/>
          </p:cNvPicPr>
          <p:nvPr/>
        </p:nvPicPr>
        <p:blipFill>
          <a:blip r:embed="rId3"/>
          <a:stretch>
            <a:fillRect/>
          </a:stretch>
        </p:blipFill>
        <p:spPr>
          <a:xfrm>
            <a:off x="768096" y="3194737"/>
            <a:ext cx="7143750" cy="2868166"/>
          </a:xfrm>
          <a:prstGeom prst="rect">
            <a:avLst/>
          </a:prstGeom>
        </p:spPr>
      </p:pic>
    </p:spTree>
    <p:extLst>
      <p:ext uri="{BB962C8B-B14F-4D97-AF65-F5344CB8AC3E}">
        <p14:creationId xmlns:p14="http://schemas.microsoft.com/office/powerpoint/2010/main" val="24990802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683544"/>
          </a:xfrm>
        </p:spPr>
        <p:txBody>
          <a:bodyPr/>
          <a:lstStyle/>
          <a:p>
            <a:r>
              <a:rPr lang="en-US" dirty="0" smtClean="0"/>
              <a:t>intro</a:t>
            </a:r>
            <a:endParaRPr lang="en-GB" dirty="0"/>
          </a:p>
        </p:txBody>
      </p:sp>
      <p:sp>
        <p:nvSpPr>
          <p:cNvPr id="3" name="Content Placeholder 2"/>
          <p:cNvSpPr>
            <a:spLocks noGrp="1"/>
          </p:cNvSpPr>
          <p:nvPr>
            <p:ph idx="1"/>
          </p:nvPr>
        </p:nvSpPr>
        <p:spPr>
          <a:xfrm>
            <a:off x="768096" y="1700808"/>
            <a:ext cx="7290055" cy="4608552"/>
          </a:xfrm>
        </p:spPr>
        <p:txBody>
          <a:bodyPr>
            <a:normAutofit/>
          </a:bodyPr>
          <a:lstStyle/>
          <a:p>
            <a:pPr>
              <a:buFont typeface="Wingdings" panose="05000000000000000000" pitchFamily="2" charset="2"/>
              <a:buChar char="q"/>
            </a:pPr>
            <a:r>
              <a:rPr lang="en-US" dirty="0" smtClean="0"/>
              <a:t> This chapter </a:t>
            </a:r>
            <a:r>
              <a:rPr lang="en-US" dirty="0"/>
              <a:t>describes one kind of goal-based agent called a </a:t>
            </a:r>
            <a:r>
              <a:rPr lang="en-US" b="1" dirty="0"/>
              <a:t>problem-solving agent</a:t>
            </a:r>
            <a:r>
              <a:rPr lang="en-US" dirty="0" smtClean="0"/>
              <a:t>.</a:t>
            </a:r>
          </a:p>
          <a:p>
            <a:pPr>
              <a:buFont typeface="Courier New" panose="02070309020205020404" pitchFamily="49" charset="0"/>
              <a:buChar char="o"/>
            </a:pPr>
            <a:r>
              <a:rPr lang="en-US" dirty="0"/>
              <a:t> Problem-solving agents use </a:t>
            </a:r>
            <a:r>
              <a:rPr lang="en-US" b="1" dirty="0"/>
              <a:t>atomic </a:t>
            </a:r>
            <a:r>
              <a:rPr lang="en-US" dirty="0" smtClean="0"/>
              <a:t>representations states </a:t>
            </a:r>
            <a:r>
              <a:rPr lang="en-US" dirty="0"/>
              <a:t>of the world are considered as wholes, with no internal structure visible to the </a:t>
            </a:r>
            <a:r>
              <a:rPr lang="en-US" dirty="0" smtClean="0"/>
              <a:t>problem solving </a:t>
            </a:r>
            <a:r>
              <a:rPr lang="en-GB" dirty="0" smtClean="0"/>
              <a:t>algorithms.</a:t>
            </a:r>
          </a:p>
          <a:p>
            <a:pPr>
              <a:buFont typeface="Wingdings" panose="05000000000000000000" pitchFamily="2" charset="2"/>
              <a:buChar char="q"/>
            </a:pPr>
            <a:r>
              <a:rPr lang="en-US" dirty="0" smtClean="0"/>
              <a:t>The discussion </a:t>
            </a:r>
            <a:r>
              <a:rPr lang="en-US" dirty="0"/>
              <a:t>of problem solving begins with precise definitions of problems and </a:t>
            </a:r>
            <a:r>
              <a:rPr lang="en-US" dirty="0" smtClean="0"/>
              <a:t>their solutions </a:t>
            </a:r>
            <a:r>
              <a:rPr lang="en-US" dirty="0"/>
              <a:t>and give several examples to illustrate these definitions. </a:t>
            </a:r>
            <a:endParaRPr lang="en-US" dirty="0" smtClean="0"/>
          </a:p>
          <a:p>
            <a:pPr>
              <a:buFont typeface="Wingdings" panose="05000000000000000000" pitchFamily="2" charset="2"/>
              <a:buChar char="q"/>
            </a:pPr>
            <a:r>
              <a:rPr lang="en-US" dirty="0" smtClean="0"/>
              <a:t>We </a:t>
            </a:r>
            <a:r>
              <a:rPr lang="en-US" dirty="0" smtClean="0"/>
              <a:t>then </a:t>
            </a:r>
            <a:r>
              <a:rPr lang="en-US" dirty="0"/>
              <a:t>describe </a:t>
            </a:r>
            <a:r>
              <a:rPr lang="en-US" dirty="0" smtClean="0"/>
              <a:t>several general-purpose </a:t>
            </a:r>
            <a:r>
              <a:rPr lang="en-US" dirty="0"/>
              <a:t>search algorithms that can be used to solve these problems. </a:t>
            </a:r>
            <a:endParaRPr lang="en-US" dirty="0" smtClean="0"/>
          </a:p>
          <a:p>
            <a:pPr>
              <a:buFont typeface="Courier New" panose="02070309020205020404" pitchFamily="49" charset="0"/>
              <a:buChar char="o"/>
            </a:pPr>
            <a:r>
              <a:rPr lang="en-US" dirty="0" smtClean="0"/>
              <a:t>We </a:t>
            </a:r>
            <a:r>
              <a:rPr lang="en-US" dirty="0"/>
              <a:t>will </a:t>
            </a:r>
            <a:r>
              <a:rPr lang="en-US" dirty="0" smtClean="0"/>
              <a:t>see several </a:t>
            </a:r>
            <a:r>
              <a:rPr lang="en-US" dirty="0"/>
              <a:t>uninformed search algorithms—algorithms that are given no information about </a:t>
            </a:r>
            <a:r>
              <a:rPr lang="en-US" dirty="0" smtClean="0"/>
              <a:t>the problem </a:t>
            </a:r>
            <a:r>
              <a:rPr lang="en-US" dirty="0"/>
              <a:t>other than its definition.</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5</a:t>
            </a:fld>
            <a:endParaRPr lang="en-GB"/>
          </a:p>
        </p:txBody>
      </p:sp>
    </p:spTree>
    <p:extLst>
      <p:ext uri="{BB962C8B-B14F-4D97-AF65-F5344CB8AC3E}">
        <p14:creationId xmlns:p14="http://schemas.microsoft.com/office/powerpoint/2010/main" val="1193472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971576"/>
          </a:xfrm>
        </p:spPr>
        <p:txBody>
          <a:bodyPr/>
          <a:lstStyle/>
          <a:p>
            <a:r>
              <a:rPr lang="en-GB" dirty="0"/>
              <a:t>PROBLEM-SOLVING AGENTS</a:t>
            </a:r>
          </a:p>
        </p:txBody>
      </p:sp>
      <p:sp>
        <p:nvSpPr>
          <p:cNvPr id="3" name="Content Placeholder 2"/>
          <p:cNvSpPr>
            <a:spLocks noGrp="1"/>
          </p:cNvSpPr>
          <p:nvPr>
            <p:ph idx="1"/>
          </p:nvPr>
        </p:nvSpPr>
        <p:spPr>
          <a:xfrm>
            <a:off x="768096" y="1988840"/>
            <a:ext cx="7290055" cy="4320520"/>
          </a:xfrm>
        </p:spPr>
        <p:txBody>
          <a:bodyPr/>
          <a:lstStyle/>
          <a:p>
            <a:pPr>
              <a:buFont typeface="Wingdings" panose="05000000000000000000" pitchFamily="2" charset="2"/>
              <a:buChar char="q"/>
            </a:pPr>
            <a:r>
              <a:rPr lang="en-US" dirty="0"/>
              <a:t>Intelligent agents are supposed to maximize their </a:t>
            </a:r>
            <a:r>
              <a:rPr lang="en-US" b="1" dirty="0"/>
              <a:t>performance measure</a:t>
            </a:r>
            <a:r>
              <a:rPr lang="en-US" b="1" dirty="0" smtClean="0"/>
              <a:t>.</a:t>
            </a:r>
          </a:p>
          <a:p>
            <a:pPr>
              <a:buFont typeface="Courier New" panose="02070309020205020404" pitchFamily="49" charset="0"/>
              <a:buChar char="o"/>
            </a:pPr>
            <a:r>
              <a:rPr lang="en-US" dirty="0"/>
              <a:t>achieving this is sometimes simplified if the agent can adopt a </a:t>
            </a:r>
            <a:r>
              <a:rPr lang="en-US" b="1" dirty="0"/>
              <a:t>goal </a:t>
            </a:r>
            <a:r>
              <a:rPr lang="en-US" dirty="0"/>
              <a:t>and aim </a:t>
            </a:r>
            <a:r>
              <a:rPr lang="en-US" dirty="0" smtClean="0"/>
              <a:t>at </a:t>
            </a:r>
            <a:r>
              <a:rPr lang="en-GB" dirty="0" smtClean="0"/>
              <a:t>satisfying </a:t>
            </a:r>
            <a:r>
              <a:rPr lang="en-GB" dirty="0"/>
              <a:t>it</a:t>
            </a:r>
            <a:r>
              <a:rPr lang="en-GB" dirty="0" smtClean="0"/>
              <a:t>.</a:t>
            </a:r>
          </a:p>
          <a:p>
            <a:pPr>
              <a:buFont typeface="Wingdings" panose="05000000000000000000" pitchFamily="2" charset="2"/>
              <a:buChar char="q"/>
            </a:pPr>
            <a:r>
              <a:rPr lang="en-US" dirty="0"/>
              <a:t> </a:t>
            </a:r>
            <a:r>
              <a:rPr lang="en-US" dirty="0" smtClean="0"/>
              <a:t>The decision </a:t>
            </a:r>
            <a:r>
              <a:rPr lang="en-US" dirty="0"/>
              <a:t>problem is a complex one involving many tradeoffs and careful </a:t>
            </a:r>
            <a:r>
              <a:rPr lang="en-US" dirty="0" smtClean="0"/>
              <a:t>analysis</a:t>
            </a:r>
          </a:p>
          <a:p>
            <a:pPr>
              <a:buFont typeface="Wingdings" panose="05000000000000000000" pitchFamily="2" charset="2"/>
              <a:buChar char="q"/>
            </a:pPr>
            <a:r>
              <a:rPr lang="en-US" dirty="0" smtClean="0"/>
              <a:t>Agent adopts a goal - </a:t>
            </a:r>
            <a:r>
              <a:rPr lang="en-GB" dirty="0"/>
              <a:t>Goals help organize </a:t>
            </a:r>
            <a:r>
              <a:rPr lang="en-GB" dirty="0" smtClean="0"/>
              <a:t>behaviour </a:t>
            </a:r>
            <a:r>
              <a:rPr lang="en-US" dirty="0" smtClean="0"/>
              <a:t>by </a:t>
            </a:r>
            <a:r>
              <a:rPr lang="en-US" dirty="0"/>
              <a:t>limiting the objectives that the agent is trying to achieve and hence the actions it </a:t>
            </a:r>
            <a:r>
              <a:rPr lang="en-US" dirty="0" smtClean="0"/>
              <a:t>needs </a:t>
            </a:r>
            <a:r>
              <a:rPr lang="en-GB" dirty="0" smtClean="0"/>
              <a:t>to </a:t>
            </a:r>
            <a:r>
              <a:rPr lang="en-GB" dirty="0"/>
              <a:t>consider</a:t>
            </a:r>
            <a:r>
              <a:rPr lang="en-GB" dirty="0" smtClean="0"/>
              <a:t>.</a:t>
            </a:r>
          </a:p>
          <a:p>
            <a:pPr>
              <a:buFont typeface="Wingdings" panose="05000000000000000000" pitchFamily="2" charset="2"/>
              <a:buChar char="q"/>
            </a:pPr>
            <a:r>
              <a:rPr lang="en-US" b="1" dirty="0"/>
              <a:t>Goal </a:t>
            </a:r>
            <a:r>
              <a:rPr lang="en-US" b="1" dirty="0" smtClean="0"/>
              <a:t>formulation</a:t>
            </a:r>
            <a:r>
              <a:rPr lang="en-US" dirty="0"/>
              <a:t> </a:t>
            </a:r>
            <a:r>
              <a:rPr lang="en-US" dirty="0" smtClean="0"/>
              <a:t>based </a:t>
            </a:r>
            <a:r>
              <a:rPr lang="en-US" dirty="0"/>
              <a:t>on the current situation and the agent’s </a:t>
            </a:r>
            <a:r>
              <a:rPr lang="en-US" dirty="0" smtClean="0"/>
              <a:t>performance measure</a:t>
            </a:r>
            <a:r>
              <a:rPr lang="en-US" dirty="0"/>
              <a:t>, is the first step in problem </a:t>
            </a:r>
            <a:r>
              <a:rPr lang="en-US" dirty="0" smtClean="0"/>
              <a:t>solving</a:t>
            </a:r>
          </a:p>
          <a:p>
            <a:pPr lvl="1">
              <a:buFont typeface="Wingdings" panose="05000000000000000000" pitchFamily="2" charset="2"/>
              <a:buChar char="q"/>
            </a:pPr>
            <a:r>
              <a:rPr lang="en-US" dirty="0" smtClean="0"/>
              <a:t>Limiting objectives current state</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6</a:t>
            </a:fld>
            <a:endParaRPr lang="en-GB"/>
          </a:p>
        </p:txBody>
      </p:sp>
    </p:spTree>
    <p:extLst>
      <p:ext uri="{BB962C8B-B14F-4D97-AF65-F5344CB8AC3E}">
        <p14:creationId xmlns:p14="http://schemas.microsoft.com/office/powerpoint/2010/main" val="6326120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768096" y="2286000"/>
            <a:ext cx="8090154" cy="4023360"/>
          </a:xfrm>
        </p:spPr>
        <p:txBody>
          <a:bodyPr>
            <a:normAutofit/>
          </a:bodyPr>
          <a:lstStyle/>
          <a:p>
            <a:pPr>
              <a:buFont typeface="Wingdings" panose="05000000000000000000" pitchFamily="2" charset="2"/>
              <a:buChar char="q"/>
            </a:pPr>
            <a:r>
              <a:rPr lang="en-US" dirty="0"/>
              <a:t>We will consider a goal to be a set of world states—exactly those states in which </a:t>
            </a:r>
            <a:r>
              <a:rPr lang="en-US" dirty="0" smtClean="0"/>
              <a:t>the goal </a:t>
            </a:r>
            <a:r>
              <a:rPr lang="en-US" dirty="0"/>
              <a:t>is </a:t>
            </a:r>
            <a:r>
              <a:rPr lang="en-US" dirty="0" smtClean="0"/>
              <a:t>satisfied</a:t>
            </a:r>
            <a:r>
              <a:rPr lang="en-US" dirty="0"/>
              <a:t>. </a:t>
            </a:r>
            <a:endParaRPr lang="en-US" dirty="0" smtClean="0"/>
          </a:p>
          <a:p>
            <a:pPr>
              <a:buFont typeface="Wingdings" panose="05000000000000000000" pitchFamily="2" charset="2"/>
              <a:buChar char="q"/>
            </a:pPr>
            <a:r>
              <a:rPr lang="en-US" dirty="0" smtClean="0"/>
              <a:t>The </a:t>
            </a:r>
            <a:r>
              <a:rPr lang="en-US" dirty="0"/>
              <a:t>agent’s task is to find out how to act, now and in the future, so that </a:t>
            </a:r>
            <a:r>
              <a:rPr lang="en-US" dirty="0" smtClean="0"/>
              <a:t>it reaches </a:t>
            </a:r>
            <a:r>
              <a:rPr lang="en-US" dirty="0"/>
              <a:t>a goal state. Before it can do this, it needs to decide (or we need to decide on </a:t>
            </a:r>
            <a:r>
              <a:rPr lang="en-US" dirty="0" smtClean="0"/>
              <a:t>its behalf</a:t>
            </a:r>
            <a:r>
              <a:rPr lang="en-US" dirty="0"/>
              <a:t>) what sorts of actions and states it should consider. </a:t>
            </a:r>
            <a:endParaRPr lang="en-US" dirty="0" smtClean="0"/>
          </a:p>
          <a:p>
            <a:pPr>
              <a:buFont typeface="Wingdings" panose="05000000000000000000" pitchFamily="2" charset="2"/>
              <a:buChar char="q"/>
            </a:pPr>
            <a:r>
              <a:rPr lang="en-US" dirty="0" smtClean="0"/>
              <a:t>If </a:t>
            </a:r>
            <a:r>
              <a:rPr lang="en-US" dirty="0"/>
              <a:t>it were to consider actions </a:t>
            </a:r>
            <a:r>
              <a:rPr lang="en-US" dirty="0" smtClean="0"/>
              <a:t>at the lowest </a:t>
            </a:r>
            <a:r>
              <a:rPr lang="en-US" dirty="0"/>
              <a:t>level </a:t>
            </a:r>
            <a:r>
              <a:rPr lang="en-US" dirty="0" smtClean="0"/>
              <a:t>the </a:t>
            </a:r>
            <a:r>
              <a:rPr lang="en-US" dirty="0"/>
              <a:t>agent would probably never </a:t>
            </a:r>
            <a:r>
              <a:rPr lang="en-US" dirty="0" smtClean="0"/>
              <a:t>reach </a:t>
            </a:r>
            <a:r>
              <a:rPr lang="en-US" b="1" dirty="0" smtClean="0"/>
              <a:t>the goal state</a:t>
            </a:r>
            <a:r>
              <a:rPr lang="en-US" dirty="0" smtClean="0"/>
              <a:t>, because </a:t>
            </a:r>
            <a:r>
              <a:rPr lang="en-US" dirty="0"/>
              <a:t>at that level of detail there is too much uncertainty in the world and there would </a:t>
            </a:r>
            <a:r>
              <a:rPr lang="en-US" dirty="0" smtClean="0"/>
              <a:t>be too </a:t>
            </a:r>
            <a:r>
              <a:rPr lang="en-US" dirty="0"/>
              <a:t>many steps in a solution. </a:t>
            </a:r>
            <a:endParaRPr lang="en-US" dirty="0" smtClean="0"/>
          </a:p>
          <a:p>
            <a:pPr>
              <a:buFont typeface="Wingdings" panose="05000000000000000000" pitchFamily="2" charset="2"/>
              <a:buChar char="q"/>
            </a:pPr>
            <a:r>
              <a:rPr lang="en-US" b="1" dirty="0" smtClean="0"/>
              <a:t>Problem </a:t>
            </a:r>
            <a:r>
              <a:rPr lang="en-US" b="1" dirty="0"/>
              <a:t>formulation </a:t>
            </a:r>
            <a:r>
              <a:rPr lang="en-US" dirty="0"/>
              <a:t>is the process of deciding what </a:t>
            </a:r>
            <a:r>
              <a:rPr lang="en-US" b="1" dirty="0" smtClean="0"/>
              <a:t>actions and </a:t>
            </a:r>
            <a:r>
              <a:rPr lang="en-US" b="1" dirty="0"/>
              <a:t>states </a:t>
            </a:r>
            <a:r>
              <a:rPr lang="en-US" dirty="0"/>
              <a:t>to consider, given a goal. </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7</a:t>
            </a:fld>
            <a:endParaRPr lang="en-GB"/>
          </a:p>
        </p:txBody>
      </p:sp>
    </p:spTree>
    <p:extLst>
      <p:ext uri="{BB962C8B-B14F-4D97-AF65-F5344CB8AC3E}">
        <p14:creationId xmlns:p14="http://schemas.microsoft.com/office/powerpoint/2010/main" val="1811936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768096" y="1772816"/>
            <a:ext cx="7290055" cy="4536544"/>
          </a:xfrm>
        </p:spPr>
        <p:txBody>
          <a:bodyPr/>
          <a:lstStyle/>
          <a:p>
            <a:pPr lvl="1">
              <a:buFont typeface="Wingdings" panose="05000000000000000000" pitchFamily="2" charset="2"/>
              <a:buChar char="q"/>
            </a:pPr>
            <a:r>
              <a:rPr lang="en-US" sz="1800" dirty="0" smtClean="0"/>
              <a:t>The Agent needs information regarding the environment e.g. Known, unknown, deterministic, observable etc.</a:t>
            </a:r>
          </a:p>
          <a:p>
            <a:pPr lvl="1">
              <a:buFont typeface="Wingdings" panose="05000000000000000000" pitchFamily="2" charset="2"/>
              <a:buChar char="q"/>
            </a:pPr>
            <a:r>
              <a:rPr lang="en-US" sz="1800" i="1" dirty="0" smtClean="0"/>
              <a:t>Under </a:t>
            </a:r>
            <a:r>
              <a:rPr lang="en-US" sz="1800" i="1" dirty="0"/>
              <a:t>these assumptions, the solution to any problem is a fixed sequence of actions</a:t>
            </a:r>
            <a:r>
              <a:rPr lang="en-US" sz="1800" i="1" dirty="0" smtClean="0"/>
              <a:t>.</a:t>
            </a:r>
          </a:p>
          <a:p>
            <a:pPr lvl="1">
              <a:buFont typeface="Wingdings" panose="05000000000000000000" pitchFamily="2" charset="2"/>
              <a:buChar char="q"/>
            </a:pPr>
            <a:r>
              <a:rPr lang="en-US" sz="1800" dirty="0" smtClean="0"/>
              <a:t>If the </a:t>
            </a:r>
            <a:r>
              <a:rPr lang="en-US" sz="1800" dirty="0"/>
              <a:t>agent knows the initial </a:t>
            </a:r>
            <a:r>
              <a:rPr lang="en-US" sz="1800" dirty="0" smtClean="0"/>
              <a:t>state and </a:t>
            </a:r>
            <a:r>
              <a:rPr lang="en-US" sz="1800" dirty="0"/>
              <a:t>the environment is known and deterministic, it knows exactly where it will be after </a:t>
            </a:r>
            <a:r>
              <a:rPr lang="en-US" sz="1800" dirty="0" smtClean="0"/>
              <a:t>the first </a:t>
            </a:r>
            <a:r>
              <a:rPr lang="en-US" sz="1800" dirty="0"/>
              <a:t>action and what it will perceive. Since only one percept is possible after the first action</a:t>
            </a:r>
            <a:r>
              <a:rPr lang="en-US" sz="1800" dirty="0" smtClean="0"/>
              <a:t>, the </a:t>
            </a:r>
            <a:r>
              <a:rPr lang="en-US" sz="1800" dirty="0"/>
              <a:t>solution can specify only one possible second action, and so on</a:t>
            </a:r>
            <a:r>
              <a:rPr lang="en-US" sz="1800" dirty="0" smtClean="0"/>
              <a:t>.</a:t>
            </a:r>
          </a:p>
          <a:p>
            <a:pPr lvl="1">
              <a:buFont typeface="Wingdings" panose="05000000000000000000" pitchFamily="2" charset="2"/>
              <a:buChar char="q"/>
            </a:pPr>
            <a:r>
              <a:rPr lang="en-US" sz="1800" b="1" dirty="0" smtClean="0"/>
              <a:t>SEARCH </a:t>
            </a:r>
            <a:r>
              <a:rPr lang="en-US" sz="1800" dirty="0" smtClean="0"/>
              <a:t>- The </a:t>
            </a:r>
            <a:r>
              <a:rPr lang="en-US" sz="1800" dirty="0"/>
              <a:t>process </a:t>
            </a:r>
            <a:r>
              <a:rPr lang="en-US" sz="1800" dirty="0" smtClean="0"/>
              <a:t>of </a:t>
            </a:r>
            <a:r>
              <a:rPr lang="en-US" sz="1800" dirty="0"/>
              <a:t>looking for a sequence of actions that reaches the goal is called search.</a:t>
            </a:r>
          </a:p>
          <a:p>
            <a:pPr lvl="1">
              <a:buFont typeface="Wingdings" panose="05000000000000000000" pitchFamily="2" charset="2"/>
              <a:buChar char="q"/>
            </a:pPr>
            <a:r>
              <a:rPr lang="en-US" sz="1800" b="1" dirty="0"/>
              <a:t>SOLUTION </a:t>
            </a:r>
            <a:r>
              <a:rPr lang="en-US" sz="1800" dirty="0" smtClean="0"/>
              <a:t>- A </a:t>
            </a:r>
            <a:r>
              <a:rPr lang="en-US" sz="1800" dirty="0"/>
              <a:t>search algorithm takes a problem as input and returns a solution in the form of an </a:t>
            </a:r>
            <a:r>
              <a:rPr lang="en-US" sz="1800" dirty="0" smtClean="0"/>
              <a:t>action sequence</a:t>
            </a:r>
            <a:r>
              <a:rPr lang="en-US" sz="1800" dirty="0"/>
              <a:t>. </a:t>
            </a:r>
            <a:endParaRPr lang="en-US" sz="1800" dirty="0" smtClean="0"/>
          </a:p>
          <a:p>
            <a:pPr lvl="1">
              <a:buFont typeface="Wingdings" panose="05000000000000000000" pitchFamily="2" charset="2"/>
              <a:buChar char="q"/>
            </a:pPr>
            <a:r>
              <a:rPr lang="en-US" sz="1800" b="1" dirty="0" smtClean="0"/>
              <a:t>EXECUTION</a:t>
            </a:r>
            <a:r>
              <a:rPr lang="en-US" sz="1800" dirty="0" smtClean="0"/>
              <a:t> - Once </a:t>
            </a:r>
            <a:r>
              <a:rPr lang="en-US" sz="1800" dirty="0"/>
              <a:t>a solution is found, the actions it recommends can be carried out. </a:t>
            </a:r>
            <a:r>
              <a:rPr lang="en-US" sz="1800" dirty="0" smtClean="0"/>
              <a:t>This is </a:t>
            </a:r>
            <a:r>
              <a:rPr lang="en-US" sz="1800" dirty="0"/>
              <a:t>called the execution phase.</a:t>
            </a:r>
            <a:endParaRPr lang="en-US" sz="1800" dirty="0" smtClean="0"/>
          </a:p>
          <a:p>
            <a:pPr lvl="1"/>
            <a:endParaRPr lang="en-US" dirty="0"/>
          </a:p>
          <a:p>
            <a:pPr lvl="1"/>
            <a:endParaRPr lang="en-US" dirty="0" smtClean="0"/>
          </a:p>
          <a:p>
            <a:pPr lvl="1"/>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8</a:t>
            </a:fld>
            <a:endParaRPr lang="en-GB"/>
          </a:p>
        </p:txBody>
      </p:sp>
    </p:spTree>
    <p:extLst>
      <p:ext uri="{BB962C8B-B14F-4D97-AF65-F5344CB8AC3E}">
        <p14:creationId xmlns:p14="http://schemas.microsoft.com/office/powerpoint/2010/main" val="24424494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While </a:t>
            </a:r>
            <a:r>
              <a:rPr lang="en-US" dirty="0"/>
              <a:t>the agent is executing the solution sequence it ignores its </a:t>
            </a:r>
            <a:r>
              <a:rPr lang="en-US" dirty="0" smtClean="0"/>
              <a:t>percepts when </a:t>
            </a:r>
            <a:r>
              <a:rPr lang="en-US" dirty="0"/>
              <a:t>choosing an action because it knows in advance what they will be. </a:t>
            </a:r>
            <a:endParaRPr lang="en-US" dirty="0" smtClean="0"/>
          </a:p>
          <a:p>
            <a:pPr>
              <a:buFont typeface="Wingdings" panose="05000000000000000000" pitchFamily="2" charset="2"/>
              <a:buChar char="q"/>
            </a:pPr>
            <a:r>
              <a:rPr lang="en-US" dirty="0" smtClean="0"/>
              <a:t>OPEN-LOOP SYSTEM - An </a:t>
            </a:r>
            <a:r>
              <a:rPr lang="en-US" dirty="0"/>
              <a:t>agent </a:t>
            </a:r>
            <a:r>
              <a:rPr lang="en-US" dirty="0" smtClean="0"/>
              <a:t>that carries out its plans with its eyes closed, so to speak, must be quite certain of what is going on.</a:t>
            </a:r>
          </a:p>
          <a:p>
            <a:pPr lvl="1">
              <a:buFont typeface="Arial" panose="020B0604020202020204" pitchFamily="34" charset="0"/>
              <a:buChar char="•"/>
            </a:pPr>
            <a:r>
              <a:rPr lang="en-US" sz="2000" dirty="0"/>
              <a:t>It ignores the percepts breaks the loop between agent and environment.</a:t>
            </a:r>
            <a:endParaRPr lang="en-GB" sz="2000"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9</a:t>
            </a:fld>
            <a:endParaRPr lang="en-GB"/>
          </a:p>
        </p:txBody>
      </p:sp>
    </p:spTree>
    <p:extLst>
      <p:ext uri="{BB962C8B-B14F-4D97-AF65-F5344CB8AC3E}">
        <p14:creationId xmlns:p14="http://schemas.microsoft.com/office/powerpoint/2010/main" val="1598297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Functionality of a problem</a:t>
            </a:r>
            <a:endParaRPr lang="en-GB"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85498670"/>
              </p:ext>
            </p:extLst>
          </p:nvPr>
        </p:nvGraphicFramePr>
        <p:xfrm>
          <a:off x="768350" y="1916832"/>
          <a:ext cx="4235698" cy="4391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10</a:t>
            </a:fld>
            <a:endParaRPr lang="en-GB"/>
          </a:p>
        </p:txBody>
      </p:sp>
      <p:graphicFrame>
        <p:nvGraphicFramePr>
          <p:cNvPr id="8" name="Diagram 7"/>
          <p:cNvGraphicFramePr/>
          <p:nvPr>
            <p:extLst>
              <p:ext uri="{D42A27DB-BD31-4B8C-83A1-F6EECF244321}">
                <p14:modId xmlns:p14="http://schemas.microsoft.com/office/powerpoint/2010/main" val="3556498481"/>
              </p:ext>
            </p:extLst>
          </p:nvPr>
        </p:nvGraphicFramePr>
        <p:xfrm>
          <a:off x="5774196" y="1916831"/>
          <a:ext cx="3074318" cy="43918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60967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Well-defined problems and solutions</a:t>
            </a:r>
          </a:p>
        </p:txBody>
      </p:sp>
      <p:sp>
        <p:nvSpPr>
          <p:cNvPr id="3" name="Content Placeholder 2"/>
          <p:cNvSpPr>
            <a:spLocks noGrp="1"/>
          </p:cNvSpPr>
          <p:nvPr>
            <p:ph idx="1"/>
          </p:nvPr>
        </p:nvSpPr>
        <p:spPr>
          <a:xfrm>
            <a:off x="768096" y="2084832"/>
            <a:ext cx="7290055" cy="4224528"/>
          </a:xfrm>
        </p:spPr>
        <p:txBody>
          <a:bodyPr>
            <a:normAutofit lnSpcReduction="10000"/>
          </a:bodyPr>
          <a:lstStyle/>
          <a:p>
            <a:pPr>
              <a:buFont typeface="Wingdings" panose="05000000000000000000" pitchFamily="2" charset="2"/>
              <a:buChar char="q"/>
            </a:pPr>
            <a:r>
              <a:rPr lang="en-US" dirty="0" smtClean="0"/>
              <a:t> A </a:t>
            </a:r>
            <a:r>
              <a:rPr lang="en-US" b="1" dirty="0"/>
              <a:t>problem </a:t>
            </a:r>
            <a:r>
              <a:rPr lang="en-US" dirty="0"/>
              <a:t>can be defined </a:t>
            </a:r>
            <a:r>
              <a:rPr lang="en-US" dirty="0" smtClean="0"/>
              <a:t>formally </a:t>
            </a:r>
            <a:r>
              <a:rPr lang="en-US" dirty="0"/>
              <a:t>by five </a:t>
            </a:r>
            <a:r>
              <a:rPr lang="en-US" dirty="0" smtClean="0"/>
              <a:t>components:-</a:t>
            </a:r>
          </a:p>
          <a:p>
            <a:pPr>
              <a:buFont typeface="Arial" panose="020B0604020202020204" pitchFamily="34" charset="0"/>
              <a:buChar char="•"/>
            </a:pPr>
            <a:r>
              <a:rPr lang="en-US" dirty="0" smtClean="0"/>
              <a:t> The </a:t>
            </a:r>
            <a:r>
              <a:rPr lang="en-US" b="1" dirty="0"/>
              <a:t>initial state </a:t>
            </a:r>
            <a:r>
              <a:rPr lang="en-US" dirty="0"/>
              <a:t>that the agent starts in. </a:t>
            </a:r>
            <a:r>
              <a:rPr lang="en-US" dirty="0" smtClean="0"/>
              <a:t>e.g. </a:t>
            </a:r>
            <a:r>
              <a:rPr lang="en-US" dirty="0"/>
              <a:t>the initial state for our agent </a:t>
            </a:r>
            <a:r>
              <a:rPr lang="en-US" dirty="0" smtClean="0"/>
              <a:t>in Romania </a:t>
            </a:r>
            <a:r>
              <a:rPr lang="en-US" dirty="0"/>
              <a:t>might be described as In(Arad</a:t>
            </a:r>
            <a:r>
              <a:rPr lang="en-US" dirty="0" smtClean="0"/>
              <a:t>).</a:t>
            </a:r>
          </a:p>
          <a:p>
            <a:pPr>
              <a:buFont typeface="Arial" panose="020B0604020202020204" pitchFamily="34" charset="0"/>
              <a:buChar char="•"/>
            </a:pPr>
            <a:r>
              <a:rPr lang="en-US" dirty="0"/>
              <a:t> </a:t>
            </a:r>
            <a:r>
              <a:rPr lang="en-US" dirty="0" smtClean="0"/>
              <a:t>A </a:t>
            </a:r>
            <a:r>
              <a:rPr lang="en-US" dirty="0"/>
              <a:t>description of the </a:t>
            </a:r>
            <a:r>
              <a:rPr lang="en-US" dirty="0" smtClean="0"/>
              <a:t>possible </a:t>
            </a:r>
            <a:r>
              <a:rPr lang="en-US" b="1" dirty="0"/>
              <a:t>actions </a:t>
            </a:r>
            <a:r>
              <a:rPr lang="en-US" dirty="0"/>
              <a:t>available to the agent. Given a particular state s</a:t>
            </a:r>
            <a:r>
              <a:rPr lang="en-US" dirty="0" smtClean="0"/>
              <a:t>, returns </a:t>
            </a:r>
            <a:r>
              <a:rPr lang="en-US" dirty="0"/>
              <a:t>the set of actions that can be executed in s. We say that each </a:t>
            </a:r>
            <a:r>
              <a:rPr lang="en-US" dirty="0" smtClean="0"/>
              <a:t>of these </a:t>
            </a:r>
            <a:r>
              <a:rPr lang="en-US" dirty="0"/>
              <a:t>actions is </a:t>
            </a:r>
            <a:r>
              <a:rPr lang="en-US" b="1" dirty="0"/>
              <a:t>applicable </a:t>
            </a:r>
            <a:r>
              <a:rPr lang="en-US" dirty="0"/>
              <a:t>in s. </a:t>
            </a:r>
            <a:r>
              <a:rPr lang="en-US" dirty="0" smtClean="0"/>
              <a:t>e.g. from </a:t>
            </a:r>
            <a:r>
              <a:rPr lang="en-US" dirty="0"/>
              <a:t>the state In(Arad), the </a:t>
            </a:r>
            <a:r>
              <a:rPr lang="en-US" dirty="0" smtClean="0"/>
              <a:t>applicable actions </a:t>
            </a:r>
            <a:r>
              <a:rPr lang="en-US" dirty="0"/>
              <a:t>are {Go(Sibiu), Go(Timisoara), Go(</a:t>
            </a:r>
            <a:r>
              <a:rPr lang="en-US" dirty="0" err="1"/>
              <a:t>Zerind</a:t>
            </a:r>
            <a:r>
              <a:rPr lang="en-US" dirty="0" smtClean="0"/>
              <a:t>)}.</a:t>
            </a:r>
          </a:p>
          <a:p>
            <a:pPr>
              <a:buFont typeface="Arial" panose="020B0604020202020204" pitchFamily="34" charset="0"/>
              <a:buChar char="•"/>
            </a:pPr>
            <a:r>
              <a:rPr lang="en-US" dirty="0"/>
              <a:t>A description of what each action does; </a:t>
            </a:r>
            <a:r>
              <a:rPr lang="en-US" dirty="0" smtClean="0"/>
              <a:t>called the </a:t>
            </a:r>
            <a:r>
              <a:rPr lang="en-US" b="1" dirty="0" smtClean="0"/>
              <a:t>transition model</a:t>
            </a:r>
            <a:r>
              <a:rPr lang="en-US" dirty="0"/>
              <a:t>, specified by a function RESULT(s, a) that returns the state that results </a:t>
            </a:r>
            <a:r>
              <a:rPr lang="en-US" dirty="0" smtClean="0"/>
              <a:t>from doing </a:t>
            </a:r>
            <a:r>
              <a:rPr lang="en-US" dirty="0"/>
              <a:t>action a in state s. </a:t>
            </a:r>
            <a:endParaRPr lang="en-US" dirty="0" smtClean="0"/>
          </a:p>
          <a:p>
            <a:pPr lvl="1">
              <a:buFont typeface="Wingdings" panose="05000000000000000000" pitchFamily="2" charset="2"/>
              <a:buChar char="§"/>
            </a:pPr>
            <a:r>
              <a:rPr lang="en-US" dirty="0" smtClean="0"/>
              <a:t>The </a:t>
            </a:r>
            <a:r>
              <a:rPr lang="en-US" dirty="0"/>
              <a:t>term </a:t>
            </a:r>
            <a:r>
              <a:rPr lang="en-US" b="1" dirty="0"/>
              <a:t>successor </a:t>
            </a:r>
            <a:r>
              <a:rPr lang="en-US" dirty="0"/>
              <a:t>to refer to any state </a:t>
            </a:r>
            <a:r>
              <a:rPr lang="en-US" dirty="0" smtClean="0"/>
              <a:t>reachable from </a:t>
            </a:r>
            <a:r>
              <a:rPr lang="en-US" dirty="0"/>
              <a:t>a given state by a single </a:t>
            </a:r>
            <a:r>
              <a:rPr lang="en-US" dirty="0" smtClean="0"/>
              <a:t>action</a:t>
            </a:r>
          </a:p>
          <a:p>
            <a:pPr lvl="1">
              <a:buFont typeface="Wingdings" panose="05000000000000000000" pitchFamily="2" charset="2"/>
              <a:buChar char="§"/>
            </a:pPr>
            <a:r>
              <a:rPr lang="en-GB" dirty="0" smtClean="0"/>
              <a:t>E.g. RESULT(In(Arad</a:t>
            </a:r>
            <a:r>
              <a:rPr lang="en-GB" dirty="0"/>
              <a:t>),Go(</a:t>
            </a:r>
            <a:r>
              <a:rPr lang="en-GB" dirty="0" err="1"/>
              <a:t>Zerind</a:t>
            </a:r>
            <a:r>
              <a:rPr lang="en-GB" dirty="0"/>
              <a:t>)) = In(</a:t>
            </a:r>
            <a:r>
              <a:rPr lang="en-GB" dirty="0" err="1"/>
              <a:t>Zerind</a:t>
            </a:r>
            <a:r>
              <a:rPr lang="en-GB" dirty="0"/>
              <a:t>) .</a:t>
            </a:r>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11</a:t>
            </a:fld>
            <a:endParaRPr lang="en-GB"/>
          </a:p>
        </p:txBody>
      </p:sp>
    </p:spTree>
    <p:extLst>
      <p:ext uri="{BB962C8B-B14F-4D97-AF65-F5344CB8AC3E}">
        <p14:creationId xmlns:p14="http://schemas.microsoft.com/office/powerpoint/2010/main" val="11123110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5" name="Content Placeholder 4"/>
          <p:cNvPicPr>
            <a:picLocks noGrp="1" noChangeAspect="1"/>
          </p:cNvPicPr>
          <p:nvPr>
            <p:ph idx="1"/>
          </p:nvPr>
        </p:nvPicPr>
        <p:blipFill rotWithShape="1">
          <a:blip r:embed="rId2"/>
          <a:srcRect l="5473" r="4682"/>
          <a:stretch/>
        </p:blipFill>
        <p:spPr>
          <a:xfrm>
            <a:off x="827584" y="692696"/>
            <a:ext cx="7920880" cy="5778008"/>
          </a:xfrm>
          <a:prstGeom prst="rect">
            <a:avLst/>
          </a:prstGeom>
        </p:spPr>
      </p:pic>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12</a:t>
            </a:fld>
            <a:endParaRPr lang="en-GB"/>
          </a:p>
        </p:txBody>
      </p:sp>
    </p:spTree>
    <p:extLst>
      <p:ext uri="{BB962C8B-B14F-4D97-AF65-F5344CB8AC3E}">
        <p14:creationId xmlns:p14="http://schemas.microsoft.com/office/powerpoint/2010/main" val="31916740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768096" y="1988840"/>
            <a:ext cx="7290055" cy="4481864"/>
          </a:xfrm>
        </p:spPr>
        <p:txBody>
          <a:bodyPr>
            <a:normAutofit/>
          </a:bodyPr>
          <a:lstStyle/>
          <a:p>
            <a:pPr>
              <a:buFont typeface="Arial" panose="020B0604020202020204" pitchFamily="34" charset="0"/>
              <a:buChar char="•"/>
            </a:pPr>
            <a:r>
              <a:rPr lang="en-US" dirty="0"/>
              <a:t>Together, the initial state, actions, and transition model implicitly define the </a:t>
            </a:r>
            <a:r>
              <a:rPr lang="en-US" b="1" dirty="0"/>
              <a:t>state </a:t>
            </a:r>
            <a:r>
              <a:rPr lang="en-US" b="1" dirty="0" smtClean="0"/>
              <a:t>space </a:t>
            </a:r>
            <a:r>
              <a:rPr lang="en-US" dirty="0" smtClean="0"/>
              <a:t>of </a:t>
            </a:r>
            <a:r>
              <a:rPr lang="en-US" dirty="0"/>
              <a:t>the problem—the set of all states reachable from the initial state by any </a:t>
            </a:r>
            <a:r>
              <a:rPr lang="en-US" dirty="0" smtClean="0"/>
              <a:t>sequence </a:t>
            </a:r>
            <a:r>
              <a:rPr lang="en-US" dirty="0"/>
              <a:t>of actions. </a:t>
            </a:r>
            <a:endParaRPr lang="en-US" dirty="0" smtClean="0"/>
          </a:p>
          <a:p>
            <a:pPr lvl="1">
              <a:buFont typeface="Wingdings" panose="05000000000000000000" pitchFamily="2" charset="2"/>
              <a:buChar char="§"/>
            </a:pPr>
            <a:r>
              <a:rPr lang="en-US" sz="1800" dirty="0" smtClean="0"/>
              <a:t>The </a:t>
            </a:r>
            <a:r>
              <a:rPr lang="en-US" sz="1800" dirty="0"/>
              <a:t>state space forms a directed network or </a:t>
            </a:r>
            <a:r>
              <a:rPr lang="en-US" sz="1800" b="1" dirty="0"/>
              <a:t>graph </a:t>
            </a:r>
            <a:r>
              <a:rPr lang="en-US" sz="1800" dirty="0"/>
              <a:t>in which the </a:t>
            </a:r>
            <a:r>
              <a:rPr lang="en-US" sz="1800" dirty="0" smtClean="0"/>
              <a:t>nodes are </a:t>
            </a:r>
            <a:r>
              <a:rPr lang="en-US" sz="1800" dirty="0"/>
              <a:t>states and the links between nodes are actions</a:t>
            </a:r>
            <a:r>
              <a:rPr lang="en-US" sz="1800" dirty="0" smtClean="0"/>
              <a:t>.</a:t>
            </a:r>
          </a:p>
          <a:p>
            <a:pPr>
              <a:buFont typeface="Arial" panose="020B0604020202020204" pitchFamily="34" charset="0"/>
              <a:buChar char="•"/>
            </a:pPr>
            <a:r>
              <a:rPr lang="en-US" dirty="0"/>
              <a:t>A </a:t>
            </a:r>
            <a:r>
              <a:rPr lang="en-US" b="1" dirty="0"/>
              <a:t>path </a:t>
            </a:r>
            <a:r>
              <a:rPr lang="en-US" dirty="0"/>
              <a:t>in the state space is a </a:t>
            </a:r>
            <a:r>
              <a:rPr lang="en-US" dirty="0" smtClean="0"/>
              <a:t>sequence of </a:t>
            </a:r>
            <a:r>
              <a:rPr lang="en-US" dirty="0"/>
              <a:t>states connected by a sequence of actions.</a:t>
            </a:r>
            <a:endParaRPr lang="en-US" dirty="0" smtClean="0"/>
          </a:p>
          <a:p>
            <a:pPr>
              <a:buFont typeface="Arial" panose="020B0604020202020204" pitchFamily="34" charset="0"/>
              <a:buChar char="•"/>
            </a:pPr>
            <a:r>
              <a:rPr lang="en-US" dirty="0"/>
              <a:t>The </a:t>
            </a:r>
            <a:r>
              <a:rPr lang="en-US" b="1" dirty="0"/>
              <a:t>goal test</a:t>
            </a:r>
            <a:r>
              <a:rPr lang="en-US" dirty="0"/>
              <a:t>, which determines whether a given state is a goal state. Sometimes </a:t>
            </a:r>
            <a:r>
              <a:rPr lang="en-US" dirty="0" err="1" smtClean="0"/>
              <a:t>theres</a:t>
            </a:r>
            <a:r>
              <a:rPr lang="en-US" dirty="0" smtClean="0"/>
              <a:t> </a:t>
            </a:r>
            <a:r>
              <a:rPr lang="en-US" dirty="0"/>
              <a:t>an explicit set of possible goal states, and the test simply checks whether the </a:t>
            </a:r>
            <a:r>
              <a:rPr lang="en-US" dirty="0" smtClean="0"/>
              <a:t>given state </a:t>
            </a:r>
            <a:r>
              <a:rPr lang="en-US" dirty="0"/>
              <a:t>is one of them. </a:t>
            </a:r>
            <a:endParaRPr lang="en-US" dirty="0" smtClean="0"/>
          </a:p>
          <a:p>
            <a:pPr lvl="1">
              <a:buFont typeface="Wingdings" panose="05000000000000000000" pitchFamily="2" charset="2"/>
              <a:buChar char="§"/>
            </a:pPr>
            <a:r>
              <a:rPr lang="en-US" dirty="0"/>
              <a:t>Sometimes the goal is specified by an abstract property rather than an explicitly </a:t>
            </a:r>
            <a:r>
              <a:rPr lang="en-US" dirty="0" smtClean="0"/>
              <a:t>enumerated set </a:t>
            </a:r>
            <a:r>
              <a:rPr lang="en-US" dirty="0"/>
              <a:t>of states. For example, in chess, the goal is to reach a state called “checkmate</a:t>
            </a:r>
            <a:r>
              <a:rPr lang="en-US" dirty="0" smtClean="0"/>
              <a:t>,” where </a:t>
            </a:r>
            <a:r>
              <a:rPr lang="en-US" dirty="0"/>
              <a:t>the opponent’s king is under attack and can’t escape</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13</a:t>
            </a:fld>
            <a:endParaRPr lang="en-GB"/>
          </a:p>
        </p:txBody>
      </p:sp>
    </p:spTree>
    <p:extLst>
      <p:ext uri="{BB962C8B-B14F-4D97-AF65-F5344CB8AC3E}">
        <p14:creationId xmlns:p14="http://schemas.microsoft.com/office/powerpoint/2010/main" val="603988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757209" y="2743301"/>
            <a:ext cx="7290055" cy="4023360"/>
          </a:xfrm>
        </p:spPr>
        <p:txBody>
          <a:bodyPr/>
          <a:lstStyle/>
          <a:p>
            <a:endParaRPr lang="en-GB"/>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14</a:t>
            </a:fld>
            <a:endParaRPr lang="en-GB"/>
          </a:p>
        </p:txBody>
      </p:sp>
      <p:pic>
        <p:nvPicPr>
          <p:cNvPr id="5" name="Picture 4"/>
          <p:cNvPicPr>
            <a:picLocks noChangeAspect="1"/>
          </p:cNvPicPr>
          <p:nvPr/>
        </p:nvPicPr>
        <p:blipFill>
          <a:blip r:embed="rId3"/>
          <a:stretch>
            <a:fillRect/>
          </a:stretch>
        </p:blipFill>
        <p:spPr>
          <a:xfrm>
            <a:off x="899592" y="1700808"/>
            <a:ext cx="7056784" cy="4342155"/>
          </a:xfrm>
          <a:prstGeom prst="rect">
            <a:avLst/>
          </a:prstGeom>
        </p:spPr>
      </p:pic>
    </p:spTree>
    <p:extLst>
      <p:ext uri="{BB962C8B-B14F-4D97-AF65-F5344CB8AC3E}">
        <p14:creationId xmlns:p14="http://schemas.microsoft.com/office/powerpoint/2010/main" val="692456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a:buFont typeface="Arial" panose="020B0604020202020204" pitchFamily="34" charset="0"/>
              <a:buChar char="•"/>
            </a:pPr>
            <a:r>
              <a:rPr lang="en-US" dirty="0"/>
              <a:t>A </a:t>
            </a:r>
            <a:r>
              <a:rPr lang="en-US" b="1" dirty="0"/>
              <a:t>path </a:t>
            </a:r>
            <a:r>
              <a:rPr lang="en-US" b="1" dirty="0" smtClean="0"/>
              <a:t>cost </a:t>
            </a:r>
            <a:r>
              <a:rPr lang="en-US" dirty="0"/>
              <a:t>function that assigns a numeric cost to each path. The </a:t>
            </a:r>
            <a:r>
              <a:rPr lang="en-US" dirty="0" smtClean="0"/>
              <a:t>problem-solving agent </a:t>
            </a:r>
            <a:r>
              <a:rPr lang="en-US" dirty="0"/>
              <a:t>chooses a cost function that reflects its own performance measure. </a:t>
            </a:r>
            <a:endParaRPr lang="en-US" dirty="0" smtClean="0"/>
          </a:p>
          <a:p>
            <a:pPr lvl="1">
              <a:buFont typeface="Arial" panose="020B0604020202020204" pitchFamily="34" charset="0"/>
              <a:buChar char="•"/>
            </a:pPr>
            <a:r>
              <a:rPr lang="en-US" dirty="0" smtClean="0"/>
              <a:t>For </a:t>
            </a:r>
            <a:r>
              <a:rPr lang="en-US" dirty="0"/>
              <a:t>the </a:t>
            </a:r>
            <a:r>
              <a:rPr lang="en-US" dirty="0" smtClean="0"/>
              <a:t>agent trying </a:t>
            </a:r>
            <a:r>
              <a:rPr lang="en-US" dirty="0"/>
              <a:t>to get to Bucharest, time is of the essence, so the cost of a path might be its </a:t>
            </a:r>
            <a:r>
              <a:rPr lang="en-US" dirty="0" smtClean="0"/>
              <a:t>length in </a:t>
            </a:r>
            <a:r>
              <a:rPr lang="en-US" dirty="0"/>
              <a:t>kilometers. In this chapter, we assume that the cost of a path can be described as </a:t>
            </a:r>
            <a:r>
              <a:rPr lang="en-US" dirty="0" smtClean="0"/>
              <a:t>the sum </a:t>
            </a:r>
            <a:r>
              <a:rPr lang="en-US" dirty="0"/>
              <a:t>of the costs of the individual actions along the path</a:t>
            </a:r>
            <a:r>
              <a:rPr lang="en-US" dirty="0" smtClean="0"/>
              <a:t>.</a:t>
            </a:r>
          </a:p>
          <a:p>
            <a:pPr lvl="1">
              <a:buFont typeface="Arial" panose="020B0604020202020204" pitchFamily="34" charset="0"/>
              <a:buChar char="•"/>
            </a:pPr>
            <a:r>
              <a:rPr lang="en-US" dirty="0" smtClean="0"/>
              <a:t> </a:t>
            </a:r>
            <a:r>
              <a:rPr lang="en-US" dirty="0"/>
              <a:t>The </a:t>
            </a:r>
            <a:r>
              <a:rPr lang="en-US" b="1" dirty="0"/>
              <a:t>step cost </a:t>
            </a:r>
            <a:r>
              <a:rPr lang="en-US" dirty="0"/>
              <a:t>of taking </a:t>
            </a:r>
            <a:r>
              <a:rPr lang="en-US" dirty="0" smtClean="0"/>
              <a:t>action a </a:t>
            </a:r>
            <a:r>
              <a:rPr lang="en-US" dirty="0"/>
              <a:t>in state s to reach state </a:t>
            </a:r>
            <a:r>
              <a:rPr lang="en-US" dirty="0" smtClean="0"/>
              <a:t>s is </a:t>
            </a:r>
            <a:r>
              <a:rPr lang="en-US" dirty="0"/>
              <a:t>denoted by c(s, a, </a:t>
            </a:r>
            <a:r>
              <a:rPr lang="en-US" dirty="0" smtClean="0"/>
              <a:t>s). </a:t>
            </a:r>
            <a:r>
              <a:rPr lang="en-US" dirty="0"/>
              <a:t>The step costs for Romania </a:t>
            </a:r>
            <a:r>
              <a:rPr lang="en-US" dirty="0" smtClean="0"/>
              <a:t>are shown </a:t>
            </a:r>
            <a:r>
              <a:rPr lang="en-US" dirty="0"/>
              <a:t>in Figure 3.2 as route distances. We assume that step costs are nonnegative</a:t>
            </a:r>
            <a:r>
              <a:rPr lang="en-US" dirty="0" smtClean="0"/>
              <a:t>.</a:t>
            </a:r>
          </a:p>
          <a:p>
            <a:pPr>
              <a:buFont typeface="Wingdings" panose="05000000000000000000" pitchFamily="2" charset="2"/>
              <a:buChar char="q"/>
            </a:pPr>
            <a:r>
              <a:rPr lang="en-US" dirty="0"/>
              <a:t>The preceding elements define a problem and can be gathered into a single data </a:t>
            </a:r>
            <a:r>
              <a:rPr lang="en-US" dirty="0" smtClean="0"/>
              <a:t>structure that </a:t>
            </a:r>
            <a:r>
              <a:rPr lang="en-US" dirty="0"/>
              <a:t>is given as input to a problem-solving algorithm. </a:t>
            </a:r>
            <a:endParaRPr lang="en-US" dirty="0" smtClean="0"/>
          </a:p>
          <a:p>
            <a:pPr>
              <a:buFont typeface="Wingdings" panose="05000000000000000000" pitchFamily="2" charset="2"/>
              <a:buChar char="q"/>
            </a:pPr>
            <a:r>
              <a:rPr lang="en-US" dirty="0" smtClean="0"/>
              <a:t>A </a:t>
            </a:r>
            <a:r>
              <a:rPr lang="en-US" b="1" dirty="0"/>
              <a:t>solution </a:t>
            </a:r>
            <a:r>
              <a:rPr lang="en-US" dirty="0"/>
              <a:t>to a problem is an </a:t>
            </a:r>
            <a:r>
              <a:rPr lang="en-US" dirty="0" smtClean="0"/>
              <a:t>action sequence </a:t>
            </a:r>
            <a:r>
              <a:rPr lang="en-US" dirty="0"/>
              <a:t>that leads from the initial state to a goal state. Solution quality is measured by </a:t>
            </a:r>
            <a:r>
              <a:rPr lang="en-US" dirty="0" smtClean="0"/>
              <a:t>the path </a:t>
            </a:r>
            <a:r>
              <a:rPr lang="en-US" dirty="0"/>
              <a:t>cost function, and an </a:t>
            </a:r>
            <a:r>
              <a:rPr lang="en-US" b="1" dirty="0"/>
              <a:t>optimal solution </a:t>
            </a:r>
            <a:r>
              <a:rPr lang="en-US" dirty="0"/>
              <a:t>has the lowest path cost among all </a:t>
            </a:r>
            <a:r>
              <a:rPr lang="en-US" dirty="0" smtClean="0"/>
              <a:t>solutions.</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15</a:t>
            </a:fld>
            <a:endParaRPr lang="en-GB"/>
          </a:p>
        </p:txBody>
      </p:sp>
    </p:spTree>
    <p:extLst>
      <p:ext uri="{BB962C8B-B14F-4D97-AF65-F5344CB8AC3E}">
        <p14:creationId xmlns:p14="http://schemas.microsoft.com/office/powerpoint/2010/main" val="3211786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Formulating problems</a:t>
            </a:r>
          </a:p>
        </p:txBody>
      </p:sp>
      <p:sp>
        <p:nvSpPr>
          <p:cNvPr id="3" name="Content Placeholder 2"/>
          <p:cNvSpPr>
            <a:spLocks noGrp="1"/>
          </p:cNvSpPr>
          <p:nvPr>
            <p:ph idx="1"/>
          </p:nvPr>
        </p:nvSpPr>
        <p:spPr>
          <a:xfrm>
            <a:off x="768096" y="1844824"/>
            <a:ext cx="7290055" cy="4464536"/>
          </a:xfrm>
        </p:spPr>
        <p:txBody>
          <a:bodyPr>
            <a:normAutofit lnSpcReduction="10000"/>
          </a:bodyPr>
          <a:lstStyle/>
          <a:p>
            <a:pPr>
              <a:buFont typeface="Wingdings" panose="05000000000000000000" pitchFamily="2" charset="2"/>
              <a:buChar char="q"/>
            </a:pPr>
            <a:r>
              <a:rPr lang="en-US" dirty="0" smtClean="0"/>
              <a:t> In the preceding section we proposed a formulation of the problem of getting to Bucharest in terms of </a:t>
            </a:r>
            <a:r>
              <a:rPr lang="en-US" b="1" i="1" dirty="0" smtClean="0"/>
              <a:t>the initial state, actions, transition model, goal test, and path cost. T</a:t>
            </a:r>
            <a:r>
              <a:rPr lang="en-US" dirty="0" smtClean="0"/>
              <a:t>his formulation seems reasonable, but it is still a </a:t>
            </a:r>
            <a:r>
              <a:rPr lang="en-US" i="1" dirty="0" smtClean="0"/>
              <a:t>model</a:t>
            </a:r>
            <a:r>
              <a:rPr lang="en-US" dirty="0" smtClean="0"/>
              <a:t>—an abstract mathematical description—and not the real thing. </a:t>
            </a:r>
          </a:p>
          <a:p>
            <a:pPr lvl="1">
              <a:buFont typeface="Arial" panose="020B0604020202020204" pitchFamily="34" charset="0"/>
              <a:buChar char="•"/>
            </a:pPr>
            <a:r>
              <a:rPr lang="en-US" dirty="0" smtClean="0"/>
              <a:t>Compare the simple state description we have chosen, In(Arad), to an actual cross country trip, where the state of the world includes so many things: the traveling companions, the current radio program, the scenery out of the window, the proximity of law enforcement officers, the distance to the next rest stop, the condition of the road, the weather, and so on.</a:t>
            </a:r>
          </a:p>
          <a:p>
            <a:pPr>
              <a:buFont typeface="Wingdings" panose="05000000000000000000" pitchFamily="2" charset="2"/>
              <a:buChar char="q"/>
            </a:pPr>
            <a:r>
              <a:rPr lang="en-US" dirty="0" smtClean="0"/>
              <a:t>All these considerations are left out of our state descriptions because they are irrelevant to the problem of finding a route to Bucharest. </a:t>
            </a:r>
          </a:p>
          <a:p>
            <a:pPr>
              <a:buFont typeface="Wingdings" panose="05000000000000000000" pitchFamily="2" charset="2"/>
              <a:buChar char="q"/>
            </a:pPr>
            <a:r>
              <a:rPr lang="en-US" dirty="0" smtClean="0"/>
              <a:t>The process of removing detail from a representation is called </a:t>
            </a:r>
            <a:r>
              <a:rPr lang="en-US" b="1" dirty="0" smtClean="0"/>
              <a:t>abstraction</a:t>
            </a:r>
            <a:r>
              <a:rPr lang="en-US" dirty="0" smtClean="0"/>
              <a:t>.</a:t>
            </a:r>
          </a:p>
          <a:p>
            <a:pPr>
              <a:buFont typeface="Wingdings" panose="05000000000000000000" pitchFamily="2" charset="2"/>
              <a:buChar char="q"/>
            </a:pPr>
            <a:r>
              <a:rPr lang="en-US" dirty="0" smtClean="0"/>
              <a:t>In addition to abstracting the state description, we must abstract the actions themselves. A driving action has many effects.</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16</a:t>
            </a:fld>
            <a:endParaRPr lang="en-GB"/>
          </a:p>
        </p:txBody>
      </p:sp>
    </p:spTree>
    <p:extLst>
      <p:ext uri="{BB962C8B-B14F-4D97-AF65-F5344CB8AC3E}">
        <p14:creationId xmlns:p14="http://schemas.microsoft.com/office/powerpoint/2010/main" val="2668742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PROBLEMS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The problem-solving approach has been applied to a vast array of task environments. </a:t>
            </a:r>
            <a:endParaRPr lang="en-US" dirty="0" smtClean="0"/>
          </a:p>
          <a:p>
            <a:pPr lvl="1"/>
            <a:r>
              <a:rPr lang="en-US" dirty="0" smtClean="0"/>
              <a:t>We list </a:t>
            </a:r>
            <a:r>
              <a:rPr lang="en-US" dirty="0"/>
              <a:t>some of the best known here, distinguishing between toy and real-world problems. </a:t>
            </a:r>
            <a:endParaRPr lang="en-US" dirty="0" smtClean="0"/>
          </a:p>
          <a:p>
            <a:pPr>
              <a:buFont typeface="Arial" panose="020B0604020202020204" pitchFamily="34" charset="0"/>
              <a:buChar char="•"/>
            </a:pPr>
            <a:r>
              <a:rPr lang="en-US" dirty="0" smtClean="0"/>
              <a:t>A </a:t>
            </a:r>
            <a:r>
              <a:rPr lang="en-US" b="1" dirty="0" smtClean="0"/>
              <a:t>toy </a:t>
            </a:r>
            <a:r>
              <a:rPr lang="en-US" b="1" dirty="0"/>
              <a:t>problem </a:t>
            </a:r>
            <a:r>
              <a:rPr lang="en-US" dirty="0"/>
              <a:t>is intended to illustrate or exercise various problem-solving methods. </a:t>
            </a:r>
            <a:endParaRPr lang="en-US" dirty="0" smtClean="0"/>
          </a:p>
          <a:p>
            <a:pPr lvl="1">
              <a:buFont typeface="Wingdings" panose="05000000000000000000" pitchFamily="2" charset="2"/>
              <a:buChar char="§"/>
            </a:pPr>
            <a:r>
              <a:rPr lang="en-US" dirty="0" smtClean="0"/>
              <a:t>It </a:t>
            </a:r>
            <a:r>
              <a:rPr lang="en-US" dirty="0"/>
              <a:t>can </a:t>
            </a:r>
            <a:r>
              <a:rPr lang="en-US" dirty="0" smtClean="0"/>
              <a:t>be given </a:t>
            </a:r>
            <a:r>
              <a:rPr lang="en-US" dirty="0"/>
              <a:t>a concise, exact description and hence is usable by different researchers to compare </a:t>
            </a:r>
            <a:r>
              <a:rPr lang="en-US" dirty="0" smtClean="0"/>
              <a:t>the performance </a:t>
            </a:r>
            <a:r>
              <a:rPr lang="en-US" dirty="0"/>
              <a:t>of algorithms. </a:t>
            </a:r>
            <a:endParaRPr lang="en-US" dirty="0" smtClean="0"/>
          </a:p>
          <a:p>
            <a:pPr>
              <a:buFont typeface="Arial" panose="020B0604020202020204" pitchFamily="34" charset="0"/>
              <a:buChar char="•"/>
            </a:pPr>
            <a:r>
              <a:rPr lang="en-US" dirty="0" smtClean="0"/>
              <a:t>A </a:t>
            </a:r>
            <a:r>
              <a:rPr lang="en-US" b="1" dirty="0"/>
              <a:t>real-world problem </a:t>
            </a:r>
            <a:r>
              <a:rPr lang="en-US" dirty="0"/>
              <a:t>is one whose solutions people </a:t>
            </a:r>
            <a:r>
              <a:rPr lang="en-US" dirty="0" smtClean="0"/>
              <a:t>actually care </a:t>
            </a:r>
            <a:r>
              <a:rPr lang="en-US" dirty="0"/>
              <a:t>about. </a:t>
            </a:r>
            <a:endParaRPr lang="en-US" dirty="0" smtClean="0"/>
          </a:p>
          <a:p>
            <a:pPr lvl="1">
              <a:buFont typeface="Wingdings" panose="05000000000000000000" pitchFamily="2" charset="2"/>
              <a:buChar char="§"/>
            </a:pPr>
            <a:r>
              <a:rPr lang="en-US" dirty="0" smtClean="0"/>
              <a:t>Such </a:t>
            </a:r>
            <a:r>
              <a:rPr lang="en-US" dirty="0"/>
              <a:t>problems tend not to have a single agreed-upon description, but we can </a:t>
            </a:r>
            <a:r>
              <a:rPr lang="en-US" dirty="0" smtClean="0"/>
              <a:t>give the </a:t>
            </a:r>
            <a:r>
              <a:rPr lang="en-US" dirty="0"/>
              <a:t>general flavor of their formulations.</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17</a:t>
            </a:fld>
            <a:endParaRPr lang="en-GB"/>
          </a:p>
        </p:txBody>
      </p:sp>
    </p:spTree>
    <p:extLst>
      <p:ext uri="{BB962C8B-B14F-4D97-AF65-F5344CB8AC3E}">
        <p14:creationId xmlns:p14="http://schemas.microsoft.com/office/powerpoint/2010/main" val="3368820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18</a:t>
            </a:fld>
            <a:endParaRPr lang="en-GB"/>
          </a:p>
        </p:txBody>
      </p:sp>
      <p:sp>
        <p:nvSpPr>
          <p:cNvPr id="3" name="TextBox 1"/>
          <p:cNvSpPr txBox="1">
            <a:spLocks noChangeArrowheads="1"/>
          </p:cNvSpPr>
          <p:nvPr/>
        </p:nvSpPr>
        <p:spPr bwMode="auto">
          <a:xfrm>
            <a:off x="1619250" y="188913"/>
            <a:ext cx="4968875" cy="584200"/>
          </a:xfrm>
          <a:prstGeom prst="rect">
            <a:avLst/>
          </a:prstGeom>
          <a:noFill/>
          <a:ln w="9525">
            <a:noFill/>
            <a:miter lim="800000"/>
            <a:headEnd/>
            <a:tailEnd/>
          </a:ln>
        </p:spPr>
        <p:txBody>
          <a:bodyPr>
            <a:spAutoFit/>
          </a:bodyPr>
          <a:lstStyle/>
          <a:p>
            <a:pPr algn="ctr"/>
            <a:r>
              <a:rPr lang="nn-NO" sz="3200" b="1">
                <a:latin typeface="Calibri" pitchFamily="34" charset="0"/>
              </a:rPr>
              <a:t>TOWER OF HANOI</a:t>
            </a:r>
            <a:endParaRPr lang="en-GB" sz="3200" b="1">
              <a:latin typeface="Calibri" pitchFamily="34" charset="0"/>
            </a:endParaRPr>
          </a:p>
        </p:txBody>
      </p:sp>
      <p:pic>
        <p:nvPicPr>
          <p:cNvPr id="4" name="irc_mi" descr="http://www.alper.net/wp-content/uploads/2008/03/hanoi.jpg"/>
          <p:cNvPicPr>
            <a:picLocks noChangeAspect="1" noChangeArrowheads="1"/>
          </p:cNvPicPr>
          <p:nvPr/>
        </p:nvPicPr>
        <p:blipFill>
          <a:blip r:embed="rId3" cstate="print"/>
          <a:srcRect/>
          <a:stretch>
            <a:fillRect/>
          </a:stretch>
        </p:blipFill>
        <p:spPr bwMode="auto">
          <a:xfrm>
            <a:off x="1589481" y="908720"/>
            <a:ext cx="5905500" cy="3097212"/>
          </a:xfrm>
          <a:prstGeom prst="rect">
            <a:avLst/>
          </a:prstGeom>
          <a:noFill/>
          <a:ln w="9525">
            <a:noFill/>
            <a:miter lim="800000"/>
            <a:headEnd/>
            <a:tailEnd/>
          </a:ln>
        </p:spPr>
      </p:pic>
      <p:sp>
        <p:nvSpPr>
          <p:cNvPr id="5" name="TextBox 4"/>
          <p:cNvSpPr txBox="1"/>
          <p:nvPr/>
        </p:nvSpPr>
        <p:spPr>
          <a:xfrm>
            <a:off x="683568" y="4725144"/>
            <a:ext cx="7776864" cy="892552"/>
          </a:xfrm>
          <a:prstGeom prst="rect">
            <a:avLst/>
          </a:prstGeom>
          <a:noFill/>
        </p:spPr>
        <p:txBody>
          <a:bodyPr wrap="square" rtlCol="0">
            <a:spAutoFit/>
          </a:bodyPr>
          <a:lstStyle/>
          <a:p>
            <a:r>
              <a:rPr lang="nn-NO" sz="2600" dirty="0">
                <a:latin typeface="+mn-lt"/>
              </a:rPr>
              <a:t>How do move transfer the discs in A to B such that the larger disk is always at the base of a smaller </a:t>
            </a:r>
            <a:r>
              <a:rPr lang="nn-NO" sz="2600" dirty="0" smtClean="0">
                <a:latin typeface="+mn-lt"/>
              </a:rPr>
              <a:t>one?</a:t>
            </a:r>
            <a:endParaRPr lang="en-GB" sz="2600" dirty="0">
              <a:latin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1431935"/>
            <a:ext cx="8496944" cy="4493538"/>
          </a:xfrm>
          <a:prstGeom prst="rect">
            <a:avLst/>
          </a:prstGeom>
          <a:noFill/>
        </p:spPr>
        <p:txBody>
          <a:bodyPr wrap="square" rtlCol="0">
            <a:spAutoFit/>
          </a:bodyPr>
          <a:lstStyle/>
          <a:p>
            <a:r>
              <a:rPr lang="nn-NO" sz="2600" b="1" dirty="0">
                <a:latin typeface="+mn-lt"/>
              </a:rPr>
              <a:t>Missionary and Cannibal Problem: </a:t>
            </a:r>
            <a:endParaRPr lang="nn-NO" sz="2600" b="1" dirty="0" smtClean="0">
              <a:latin typeface="+mn-lt"/>
            </a:endParaRPr>
          </a:p>
          <a:p>
            <a:endParaRPr lang="nn-NO" sz="2600" b="1" dirty="0">
              <a:latin typeface="+mn-lt"/>
            </a:endParaRPr>
          </a:p>
          <a:p>
            <a:r>
              <a:rPr lang="nn-NO" sz="2600" dirty="0" smtClean="0">
                <a:latin typeface="+mn-lt"/>
              </a:rPr>
              <a:t>There </a:t>
            </a:r>
            <a:r>
              <a:rPr lang="nn-NO" sz="2600" dirty="0">
                <a:latin typeface="+mn-lt"/>
              </a:rPr>
              <a:t>are 3 Missionaries and 3 Cannibals by the river side. The boat can only carry 2 persons at a time. If the number of Cannibals is more than that of Missionaries at any time in the Journey, the Cannibals will overpower the missionary and eat them. </a:t>
            </a:r>
            <a:endParaRPr lang="nn-NO" sz="2600" dirty="0" smtClean="0">
              <a:latin typeface="+mn-lt"/>
            </a:endParaRPr>
          </a:p>
          <a:p>
            <a:endParaRPr lang="nn-NO" sz="2600" dirty="0">
              <a:latin typeface="+mn-lt"/>
            </a:endParaRPr>
          </a:p>
          <a:p>
            <a:r>
              <a:rPr lang="nn-NO" sz="2600" dirty="0" smtClean="0">
                <a:latin typeface="+mn-lt"/>
              </a:rPr>
              <a:t>How </a:t>
            </a:r>
            <a:r>
              <a:rPr lang="nn-NO" sz="2600" dirty="0">
                <a:latin typeface="+mn-lt"/>
              </a:rPr>
              <a:t>do you devise a transport protocol to have both Missionaries and Cannibals on the other side of the river?</a:t>
            </a:r>
            <a:endParaRPr lang="en-GB" sz="2600" dirty="0">
              <a:latin typeface="+mn-lt"/>
            </a:endParaRPr>
          </a:p>
          <a:p>
            <a:endParaRPr lang="en-GB" sz="2600" b="1" dirty="0">
              <a:latin typeface="+mn-lt"/>
            </a:endParaRPr>
          </a:p>
        </p:txBody>
      </p:sp>
      <p:sp>
        <p:nvSpPr>
          <p:cNvPr id="3" name="Slide Number Placeholder 2"/>
          <p:cNvSpPr>
            <a:spLocks noGrp="1"/>
          </p:cNvSpPr>
          <p:nvPr>
            <p:ph type="sldNum" sz="quarter" idx="12"/>
          </p:nvPr>
        </p:nvSpPr>
        <p:spPr/>
        <p:txBody>
          <a:bodyPr/>
          <a:lstStyle/>
          <a:p>
            <a:pPr>
              <a:defRPr/>
            </a:pPr>
            <a:fld id="{B15F4DED-9D0E-4FE2-8D45-C43843DD21EA}" type="slidenum">
              <a:rPr lang="en-GB" smtClean="0"/>
              <a:pPr>
                <a:defRPr/>
              </a:pPr>
              <a:t>19</a:t>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1347152"/>
            <a:ext cx="8208912" cy="2769989"/>
          </a:xfrm>
          <a:prstGeom prst="rect">
            <a:avLst/>
          </a:prstGeom>
          <a:noFill/>
        </p:spPr>
        <p:txBody>
          <a:bodyPr wrap="square" rtlCol="0">
            <a:spAutoFit/>
          </a:bodyPr>
          <a:lstStyle/>
          <a:p>
            <a:pPr algn="just"/>
            <a:r>
              <a:rPr lang="en-GB" sz="2600" b="1" dirty="0">
                <a:latin typeface="+mn-lt"/>
              </a:rPr>
              <a:t>Water Jug Problem</a:t>
            </a:r>
            <a:r>
              <a:rPr lang="en-GB" sz="2600" dirty="0">
                <a:latin typeface="+mn-lt"/>
              </a:rPr>
              <a:t>: </a:t>
            </a:r>
            <a:endParaRPr lang="en-GB" sz="2600" dirty="0" smtClean="0">
              <a:latin typeface="+mn-lt"/>
            </a:endParaRPr>
          </a:p>
          <a:p>
            <a:pPr algn="just"/>
            <a:endParaRPr lang="en-GB" sz="2600" dirty="0">
              <a:latin typeface="+mn-lt"/>
            </a:endParaRPr>
          </a:p>
          <a:p>
            <a:pPr algn="just"/>
            <a:r>
              <a:rPr lang="en-GB" sz="2600" dirty="0" smtClean="0">
                <a:latin typeface="+mn-lt"/>
              </a:rPr>
              <a:t>You </a:t>
            </a:r>
            <a:r>
              <a:rPr lang="en-GB" sz="2600" dirty="0">
                <a:latin typeface="+mn-lt"/>
              </a:rPr>
              <a:t>are given two jugs, a 4-gallon one and a 3-gallon one. Neither has any measuring made on it. There is a pump that can be used to fill the jugs with water. How can you get exactly 2 gallons of water into the 4- gallon jug? </a:t>
            </a:r>
          </a:p>
          <a:p>
            <a:endParaRPr lang="en-GB" dirty="0"/>
          </a:p>
        </p:txBody>
      </p:sp>
      <p:sp>
        <p:nvSpPr>
          <p:cNvPr id="3" name="Slide Number Placeholder 2"/>
          <p:cNvSpPr>
            <a:spLocks noGrp="1"/>
          </p:cNvSpPr>
          <p:nvPr>
            <p:ph type="sldNum" sz="quarter" idx="12"/>
          </p:nvPr>
        </p:nvSpPr>
        <p:spPr/>
        <p:txBody>
          <a:bodyPr/>
          <a:lstStyle/>
          <a:p>
            <a:pPr>
              <a:defRPr/>
            </a:pPr>
            <a:fld id="{B15F4DED-9D0E-4FE2-8D45-C43843DD21EA}" type="slidenum">
              <a:rPr lang="en-GB" smtClean="0"/>
              <a:pPr>
                <a:defRPr/>
              </a:pPr>
              <a:t>20</a:t>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21</a:t>
            </a:fld>
            <a:endParaRPr lang="en-GB"/>
          </a:p>
        </p:txBody>
      </p:sp>
      <p:sp>
        <p:nvSpPr>
          <p:cNvPr id="3" name="TextBox 2"/>
          <p:cNvSpPr txBox="1"/>
          <p:nvPr/>
        </p:nvSpPr>
        <p:spPr>
          <a:xfrm>
            <a:off x="251520" y="1512074"/>
            <a:ext cx="8640960" cy="2492990"/>
          </a:xfrm>
          <a:prstGeom prst="rect">
            <a:avLst/>
          </a:prstGeom>
          <a:noFill/>
        </p:spPr>
        <p:txBody>
          <a:bodyPr wrap="square" rtlCol="0">
            <a:spAutoFit/>
          </a:bodyPr>
          <a:lstStyle/>
          <a:p>
            <a:r>
              <a:rPr lang="en-GB" sz="2600" b="1" dirty="0">
                <a:latin typeface="+mn-lt"/>
              </a:rPr>
              <a:t>State Spaces for Water Jug Problem</a:t>
            </a:r>
          </a:p>
          <a:p>
            <a:r>
              <a:rPr lang="en-GB" sz="2600" dirty="0">
                <a:latin typeface="+mn-lt"/>
              </a:rPr>
              <a:t>• A state: (x, y)</a:t>
            </a:r>
          </a:p>
          <a:p>
            <a:r>
              <a:rPr lang="en-GB" sz="2600" dirty="0">
                <a:latin typeface="+mn-lt"/>
              </a:rPr>
              <a:t>x = 0, 1, 2, 3, or 4		 y = 0, 1, 2, or 3.</a:t>
            </a:r>
          </a:p>
          <a:p>
            <a:r>
              <a:rPr lang="en-GB" sz="2600" dirty="0">
                <a:latin typeface="+mn-lt"/>
              </a:rPr>
              <a:t>• Start state: (0, 0).</a:t>
            </a:r>
          </a:p>
          <a:p>
            <a:r>
              <a:rPr lang="en-GB" sz="2600" dirty="0">
                <a:latin typeface="+mn-lt"/>
              </a:rPr>
              <a:t>• Goal state: (2, n) for any n, n = 0, 1, 2, 3.</a:t>
            </a:r>
          </a:p>
          <a:p>
            <a:r>
              <a:rPr lang="en-GB" sz="2600" dirty="0">
                <a:latin typeface="+mn-lt"/>
              </a:rPr>
              <a:t>• Attempting to end up in a goal state by using rules.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22</a:t>
            </a:fld>
            <a:endParaRPr lang="en-GB"/>
          </a:p>
        </p:txBody>
      </p:sp>
      <p:pic>
        <p:nvPicPr>
          <p:cNvPr id="2050" name="Picture 2"/>
          <p:cNvPicPr>
            <a:picLocks noChangeAspect="1" noChangeArrowheads="1"/>
          </p:cNvPicPr>
          <p:nvPr/>
        </p:nvPicPr>
        <p:blipFill>
          <a:blip r:embed="rId3" cstate="print"/>
          <a:srcRect/>
          <a:stretch>
            <a:fillRect/>
          </a:stretch>
        </p:blipFill>
        <p:spPr bwMode="auto">
          <a:xfrm>
            <a:off x="1115616" y="260648"/>
            <a:ext cx="5616624" cy="3028950"/>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1187624" y="3421732"/>
            <a:ext cx="5616624" cy="20955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23</a:t>
            </a:fld>
            <a:endParaRPr lang="en-GB"/>
          </a:p>
        </p:txBody>
      </p:sp>
      <p:sp>
        <p:nvSpPr>
          <p:cNvPr id="3" name="TextBox 2"/>
          <p:cNvSpPr txBox="1"/>
          <p:nvPr/>
        </p:nvSpPr>
        <p:spPr>
          <a:xfrm>
            <a:off x="251520" y="26328"/>
            <a:ext cx="5184576" cy="6494085"/>
          </a:xfrm>
          <a:prstGeom prst="rect">
            <a:avLst/>
          </a:prstGeom>
          <a:noFill/>
        </p:spPr>
        <p:txBody>
          <a:bodyPr wrap="square" rtlCol="0">
            <a:spAutoFit/>
          </a:bodyPr>
          <a:lstStyle/>
          <a:p>
            <a:r>
              <a:rPr lang="nn-NO" sz="2600" b="1" dirty="0">
                <a:latin typeface="+mn-lt"/>
              </a:rPr>
              <a:t>Transition </a:t>
            </a:r>
            <a:r>
              <a:rPr lang="nn-NO" sz="2600" b="1" dirty="0" smtClean="0">
                <a:latin typeface="+mn-lt"/>
              </a:rPr>
              <a:t>Rules</a:t>
            </a:r>
          </a:p>
          <a:p>
            <a:endParaRPr lang="en-GB" sz="2600" b="1" dirty="0">
              <a:latin typeface="+mn-lt"/>
            </a:endParaRPr>
          </a:p>
          <a:p>
            <a:r>
              <a:rPr lang="en-GB" sz="2600" dirty="0">
                <a:latin typeface="+mn-lt"/>
              </a:rPr>
              <a:t>1. current state = (0, 0)</a:t>
            </a:r>
          </a:p>
          <a:p>
            <a:r>
              <a:rPr lang="en-GB" sz="2600" dirty="0">
                <a:latin typeface="+mn-lt"/>
              </a:rPr>
              <a:t>2. Loop until reaching the goal state (2, 0)</a:t>
            </a:r>
          </a:p>
          <a:p>
            <a:r>
              <a:rPr lang="en-GB" sz="2600" dirty="0">
                <a:latin typeface="+mn-lt"/>
              </a:rPr>
              <a:t>– Apply a rule whose left side matches the current state</a:t>
            </a:r>
          </a:p>
          <a:p>
            <a:r>
              <a:rPr lang="en-GB" sz="2600" dirty="0">
                <a:latin typeface="+mn-lt"/>
              </a:rPr>
              <a:t>– Set the new current state to be the resulting state</a:t>
            </a:r>
          </a:p>
          <a:p>
            <a:r>
              <a:rPr lang="en-GB" sz="2600" dirty="0">
                <a:latin typeface="+mn-lt"/>
              </a:rPr>
              <a:t>(0 0) 				2nd rule</a:t>
            </a:r>
          </a:p>
          <a:p>
            <a:r>
              <a:rPr lang="en-GB" sz="2600" dirty="0">
                <a:latin typeface="+mn-lt"/>
              </a:rPr>
              <a:t>(0 3) 				7th rule</a:t>
            </a:r>
          </a:p>
          <a:p>
            <a:r>
              <a:rPr lang="en-GB" sz="2600" dirty="0">
                <a:latin typeface="+mn-lt"/>
              </a:rPr>
              <a:t>(3 0) 				2nd rule</a:t>
            </a:r>
          </a:p>
          <a:p>
            <a:r>
              <a:rPr lang="en-GB" sz="2600" dirty="0">
                <a:latin typeface="+mn-lt"/>
              </a:rPr>
              <a:t>(3 3) 				7th rule</a:t>
            </a:r>
          </a:p>
          <a:p>
            <a:r>
              <a:rPr lang="en-GB" sz="2600" dirty="0">
                <a:latin typeface="+mn-lt"/>
              </a:rPr>
              <a:t>(4 2) 				3rd rule</a:t>
            </a:r>
          </a:p>
          <a:p>
            <a:r>
              <a:rPr lang="en-GB" sz="2600" dirty="0">
                <a:latin typeface="+mn-lt"/>
              </a:rPr>
              <a:t>(0 2) 				7th rule</a:t>
            </a:r>
          </a:p>
          <a:p>
            <a:r>
              <a:rPr lang="en-GB" sz="2600" dirty="0">
                <a:latin typeface="+mn-lt"/>
              </a:rPr>
              <a:t>(2 0)</a:t>
            </a:r>
          </a:p>
        </p:txBody>
      </p:sp>
      <p:pic>
        <p:nvPicPr>
          <p:cNvPr id="4" name="Picture 3"/>
          <p:cNvPicPr>
            <a:picLocks noChangeAspect="1"/>
          </p:cNvPicPr>
          <p:nvPr/>
        </p:nvPicPr>
        <p:blipFill rotWithShape="1">
          <a:blip r:embed="rId3"/>
          <a:srcRect l="28352" t="33056" r="55552" b="41354"/>
          <a:stretch/>
        </p:blipFill>
        <p:spPr>
          <a:xfrm>
            <a:off x="5833050" y="2924944"/>
            <a:ext cx="3025200" cy="353204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24</a:t>
            </a:fld>
            <a:endParaRPr lang="en-GB"/>
          </a:p>
        </p:txBody>
      </p:sp>
      <p:sp>
        <p:nvSpPr>
          <p:cNvPr id="3" name="TextBox 2"/>
          <p:cNvSpPr txBox="1"/>
          <p:nvPr/>
        </p:nvSpPr>
        <p:spPr>
          <a:xfrm>
            <a:off x="251520" y="1196752"/>
            <a:ext cx="8352928" cy="4093428"/>
          </a:xfrm>
          <a:prstGeom prst="rect">
            <a:avLst/>
          </a:prstGeom>
          <a:noFill/>
        </p:spPr>
        <p:txBody>
          <a:bodyPr wrap="square" rtlCol="0">
            <a:spAutoFit/>
          </a:bodyPr>
          <a:lstStyle/>
          <a:p>
            <a:r>
              <a:rPr lang="en-GB" sz="2600" b="1" dirty="0">
                <a:latin typeface="+mn-lt"/>
              </a:rPr>
              <a:t>Water Jug </a:t>
            </a:r>
            <a:r>
              <a:rPr lang="en-GB" sz="2600" b="1" dirty="0" smtClean="0">
                <a:latin typeface="+mn-lt"/>
              </a:rPr>
              <a:t>Problem</a:t>
            </a:r>
          </a:p>
          <a:p>
            <a:endParaRPr lang="en-US" sz="2600" b="1" dirty="0">
              <a:latin typeface="+mn-lt"/>
            </a:endParaRPr>
          </a:p>
          <a:p>
            <a:endParaRPr lang="en-GB" sz="2600" b="1" dirty="0">
              <a:latin typeface="+mn-lt"/>
            </a:endParaRPr>
          </a:p>
          <a:p>
            <a:r>
              <a:rPr lang="en-GB" sz="2600" dirty="0">
                <a:latin typeface="+mn-lt"/>
              </a:rPr>
              <a:t>– The role of the condition in the left side of a rule  restrict the application of the rule  more efficient</a:t>
            </a:r>
          </a:p>
          <a:p>
            <a:endParaRPr lang="en-GB" sz="2600" dirty="0">
              <a:latin typeface="+mn-lt"/>
            </a:endParaRPr>
          </a:p>
          <a:p>
            <a:r>
              <a:rPr lang="en-GB" sz="2600" dirty="0">
                <a:latin typeface="+mn-lt"/>
              </a:rPr>
              <a:t>– Special-purpose rules to capture special-case knowledge that can be used at some stage in solving a problem</a:t>
            </a:r>
          </a:p>
          <a:p>
            <a:r>
              <a:rPr lang="es-ES" sz="2600" dirty="0">
                <a:latin typeface="+mn-lt"/>
              </a:rPr>
              <a:t>• (x, y) &amp; x &lt; 4  	→(4, y)</a:t>
            </a:r>
          </a:p>
          <a:p>
            <a:r>
              <a:rPr lang="es-ES" sz="2600" dirty="0">
                <a:latin typeface="+mn-lt"/>
              </a:rPr>
              <a:t>• (x, y) &amp; x &gt; 0  	→(0, y)</a:t>
            </a:r>
            <a:endParaRPr lang="en-GB" sz="2600" dirty="0">
              <a:latin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25</a:t>
            </a:fld>
            <a:endParaRPr lang="en-GB"/>
          </a:p>
        </p:txBody>
      </p:sp>
      <p:sp>
        <p:nvSpPr>
          <p:cNvPr id="3" name="TextBox 2"/>
          <p:cNvSpPr txBox="1"/>
          <p:nvPr/>
        </p:nvSpPr>
        <p:spPr>
          <a:xfrm>
            <a:off x="236722" y="620688"/>
            <a:ext cx="8640960" cy="5293757"/>
          </a:xfrm>
          <a:prstGeom prst="rect">
            <a:avLst/>
          </a:prstGeom>
          <a:noFill/>
        </p:spPr>
        <p:txBody>
          <a:bodyPr wrap="square" rtlCol="0">
            <a:spAutoFit/>
          </a:bodyPr>
          <a:lstStyle/>
          <a:p>
            <a:pPr algn="just"/>
            <a:r>
              <a:rPr lang="en-GB" sz="2600" b="1" dirty="0">
                <a:latin typeface="+mn-lt"/>
              </a:rPr>
              <a:t>To provide a formal description of a problem</a:t>
            </a:r>
            <a:r>
              <a:rPr lang="en-GB" sz="2600" dirty="0" smtClean="0">
                <a:latin typeface="+mn-lt"/>
              </a:rPr>
              <a:t>:</a:t>
            </a:r>
          </a:p>
          <a:p>
            <a:pPr algn="just"/>
            <a:endParaRPr lang="en-GB" sz="2600" dirty="0">
              <a:latin typeface="+mn-lt"/>
            </a:endParaRPr>
          </a:p>
          <a:p>
            <a:pPr algn="just"/>
            <a:r>
              <a:rPr lang="en-GB" sz="2600" dirty="0">
                <a:latin typeface="+mn-lt"/>
              </a:rPr>
              <a:t>– Define a state space that contains all the possible configurations of the relevant objects.</a:t>
            </a:r>
          </a:p>
          <a:p>
            <a:pPr algn="just"/>
            <a:r>
              <a:rPr lang="en-GB" sz="2600" dirty="0">
                <a:latin typeface="+mn-lt"/>
              </a:rPr>
              <a:t>– Specify the initial states.</a:t>
            </a:r>
          </a:p>
          <a:p>
            <a:pPr algn="just"/>
            <a:r>
              <a:rPr lang="en-GB" sz="2600" dirty="0">
                <a:latin typeface="+mn-lt"/>
              </a:rPr>
              <a:t>– Specify the goal states.</a:t>
            </a:r>
          </a:p>
          <a:p>
            <a:pPr algn="just"/>
            <a:r>
              <a:rPr lang="en-GB" sz="2600" dirty="0">
                <a:latin typeface="+mn-lt"/>
              </a:rPr>
              <a:t>– Specify a set of rules:</a:t>
            </a:r>
          </a:p>
          <a:p>
            <a:pPr algn="just"/>
            <a:endParaRPr lang="en-GB" sz="2600" dirty="0">
              <a:latin typeface="+mn-lt"/>
            </a:endParaRPr>
          </a:p>
          <a:p>
            <a:pPr algn="just"/>
            <a:r>
              <a:rPr lang="en-GB" sz="2600" dirty="0">
                <a:latin typeface="+mn-lt"/>
              </a:rPr>
              <a:t>• What are unstated assumptions?</a:t>
            </a:r>
          </a:p>
          <a:p>
            <a:pPr algn="just"/>
            <a:r>
              <a:rPr lang="en-GB" sz="2600" dirty="0">
                <a:latin typeface="+mn-lt"/>
              </a:rPr>
              <a:t>• How general should the rules be?</a:t>
            </a:r>
          </a:p>
          <a:p>
            <a:pPr algn="just"/>
            <a:r>
              <a:rPr lang="en-GB" sz="2600" dirty="0">
                <a:latin typeface="+mn-lt"/>
              </a:rPr>
              <a:t>• How much knowledge for solutions should be in the rules?</a:t>
            </a:r>
          </a:p>
          <a:p>
            <a:pPr algn="just"/>
            <a:r>
              <a:rPr lang="en-GB" sz="2600" dirty="0">
                <a:latin typeface="+mn-lt"/>
              </a:rPr>
              <a:t>Solving a problem = search in the state space by using</a:t>
            </a:r>
          </a:p>
          <a:p>
            <a:pPr algn="just"/>
            <a:r>
              <a:rPr lang="en-GB" sz="2600" dirty="0">
                <a:latin typeface="+mn-lt"/>
              </a:rPr>
              <a:t>the rules + control strategy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26</a:t>
            </a:fld>
            <a:endParaRPr lang="en-GB"/>
          </a:p>
        </p:txBody>
      </p:sp>
      <p:sp>
        <p:nvSpPr>
          <p:cNvPr id="3" name="TextBox 2"/>
          <p:cNvSpPr txBox="1"/>
          <p:nvPr/>
        </p:nvSpPr>
        <p:spPr>
          <a:xfrm>
            <a:off x="179512" y="1327988"/>
            <a:ext cx="8568952" cy="3693319"/>
          </a:xfrm>
          <a:prstGeom prst="rect">
            <a:avLst/>
          </a:prstGeom>
          <a:noFill/>
        </p:spPr>
        <p:txBody>
          <a:bodyPr wrap="square" rtlCol="0">
            <a:spAutoFit/>
          </a:bodyPr>
          <a:lstStyle/>
          <a:p>
            <a:r>
              <a:rPr lang="en-GB" sz="2600" b="1" dirty="0">
                <a:latin typeface="+mn-lt"/>
              </a:rPr>
              <a:t>Requirements of a good search strategy</a:t>
            </a:r>
            <a:r>
              <a:rPr lang="en-GB" sz="2600" b="1" dirty="0" smtClean="0">
                <a:latin typeface="+mn-lt"/>
              </a:rPr>
              <a:t>:</a:t>
            </a:r>
          </a:p>
          <a:p>
            <a:endParaRPr lang="en-US" sz="2600" b="1" dirty="0">
              <a:latin typeface="+mn-lt"/>
            </a:endParaRPr>
          </a:p>
          <a:p>
            <a:endParaRPr lang="en-GB" sz="2600" b="1" dirty="0">
              <a:latin typeface="+mn-lt"/>
            </a:endParaRPr>
          </a:p>
          <a:p>
            <a:r>
              <a:rPr lang="en-GB" sz="2600" dirty="0">
                <a:latin typeface="+mn-lt"/>
              </a:rPr>
              <a:t>– It causes motion.</a:t>
            </a:r>
          </a:p>
          <a:p>
            <a:r>
              <a:rPr lang="en-GB" sz="2600" dirty="0">
                <a:latin typeface="+mn-lt"/>
              </a:rPr>
              <a:t>• Otherwise, it will never lead to a solution.</a:t>
            </a:r>
          </a:p>
          <a:p>
            <a:r>
              <a:rPr lang="en-GB" sz="2600" dirty="0">
                <a:latin typeface="+mn-lt"/>
              </a:rPr>
              <a:t>– It is systematic.</a:t>
            </a:r>
          </a:p>
          <a:p>
            <a:r>
              <a:rPr lang="en-GB" sz="2600" dirty="0">
                <a:latin typeface="+mn-lt"/>
              </a:rPr>
              <a:t>• Otherwise, it may use more steps than necessary.</a:t>
            </a:r>
          </a:p>
          <a:p>
            <a:r>
              <a:rPr lang="en-GB" sz="2600" dirty="0">
                <a:latin typeface="+mn-lt"/>
              </a:rPr>
              <a:t>– It is efficient.</a:t>
            </a:r>
          </a:p>
          <a:p>
            <a:r>
              <a:rPr lang="en-GB" sz="2600" dirty="0">
                <a:latin typeface="+mn-lt"/>
              </a:rPr>
              <a:t>• Find a good, but not necessarily the best, answer.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Problem Types</a:t>
            </a:r>
          </a:p>
        </p:txBody>
      </p:sp>
      <p:sp>
        <p:nvSpPr>
          <p:cNvPr id="4" name="Content Placeholder 3"/>
          <p:cNvSpPr>
            <a:spLocks noGrp="1"/>
          </p:cNvSpPr>
          <p:nvPr>
            <p:ph idx="1"/>
          </p:nvPr>
        </p:nvSpPr>
        <p:spPr>
          <a:xfrm>
            <a:off x="611560" y="1844824"/>
            <a:ext cx="8246690" cy="4464536"/>
          </a:xfrm>
        </p:spPr>
        <p:txBody>
          <a:bodyPr/>
          <a:lstStyle/>
          <a:p>
            <a:r>
              <a:rPr lang="en-US" sz="2200" b="1" dirty="0"/>
              <a:t>State Finding vs. Action Sequence Finding</a:t>
            </a:r>
          </a:p>
          <a:p>
            <a:endParaRPr lang="en-GB" dirty="0"/>
          </a:p>
        </p:txBody>
      </p:sp>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27</a:t>
            </a:fld>
            <a:endParaRPr lang="en-GB"/>
          </a:p>
        </p:txBody>
      </p:sp>
      <p:pic>
        <p:nvPicPr>
          <p:cNvPr id="5" name="Picture 4"/>
          <p:cNvPicPr>
            <a:picLocks noChangeAspect="1"/>
          </p:cNvPicPr>
          <p:nvPr/>
        </p:nvPicPr>
        <p:blipFill rotWithShape="1">
          <a:blip r:embed="rId2"/>
          <a:srcRect l="20862" t="45319" r="22044" b="16335"/>
          <a:stretch/>
        </p:blipFill>
        <p:spPr>
          <a:xfrm>
            <a:off x="611560" y="2246176"/>
            <a:ext cx="8246690" cy="4205573"/>
          </a:xfrm>
          <a:prstGeom prst="rect">
            <a:avLst/>
          </a:prstGeom>
        </p:spPr>
      </p:pic>
    </p:spTree>
    <p:extLst>
      <p:ext uri="{BB962C8B-B14F-4D97-AF65-F5344CB8AC3E}">
        <p14:creationId xmlns:p14="http://schemas.microsoft.com/office/powerpoint/2010/main" val="324608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1196752"/>
            <a:ext cx="7290055" cy="5112608"/>
          </a:xfrm>
        </p:spPr>
        <p:txBody>
          <a:bodyPr/>
          <a:lstStyle/>
          <a:p>
            <a:r>
              <a:rPr lang="en-GB" sz="2200" b="1" dirty="0"/>
              <a:t>Offline vs. Online Problems</a:t>
            </a:r>
          </a:p>
          <a:p>
            <a:r>
              <a:rPr lang="en-US" dirty="0"/>
              <a:t>In an online problem, the agent doesn’t even know what the state space is, and has to build a model of it as it acts. In an offline problem, percepts don’t matter at all. </a:t>
            </a:r>
            <a:r>
              <a:rPr lang="en-US" b="1" dirty="0"/>
              <a:t>An agent can figure out the entire action sequence before doing anything at all</a:t>
            </a:r>
            <a:r>
              <a:rPr lang="en-US" dirty="0"/>
              <a:t>.</a:t>
            </a:r>
          </a:p>
          <a:p>
            <a:r>
              <a:rPr lang="en-US" b="1" dirty="0"/>
              <a:t>Offline Example</a:t>
            </a:r>
            <a:r>
              <a:rPr lang="en-US" dirty="0"/>
              <a:t>: Vacuum World with two rooms, cleaning always works, a square once cleaned stays clean. States are 1 – 8, goal states are 1 and 5.</a:t>
            </a:r>
          </a:p>
          <a:p>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28</a:t>
            </a:fld>
            <a:endParaRPr lang="en-GB"/>
          </a:p>
        </p:txBody>
      </p:sp>
      <p:pic>
        <p:nvPicPr>
          <p:cNvPr id="6" name="Picture 2" descr="vacuumsta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925778"/>
            <a:ext cx="3001144" cy="3018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367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815" y="1163483"/>
            <a:ext cx="4235951" cy="4023360"/>
          </a:xfrm>
        </p:spPr>
        <p:txBody>
          <a:bodyPr/>
          <a:lstStyle/>
          <a:p>
            <a:r>
              <a:rPr lang="en-GB" sz="2200" b="1" dirty="0" err="1" smtClean="0"/>
              <a:t>Sensorless</a:t>
            </a:r>
            <a:r>
              <a:rPr lang="en-GB" sz="2200" b="1" dirty="0" smtClean="0"/>
              <a:t> (Conformant) Problems</a:t>
            </a:r>
          </a:p>
          <a:p>
            <a:r>
              <a:rPr lang="en-US" dirty="0" smtClean="0"/>
              <a:t>The agent doesn’t know where it is. We can use </a:t>
            </a:r>
            <a:r>
              <a:rPr lang="en-US" i="1" dirty="0" smtClean="0"/>
              <a:t>belief states</a:t>
            </a:r>
            <a:r>
              <a:rPr lang="en-US" dirty="0" smtClean="0"/>
              <a:t> (sets of states that the agent might be in). </a:t>
            </a:r>
          </a:p>
          <a:p>
            <a:r>
              <a:rPr lang="en-US" dirty="0" smtClean="0"/>
              <a:t>Example from above deterministic, static, single-agent vacuum world:</a:t>
            </a:r>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29</a:t>
            </a:fld>
            <a:endParaRPr lang="en-GB"/>
          </a:p>
        </p:txBody>
      </p:sp>
      <p:pic>
        <p:nvPicPr>
          <p:cNvPr id="5" name="Picture 4"/>
          <p:cNvPicPr>
            <a:picLocks noChangeAspect="1"/>
          </p:cNvPicPr>
          <p:nvPr/>
        </p:nvPicPr>
        <p:blipFill rotWithShape="1">
          <a:blip r:embed="rId2"/>
          <a:srcRect l="20862" t="16400" r="62206" b="33200"/>
          <a:stretch/>
        </p:blipFill>
        <p:spPr>
          <a:xfrm>
            <a:off x="5566824" y="1163483"/>
            <a:ext cx="2749592" cy="4603968"/>
          </a:xfrm>
          <a:prstGeom prst="rect">
            <a:avLst/>
          </a:prstGeom>
        </p:spPr>
      </p:pic>
      <p:sp>
        <p:nvSpPr>
          <p:cNvPr id="6" name="Rectangle 5"/>
          <p:cNvSpPr/>
          <p:nvPr/>
        </p:nvSpPr>
        <p:spPr>
          <a:xfrm>
            <a:off x="3486150" y="5861142"/>
            <a:ext cx="4572000" cy="646331"/>
          </a:xfrm>
          <a:prstGeom prst="rect">
            <a:avLst/>
          </a:prstGeom>
        </p:spPr>
        <p:txBody>
          <a:bodyPr>
            <a:spAutoFit/>
          </a:bodyPr>
          <a:lstStyle/>
          <a:p>
            <a:r>
              <a:rPr lang="en-US" dirty="0">
                <a:solidFill>
                  <a:srgbClr val="000000"/>
                </a:solidFill>
                <a:latin typeface="Roboto"/>
              </a:rPr>
              <a:t>Note the goal states are 1 and 5. If a state 15 was reachable, it would be a goal too.</a:t>
            </a:r>
            <a:endParaRPr lang="en-GB" dirty="0"/>
          </a:p>
        </p:txBody>
      </p:sp>
    </p:spTree>
    <p:extLst>
      <p:ext uri="{BB962C8B-B14F-4D97-AF65-F5344CB8AC3E}">
        <p14:creationId xmlns:p14="http://schemas.microsoft.com/office/powerpoint/2010/main" val="1967964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1268760"/>
            <a:ext cx="7290055" cy="5040600"/>
          </a:xfrm>
        </p:spPr>
        <p:txBody>
          <a:bodyPr>
            <a:normAutofit/>
          </a:bodyPr>
          <a:lstStyle/>
          <a:p>
            <a:r>
              <a:rPr lang="en-US" sz="2200" b="1" dirty="0"/>
              <a:t>Contingency </a:t>
            </a:r>
            <a:r>
              <a:rPr lang="en-US" sz="2200" b="1" dirty="0" smtClean="0"/>
              <a:t>Problems</a:t>
            </a:r>
            <a:endParaRPr lang="en-US" sz="2200" b="1" dirty="0"/>
          </a:p>
          <a:p>
            <a:r>
              <a:rPr lang="en-US" dirty="0"/>
              <a:t>Contingency Problem: The agent doesn’t know what effect its actions will have. This could be due to the environment being partially observable, or because of another agent. </a:t>
            </a:r>
            <a:r>
              <a:rPr lang="en-US" dirty="0" smtClean="0"/>
              <a:t>Ways </a:t>
            </a:r>
            <a:r>
              <a:rPr lang="en-US" dirty="0"/>
              <a:t>to handle this:</a:t>
            </a:r>
          </a:p>
          <a:p>
            <a:pPr lvl="1">
              <a:buFont typeface="Wingdings" panose="05000000000000000000" pitchFamily="2" charset="2"/>
              <a:buChar char="§"/>
            </a:pPr>
            <a:r>
              <a:rPr lang="en-US" sz="1800" dirty="0" smtClean="0"/>
              <a:t>Solution </a:t>
            </a:r>
            <a:r>
              <a:rPr lang="en-US" sz="1800" dirty="0"/>
              <a:t>is a list of conditional actions</a:t>
            </a:r>
          </a:p>
          <a:p>
            <a:pPr lvl="1">
              <a:buFont typeface="Wingdings" panose="05000000000000000000" pitchFamily="2" charset="2"/>
              <a:buChar char="§"/>
            </a:pPr>
            <a:r>
              <a:rPr lang="en-US" sz="1800" dirty="0"/>
              <a:t>Interleave search and execution</a:t>
            </a:r>
          </a:p>
          <a:p>
            <a:r>
              <a:rPr lang="en-US" dirty="0"/>
              <a:t>Example: Partially observable vacuum world (meaning you don’t know the status of the other square) in which sucking in a clean square may make it dirty.</a:t>
            </a:r>
          </a:p>
          <a:p>
            <a:endParaRPr lang="en-US" dirty="0"/>
          </a:p>
          <a:p>
            <a:pPr lvl="1">
              <a:buFont typeface="Wingdings" panose="05000000000000000000" pitchFamily="2" charset="2"/>
              <a:buChar char="§"/>
            </a:pPr>
            <a:r>
              <a:rPr lang="en-US" sz="1800" dirty="0"/>
              <a:t>No way to preplan a solution!!</a:t>
            </a:r>
          </a:p>
          <a:p>
            <a:pPr lvl="1">
              <a:buFont typeface="Wingdings" panose="05000000000000000000" pitchFamily="2" charset="2"/>
              <a:buChar char="§"/>
            </a:pPr>
            <a:r>
              <a:rPr lang="en-US" sz="1800" dirty="0"/>
              <a:t>A solution starting in a state where you’re in the left room and it’s dirty is:</a:t>
            </a:r>
          </a:p>
          <a:p>
            <a:pPr marL="128016" lvl="1" indent="0">
              <a:buNone/>
            </a:pPr>
            <a:r>
              <a:rPr lang="en-US" sz="1800" dirty="0"/>
              <a:t>    Suck,      Right,        if dirty then Suck</a:t>
            </a:r>
            <a:endParaRPr lang="en-GB" sz="1800"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30</a:t>
            </a:fld>
            <a:endParaRPr lang="en-GB"/>
          </a:p>
        </p:txBody>
      </p:sp>
    </p:spTree>
    <p:extLst>
      <p:ext uri="{BB962C8B-B14F-4D97-AF65-F5344CB8AC3E}">
        <p14:creationId xmlns:p14="http://schemas.microsoft.com/office/powerpoint/2010/main" val="723903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1196752"/>
            <a:ext cx="8090153" cy="5112608"/>
          </a:xfrm>
        </p:spPr>
        <p:txBody>
          <a:bodyPr>
            <a:normAutofit fontScale="85000" lnSpcReduction="20000"/>
          </a:bodyPr>
          <a:lstStyle/>
          <a:p>
            <a:r>
              <a:rPr lang="en-US" dirty="0"/>
              <a:t>Can also model contingency problems is with "AND-OR graphs".</a:t>
            </a:r>
          </a:p>
          <a:p>
            <a:r>
              <a:rPr lang="en-US" dirty="0"/>
              <a:t>Example: find a winning strategy for </a:t>
            </a:r>
            <a:r>
              <a:rPr lang="en-US" dirty="0" err="1"/>
              <a:t>Nim</a:t>
            </a:r>
            <a:r>
              <a:rPr lang="en-US" dirty="0"/>
              <a:t> if there are only five stones in one row left. You are player square. You win if it is player circle’s turn with zero stones left</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a:t>In general then, a solution is a subtree in which</a:t>
            </a:r>
          </a:p>
          <a:p>
            <a:pPr lvl="1">
              <a:buFont typeface="Wingdings" panose="05000000000000000000" pitchFamily="2" charset="2"/>
              <a:buChar char="§"/>
            </a:pPr>
            <a:r>
              <a:rPr lang="en-US" dirty="0"/>
              <a:t>The root node is in the subtree</a:t>
            </a:r>
          </a:p>
          <a:p>
            <a:pPr lvl="1">
              <a:buFont typeface="Wingdings" panose="05000000000000000000" pitchFamily="2" charset="2"/>
              <a:buChar char="§"/>
            </a:pPr>
            <a:r>
              <a:rPr lang="en-US" dirty="0"/>
              <a:t>For every OR node in the </a:t>
            </a:r>
            <a:r>
              <a:rPr lang="en-US" dirty="0" err="1"/>
              <a:t>subree</a:t>
            </a:r>
            <a:r>
              <a:rPr lang="en-US" dirty="0"/>
              <a:t>, at least one child is in the subtree</a:t>
            </a:r>
          </a:p>
          <a:p>
            <a:pPr lvl="1">
              <a:buFont typeface="Wingdings" panose="05000000000000000000" pitchFamily="2" charset="2"/>
              <a:buChar char="§"/>
            </a:pPr>
            <a:r>
              <a:rPr lang="en-US" dirty="0"/>
              <a:t>For every AND node in the subtree, all children are in the subtree</a:t>
            </a:r>
          </a:p>
          <a:p>
            <a:pPr lvl="1">
              <a:buFont typeface="Wingdings" panose="05000000000000000000" pitchFamily="2" charset="2"/>
              <a:buChar char="§"/>
            </a:pPr>
            <a:r>
              <a:rPr lang="en-US" dirty="0"/>
              <a:t>All leaves are goal states</a:t>
            </a:r>
          </a:p>
          <a:p>
            <a:r>
              <a:rPr lang="en-US" dirty="0"/>
              <a:t>If the tree has only OR nodes, then the solution is just a path.</a:t>
            </a:r>
          </a:p>
          <a:p>
            <a:endParaRPr lang="en-GB" dirty="0"/>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31</a:t>
            </a:fld>
            <a:endParaRPr lang="en-GB"/>
          </a:p>
        </p:txBody>
      </p:sp>
      <p:pic>
        <p:nvPicPr>
          <p:cNvPr id="3076" name="Picture 4" descr="ni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084832"/>
            <a:ext cx="2940359" cy="2413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226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Algorithms</a:t>
            </a:r>
            <a:endParaRPr lang="en-GB" dirty="0"/>
          </a:p>
        </p:txBody>
      </p:sp>
      <p:sp>
        <p:nvSpPr>
          <p:cNvPr id="3" name="Content Placeholder 2"/>
          <p:cNvSpPr>
            <a:spLocks noGrp="1"/>
          </p:cNvSpPr>
          <p:nvPr>
            <p:ph idx="1"/>
          </p:nvPr>
        </p:nvSpPr>
        <p:spPr/>
        <p:txBody>
          <a:bodyPr/>
          <a:lstStyle/>
          <a:p>
            <a:endParaRPr lang="en-GB"/>
          </a:p>
        </p:txBody>
      </p:sp>
      <p:sp>
        <p:nvSpPr>
          <p:cNvPr id="4" name="Slide Number Placeholder 3"/>
          <p:cNvSpPr>
            <a:spLocks noGrp="1"/>
          </p:cNvSpPr>
          <p:nvPr>
            <p:ph type="sldNum" sz="quarter" idx="12"/>
          </p:nvPr>
        </p:nvSpPr>
        <p:spPr/>
        <p:txBody>
          <a:bodyPr/>
          <a:lstStyle/>
          <a:p>
            <a:pPr>
              <a:defRPr/>
            </a:pPr>
            <a:fld id="{3905E3E4-CFAE-4E99-838D-A3B3AA45630C}" type="slidenum">
              <a:rPr lang="en-GB" smtClean="0"/>
              <a:pPr>
                <a:defRPr/>
              </a:pPr>
              <a:t>32</a:t>
            </a:fld>
            <a:endParaRPr lang="en-GB"/>
          </a:p>
        </p:txBody>
      </p:sp>
    </p:spTree>
    <p:extLst>
      <p:ext uri="{BB962C8B-B14F-4D97-AF65-F5344CB8AC3E}">
        <p14:creationId xmlns:p14="http://schemas.microsoft.com/office/powerpoint/2010/main" val="1944471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33</a:t>
            </a:fld>
            <a:endParaRPr lang="en-GB"/>
          </a:p>
        </p:txBody>
      </p:sp>
      <p:pic>
        <p:nvPicPr>
          <p:cNvPr id="3074" name="Picture 2"/>
          <p:cNvPicPr>
            <a:picLocks noChangeAspect="1" noChangeArrowheads="1"/>
          </p:cNvPicPr>
          <p:nvPr/>
        </p:nvPicPr>
        <p:blipFill>
          <a:blip r:embed="rId3" cstate="print"/>
          <a:srcRect/>
          <a:stretch>
            <a:fillRect/>
          </a:stretch>
        </p:blipFill>
        <p:spPr bwMode="auto">
          <a:xfrm>
            <a:off x="827584" y="1052736"/>
            <a:ext cx="7632848" cy="4752528"/>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34</a:t>
            </a:fld>
            <a:endParaRPr lang="en-GB"/>
          </a:p>
        </p:txBody>
      </p:sp>
      <p:pic>
        <p:nvPicPr>
          <p:cNvPr id="4098" name="Picture 2"/>
          <p:cNvPicPr>
            <a:picLocks noChangeAspect="1" noChangeArrowheads="1"/>
          </p:cNvPicPr>
          <p:nvPr/>
        </p:nvPicPr>
        <p:blipFill>
          <a:blip r:embed="rId3" cstate="print"/>
          <a:srcRect/>
          <a:stretch>
            <a:fillRect/>
          </a:stretch>
        </p:blipFill>
        <p:spPr bwMode="auto">
          <a:xfrm>
            <a:off x="1115616" y="78656"/>
            <a:ext cx="6408712" cy="2962275"/>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827584" y="3429000"/>
            <a:ext cx="6912768" cy="28575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35</a:t>
            </a:fld>
            <a:endParaRPr lang="en-GB"/>
          </a:p>
        </p:txBody>
      </p:sp>
      <p:pic>
        <p:nvPicPr>
          <p:cNvPr id="5122" name="Picture 2"/>
          <p:cNvPicPr>
            <a:picLocks noChangeAspect="1" noChangeArrowheads="1"/>
          </p:cNvPicPr>
          <p:nvPr/>
        </p:nvPicPr>
        <p:blipFill>
          <a:blip r:embed="rId2" cstate="print"/>
          <a:srcRect/>
          <a:stretch>
            <a:fillRect/>
          </a:stretch>
        </p:blipFill>
        <p:spPr bwMode="auto">
          <a:xfrm>
            <a:off x="611560" y="404664"/>
            <a:ext cx="7848872" cy="468052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36</a:t>
            </a:fld>
            <a:endParaRPr lang="en-GB"/>
          </a:p>
        </p:txBody>
      </p:sp>
      <p:pic>
        <p:nvPicPr>
          <p:cNvPr id="6146" name="Picture 2"/>
          <p:cNvPicPr>
            <a:picLocks noChangeAspect="1" noChangeArrowheads="1"/>
          </p:cNvPicPr>
          <p:nvPr/>
        </p:nvPicPr>
        <p:blipFill>
          <a:blip r:embed="rId3" cstate="print"/>
          <a:srcRect/>
          <a:stretch>
            <a:fillRect/>
          </a:stretch>
        </p:blipFill>
        <p:spPr bwMode="auto">
          <a:xfrm>
            <a:off x="395536" y="476672"/>
            <a:ext cx="8064896" cy="4032448"/>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37</a:t>
            </a:fld>
            <a:endParaRPr lang="en-GB"/>
          </a:p>
        </p:txBody>
      </p:sp>
      <p:pic>
        <p:nvPicPr>
          <p:cNvPr id="3" name="Picture 3"/>
          <p:cNvPicPr>
            <a:picLocks noChangeAspect="1" noChangeArrowheads="1"/>
          </p:cNvPicPr>
          <p:nvPr/>
        </p:nvPicPr>
        <p:blipFill>
          <a:blip r:embed="rId2" cstate="print"/>
          <a:srcRect/>
          <a:stretch>
            <a:fillRect/>
          </a:stretch>
        </p:blipFill>
        <p:spPr bwMode="auto">
          <a:xfrm>
            <a:off x="179512" y="116632"/>
            <a:ext cx="8352928" cy="3456384"/>
          </a:xfrm>
          <a:prstGeom prst="rect">
            <a:avLst/>
          </a:prstGeom>
          <a:noFill/>
          <a:ln w="9525">
            <a:noFill/>
            <a:miter lim="800000"/>
            <a:headEnd/>
            <a:tailEnd/>
          </a:ln>
        </p:spPr>
      </p:pic>
      <p:pic>
        <p:nvPicPr>
          <p:cNvPr id="7172" name="Picture 4"/>
          <p:cNvPicPr>
            <a:picLocks noChangeAspect="1" noChangeArrowheads="1"/>
          </p:cNvPicPr>
          <p:nvPr/>
        </p:nvPicPr>
        <p:blipFill>
          <a:blip r:embed="rId3" cstate="print"/>
          <a:srcRect/>
          <a:stretch>
            <a:fillRect/>
          </a:stretch>
        </p:blipFill>
        <p:spPr bwMode="auto">
          <a:xfrm>
            <a:off x="827584" y="3717032"/>
            <a:ext cx="7272808" cy="26289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38</a:t>
            </a:fld>
            <a:endParaRPr lang="en-GB"/>
          </a:p>
        </p:txBody>
      </p:sp>
      <p:pic>
        <p:nvPicPr>
          <p:cNvPr id="8194" name="Picture 2"/>
          <p:cNvPicPr>
            <a:picLocks noChangeAspect="1" noChangeArrowheads="1"/>
          </p:cNvPicPr>
          <p:nvPr/>
        </p:nvPicPr>
        <p:blipFill>
          <a:blip r:embed="rId2" cstate="print"/>
          <a:srcRect/>
          <a:stretch>
            <a:fillRect/>
          </a:stretch>
        </p:blipFill>
        <p:spPr bwMode="auto">
          <a:xfrm>
            <a:off x="323528" y="692696"/>
            <a:ext cx="7776864" cy="2232248"/>
          </a:xfrm>
          <a:prstGeom prst="rect">
            <a:avLst/>
          </a:prstGeom>
          <a:noFill/>
          <a:ln w="9525">
            <a:noFill/>
            <a:miter lim="800000"/>
            <a:headEnd/>
            <a:tailEnd/>
          </a:ln>
        </p:spPr>
      </p:pic>
      <p:sp>
        <p:nvSpPr>
          <p:cNvPr id="5" name="TextBox 4"/>
          <p:cNvSpPr txBox="1"/>
          <p:nvPr/>
        </p:nvSpPr>
        <p:spPr>
          <a:xfrm>
            <a:off x="323528" y="3429000"/>
            <a:ext cx="8064896" cy="2092881"/>
          </a:xfrm>
          <a:prstGeom prst="rect">
            <a:avLst/>
          </a:prstGeom>
          <a:noFill/>
        </p:spPr>
        <p:txBody>
          <a:bodyPr wrap="square" rtlCol="0">
            <a:spAutoFit/>
          </a:bodyPr>
          <a:lstStyle/>
          <a:p>
            <a:r>
              <a:rPr lang="en-GB" sz="2600" b="1" dirty="0">
                <a:solidFill>
                  <a:srgbClr val="170FB1"/>
                </a:solidFill>
                <a:latin typeface="+mn-lt"/>
              </a:rPr>
              <a:t>Branch and bound Technique</a:t>
            </a:r>
            <a:r>
              <a:rPr lang="en-GB" sz="2600" dirty="0">
                <a:solidFill>
                  <a:srgbClr val="170FB1"/>
                </a:solidFill>
                <a:latin typeface="+mn-lt"/>
              </a:rPr>
              <a:t>: </a:t>
            </a:r>
          </a:p>
          <a:p>
            <a:pPr algn="just"/>
            <a:r>
              <a:rPr lang="en-GB" sz="2600" dirty="0">
                <a:solidFill>
                  <a:srgbClr val="170FB1"/>
                </a:solidFill>
                <a:latin typeface="+mn-lt"/>
              </a:rPr>
              <a:t>Begin generating complete paths, keeping track of the shortest path found so far. Give up exploring any path as soon as its partial length becomes greater than the shortest path found so far. </a:t>
            </a:r>
          </a:p>
        </p:txBody>
      </p:sp>
      <p:sp>
        <p:nvSpPr>
          <p:cNvPr id="6" name="TextBox 5"/>
          <p:cNvSpPr txBox="1"/>
          <p:nvPr/>
        </p:nvSpPr>
        <p:spPr>
          <a:xfrm>
            <a:off x="1293292" y="74340"/>
            <a:ext cx="5112568" cy="523220"/>
          </a:xfrm>
          <a:prstGeom prst="rect">
            <a:avLst/>
          </a:prstGeom>
          <a:noFill/>
        </p:spPr>
        <p:txBody>
          <a:bodyPr wrap="square" rtlCol="0">
            <a:spAutoFit/>
          </a:bodyPr>
          <a:lstStyle/>
          <a:p>
            <a:pPr algn="ctr"/>
            <a:r>
              <a:rPr lang="nn-NO" sz="2800" b="1" dirty="0">
                <a:solidFill>
                  <a:srgbClr val="170FB1"/>
                </a:solidFill>
                <a:latin typeface="+mn-lt"/>
              </a:rPr>
              <a:t>Heursitics for TSP</a:t>
            </a:r>
            <a:endParaRPr lang="en-GB" sz="2800" b="1" dirty="0">
              <a:solidFill>
                <a:srgbClr val="170FB1"/>
              </a:solidFill>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39</a:t>
            </a:fld>
            <a:endParaRPr lang="en-GB"/>
          </a:p>
        </p:txBody>
      </p:sp>
      <p:sp>
        <p:nvSpPr>
          <p:cNvPr id="3" name="Oval 2"/>
          <p:cNvSpPr/>
          <p:nvPr/>
        </p:nvSpPr>
        <p:spPr>
          <a:xfrm>
            <a:off x="611560" y="1412776"/>
            <a:ext cx="7488832" cy="33843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r>
              <a:rPr lang="en-GB" sz="2000" dirty="0"/>
              <a:t>Assume you have the task to design a software agent that periodically allocates additional memory to as  many nodes as possible on a computer network from a mutual resource pool. Discuss a suitable heuristic you would employ to realise an efficient resource allocation scheme for the network</a:t>
            </a:r>
          </a:p>
        </p:txBody>
      </p:sp>
      <p:cxnSp>
        <p:nvCxnSpPr>
          <p:cNvPr id="5" name="Straight Connector 4"/>
          <p:cNvCxnSpPr>
            <a:endCxn id="3" idx="7"/>
          </p:cNvCxnSpPr>
          <p:nvPr/>
        </p:nvCxnSpPr>
        <p:spPr>
          <a:xfrm flipV="1">
            <a:off x="1475656" y="1908406"/>
            <a:ext cx="5528021" cy="80434"/>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707904" y="836712"/>
            <a:ext cx="1728192" cy="523220"/>
          </a:xfrm>
          <a:prstGeom prst="rect">
            <a:avLst/>
          </a:prstGeom>
          <a:noFill/>
        </p:spPr>
        <p:txBody>
          <a:bodyPr wrap="square" rtlCol="0">
            <a:spAutoFit/>
          </a:bodyPr>
          <a:lstStyle/>
          <a:p>
            <a:r>
              <a:rPr lang="nn-NO" sz="2800" dirty="0">
                <a:solidFill>
                  <a:schemeClr val="bg1"/>
                </a:solidFill>
                <a:latin typeface="+mn-lt"/>
              </a:rPr>
              <a:t>Exercise</a:t>
            </a:r>
            <a:endParaRPr lang="en-GB" sz="2800" dirty="0">
              <a:solidFill>
                <a:schemeClr val="bg1"/>
              </a:solidFill>
              <a:latin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40</a:t>
            </a:fld>
            <a:endParaRPr lang="en-GB"/>
          </a:p>
        </p:txBody>
      </p:sp>
      <p:pic>
        <p:nvPicPr>
          <p:cNvPr id="4" name="Picture 3"/>
          <p:cNvPicPr>
            <a:picLocks noChangeAspect="1" noChangeArrowheads="1"/>
          </p:cNvPicPr>
          <p:nvPr/>
        </p:nvPicPr>
        <p:blipFill>
          <a:blip r:embed="rId2" cstate="print"/>
          <a:srcRect/>
          <a:stretch>
            <a:fillRect/>
          </a:stretch>
        </p:blipFill>
        <p:spPr bwMode="auto">
          <a:xfrm>
            <a:off x="179512" y="188640"/>
            <a:ext cx="7704856" cy="3168352"/>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611560" y="3284984"/>
            <a:ext cx="7344816" cy="2592288"/>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41</a:t>
            </a:fld>
            <a:endParaRPr lang="en-GB"/>
          </a:p>
        </p:txBody>
      </p:sp>
      <p:sp>
        <p:nvSpPr>
          <p:cNvPr id="4" name="Rectangle 2"/>
          <p:cNvSpPr txBox="1">
            <a:spLocks noChangeArrowheads="1"/>
          </p:cNvSpPr>
          <p:nvPr/>
        </p:nvSpPr>
        <p:spPr>
          <a:xfrm>
            <a:off x="395536" y="188640"/>
            <a:ext cx="3312368" cy="404664"/>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srgbClr val="170FB1"/>
                </a:solidFill>
                <a:effectLst/>
                <a:uLnTx/>
                <a:uFillTx/>
                <a:latin typeface="+mj-lt"/>
                <a:ea typeface="+mj-ea"/>
                <a:cs typeface="+mj-cs"/>
              </a:rPr>
              <a:t>Example: 8-puzzle</a:t>
            </a:r>
          </a:p>
        </p:txBody>
      </p:sp>
      <p:sp>
        <p:nvSpPr>
          <p:cNvPr id="5" name="Rectangle 3"/>
          <p:cNvSpPr txBox="1">
            <a:spLocks noChangeArrowheads="1"/>
          </p:cNvSpPr>
          <p:nvPr/>
        </p:nvSpPr>
        <p:spPr>
          <a:xfrm>
            <a:off x="179512" y="3212976"/>
            <a:ext cx="4680520" cy="2590800"/>
          </a:xfrm>
          <a:prstGeom prst="rect">
            <a:avLst/>
          </a:prstGeom>
        </p:spPr>
        <p:txBody>
          <a:bodyPr/>
          <a:lstStyle/>
          <a:p>
            <a:pPr marL="342900" marR="0" lvl="0" indent="-342900" algn="l" defTabSz="914400" rtl="0" eaLnBrk="1" fontAlgn="base" latinLnBrk="0" hangingPunct="1">
              <a:spcBef>
                <a:spcPts val="0"/>
              </a:spcBef>
              <a:spcAft>
                <a:spcPct val="0"/>
              </a:spcAft>
              <a:buClrTx/>
              <a:buSzTx/>
              <a:tabLst/>
              <a:defRPr/>
            </a:pPr>
            <a:r>
              <a:rPr kumimoji="0" lang="en-US" sz="2000" b="1" i="0" u="none" strike="noStrike" kern="1200" cap="none" spc="0" normalizeH="0" baseline="0" noProof="0" dirty="0">
                <a:ln>
                  <a:noFill/>
                </a:ln>
                <a:solidFill>
                  <a:srgbClr val="170FB1"/>
                </a:solidFill>
                <a:effectLst/>
                <a:uLnTx/>
                <a:uFillTx/>
                <a:latin typeface="+mn-lt"/>
                <a:ea typeface="+mn-ea"/>
                <a:cs typeface="+mn-cs"/>
              </a:rPr>
              <a:t>State Space Problem (SSP) formulation</a:t>
            </a:r>
          </a:p>
          <a:p>
            <a:pPr marL="342900" marR="0" lvl="0" indent="-342900" algn="l" defTabSz="914400" rtl="0" eaLnBrk="1" fontAlgn="base" latinLnBrk="0" hangingPunct="1">
              <a:spcBef>
                <a:spcPts val="0"/>
              </a:spcBef>
              <a:spcAft>
                <a:spcPct val="0"/>
              </a:spcAft>
              <a:buClrTx/>
              <a:buSzTx/>
              <a:buFont typeface="Arial" charset="0"/>
              <a:buChar char="•"/>
              <a:tabLst/>
              <a:defRPr/>
            </a:pPr>
            <a:r>
              <a:rPr kumimoji="0" lang="en-US" sz="2000" b="0" i="0" u="none" strike="noStrike" kern="1200" cap="none" spc="0" normalizeH="0" baseline="0" noProof="0" dirty="0">
                <a:ln>
                  <a:noFill/>
                </a:ln>
                <a:solidFill>
                  <a:srgbClr val="170FB1"/>
                </a:solidFill>
                <a:effectLst/>
                <a:uLnTx/>
                <a:uFillTx/>
                <a:latin typeface="+mn-lt"/>
                <a:ea typeface="+mn-ea"/>
                <a:cs typeface="+mn-cs"/>
              </a:rPr>
              <a:t>states?  locations of tiles </a:t>
            </a:r>
          </a:p>
          <a:p>
            <a:pPr marL="342900" marR="0" lvl="0" indent="-342900" algn="l" defTabSz="914400" rtl="0" eaLnBrk="1" fontAlgn="base" latinLnBrk="0" hangingPunct="1">
              <a:spcBef>
                <a:spcPts val="0"/>
              </a:spcBef>
              <a:spcAft>
                <a:spcPct val="0"/>
              </a:spcAft>
              <a:buClrTx/>
              <a:buSzTx/>
              <a:buFont typeface="Arial" charset="0"/>
              <a:buChar char="•"/>
              <a:tabLst/>
              <a:defRPr/>
            </a:pPr>
            <a:r>
              <a:rPr kumimoji="0" lang="en-US" sz="2000" b="0" i="0" u="none" strike="noStrike" kern="1200" cap="none" spc="0" normalizeH="0" baseline="0" noProof="0" dirty="0">
                <a:ln>
                  <a:noFill/>
                </a:ln>
                <a:solidFill>
                  <a:srgbClr val="170FB1"/>
                </a:solidFill>
                <a:effectLst/>
                <a:uLnTx/>
                <a:uFillTx/>
                <a:latin typeface="+mn-lt"/>
                <a:ea typeface="+mn-ea"/>
                <a:cs typeface="+mn-cs"/>
              </a:rPr>
              <a:t>initial state? 	Given</a:t>
            </a:r>
          </a:p>
          <a:p>
            <a:pPr marL="342900" marR="0" lvl="0" indent="-342900" algn="l" defTabSz="914400" rtl="0" eaLnBrk="1" fontAlgn="base" latinLnBrk="0" hangingPunct="1">
              <a:spcBef>
                <a:spcPts val="0"/>
              </a:spcBef>
              <a:spcAft>
                <a:spcPct val="0"/>
              </a:spcAft>
              <a:buClrTx/>
              <a:buSzTx/>
              <a:buFont typeface="Arial" charset="0"/>
              <a:buChar char="•"/>
              <a:tabLst/>
              <a:defRPr/>
            </a:pPr>
            <a:r>
              <a:rPr kumimoji="0" lang="en-US" sz="2000" b="0" i="0" u="none" strike="noStrike" kern="1200" cap="none" spc="0" normalizeH="0" baseline="0" noProof="0" dirty="0">
                <a:ln>
                  <a:noFill/>
                </a:ln>
                <a:solidFill>
                  <a:srgbClr val="170FB1"/>
                </a:solidFill>
                <a:effectLst/>
                <a:uLnTx/>
                <a:uFillTx/>
                <a:latin typeface="+mn-lt"/>
                <a:ea typeface="+mn-ea"/>
                <a:cs typeface="+mn-cs"/>
              </a:rPr>
              <a:t>actions?  move blank left, right, up, down </a:t>
            </a:r>
          </a:p>
          <a:p>
            <a:pPr marL="342900" marR="0" lvl="0" indent="-342900" algn="l" defTabSz="914400" rtl="0" eaLnBrk="1" fontAlgn="base" latinLnBrk="0" hangingPunct="1">
              <a:spcBef>
                <a:spcPts val="0"/>
              </a:spcBef>
              <a:spcAft>
                <a:spcPct val="0"/>
              </a:spcAft>
              <a:buClrTx/>
              <a:buSzTx/>
              <a:buFont typeface="Arial" charset="0"/>
              <a:buChar char="•"/>
              <a:tabLst/>
              <a:defRPr/>
            </a:pPr>
            <a:r>
              <a:rPr kumimoji="0" lang="en-US" sz="2000" b="0" i="0" u="none" strike="noStrike" kern="1200" cap="none" spc="0" normalizeH="0" baseline="0" noProof="0" dirty="0">
                <a:ln>
                  <a:noFill/>
                </a:ln>
                <a:solidFill>
                  <a:srgbClr val="170FB1"/>
                </a:solidFill>
                <a:effectLst/>
                <a:uLnTx/>
                <a:uFillTx/>
                <a:latin typeface="+mn-lt"/>
                <a:ea typeface="+mn-ea"/>
                <a:cs typeface="+mn-cs"/>
              </a:rPr>
              <a:t>goal test?  goal state (given)</a:t>
            </a:r>
          </a:p>
          <a:p>
            <a:pPr marL="342900" marR="0" lvl="0" indent="-342900" algn="l" defTabSz="914400" rtl="0" eaLnBrk="1" fontAlgn="base" latinLnBrk="0" hangingPunct="1">
              <a:spcBef>
                <a:spcPts val="0"/>
              </a:spcBef>
              <a:spcAft>
                <a:spcPct val="0"/>
              </a:spcAft>
              <a:buClrTx/>
              <a:buSzTx/>
              <a:buFont typeface="Arial" charset="0"/>
              <a:buChar char="•"/>
              <a:tabLst/>
              <a:defRPr/>
            </a:pPr>
            <a:r>
              <a:rPr kumimoji="0" lang="en-US" sz="2000" b="0" i="0" u="none" strike="noStrike" kern="1200" cap="none" spc="0" normalizeH="0" baseline="0" noProof="0" dirty="0">
                <a:ln>
                  <a:noFill/>
                </a:ln>
                <a:solidFill>
                  <a:srgbClr val="170FB1"/>
                </a:solidFill>
                <a:effectLst/>
                <a:uLnTx/>
                <a:uFillTx/>
                <a:latin typeface="+mn-lt"/>
                <a:ea typeface="+mn-ea"/>
                <a:cs typeface="+mn-cs"/>
              </a:rPr>
              <a:t>path cost? 1 per move</a:t>
            </a:r>
          </a:p>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6" name="Picture 4" descr="8puzzle"/>
          <p:cNvPicPr>
            <a:picLocks noChangeAspect="1" noChangeArrowheads="1"/>
          </p:cNvPicPr>
          <p:nvPr/>
        </p:nvPicPr>
        <p:blipFill>
          <a:blip r:embed="rId3" cstate="print"/>
          <a:srcRect/>
          <a:stretch>
            <a:fillRect/>
          </a:stretch>
        </p:blipFill>
        <p:spPr bwMode="auto">
          <a:xfrm>
            <a:off x="539552" y="908720"/>
            <a:ext cx="4257675" cy="2162175"/>
          </a:xfrm>
          <a:prstGeom prst="rect">
            <a:avLst/>
          </a:prstGeom>
          <a:noFill/>
          <a:ln w="9525">
            <a:noFill/>
            <a:miter lim="800000"/>
            <a:headEnd/>
            <a:tailEnd/>
          </a:ln>
        </p:spPr>
      </p:pic>
      <p:pic>
        <p:nvPicPr>
          <p:cNvPr id="7" name="Picture 4" descr="8queens"/>
          <p:cNvPicPr>
            <a:picLocks noChangeAspect="1" noChangeArrowheads="1"/>
          </p:cNvPicPr>
          <p:nvPr/>
        </p:nvPicPr>
        <p:blipFill>
          <a:blip r:embed="rId4" cstate="print"/>
          <a:srcRect l="7227" t="62708" r="58488" b="13065"/>
          <a:stretch>
            <a:fillRect/>
          </a:stretch>
        </p:blipFill>
        <p:spPr>
          <a:xfrm>
            <a:off x="6588224" y="44624"/>
            <a:ext cx="2086744" cy="1845568"/>
          </a:xfrm>
          <a:prstGeom prst="rect">
            <a:avLst/>
          </a:prstGeom>
          <a:noFill/>
        </p:spPr>
      </p:pic>
      <p:cxnSp>
        <p:nvCxnSpPr>
          <p:cNvPr id="9" name="Straight Connector 8"/>
          <p:cNvCxnSpPr/>
          <p:nvPr/>
        </p:nvCxnSpPr>
        <p:spPr>
          <a:xfrm>
            <a:off x="5004048" y="404664"/>
            <a:ext cx="0" cy="62646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220072" y="1844824"/>
            <a:ext cx="3744416" cy="5262979"/>
          </a:xfrm>
          <a:prstGeom prst="rect">
            <a:avLst/>
          </a:prstGeom>
          <a:noFill/>
        </p:spPr>
        <p:txBody>
          <a:bodyPr wrap="square" rtlCol="0">
            <a:spAutoFit/>
          </a:bodyPr>
          <a:lstStyle/>
          <a:p>
            <a:pPr eaLnBrk="1" hangingPunct="1"/>
            <a:r>
              <a:rPr lang="en-US" sz="2000" u="sng" dirty="0">
                <a:solidFill>
                  <a:srgbClr val="170FB1"/>
                </a:solidFill>
                <a:latin typeface="+mn-lt"/>
              </a:rPr>
              <a:t>states?</a:t>
            </a:r>
            <a:r>
              <a:rPr lang="en-US" sz="2000" dirty="0">
                <a:solidFill>
                  <a:srgbClr val="170FB1"/>
                </a:solidFill>
                <a:latin typeface="+mn-lt"/>
              </a:rPr>
              <a:t>  -any arrangement of n&lt;=8 queens</a:t>
            </a:r>
          </a:p>
          <a:p>
            <a:pPr eaLnBrk="1" hangingPunct="1">
              <a:buFontTx/>
              <a:buNone/>
            </a:pPr>
            <a:r>
              <a:rPr lang="en-US" sz="2000" dirty="0">
                <a:solidFill>
                  <a:srgbClr val="170FB1"/>
                </a:solidFill>
                <a:latin typeface="+mn-lt"/>
              </a:rPr>
              <a:t> -</a:t>
            </a:r>
            <a:r>
              <a:rPr lang="en-US" sz="2000" i="1" dirty="0">
                <a:solidFill>
                  <a:srgbClr val="170FB1"/>
                </a:solidFill>
                <a:latin typeface="+mn-lt"/>
              </a:rPr>
              <a:t>or</a:t>
            </a:r>
            <a:r>
              <a:rPr lang="en-US" sz="2000" dirty="0">
                <a:solidFill>
                  <a:srgbClr val="170FB1"/>
                </a:solidFill>
                <a:latin typeface="+mn-lt"/>
              </a:rPr>
              <a:t> arrangements of n&lt;=8 queens in leftmost n  columns, 1 per column, such that no queen attacks any other.</a:t>
            </a:r>
          </a:p>
          <a:p>
            <a:pPr eaLnBrk="1" hangingPunct="1"/>
            <a:r>
              <a:rPr lang="en-US" sz="2000" u="sng" dirty="0">
                <a:solidFill>
                  <a:srgbClr val="170FB1"/>
                </a:solidFill>
                <a:latin typeface="+mn-lt"/>
              </a:rPr>
              <a:t>initial state? </a:t>
            </a:r>
            <a:r>
              <a:rPr lang="en-US" sz="2000" dirty="0">
                <a:solidFill>
                  <a:srgbClr val="170FB1"/>
                </a:solidFill>
                <a:latin typeface="+mn-lt"/>
              </a:rPr>
              <a:t>no queens on the board</a:t>
            </a:r>
          </a:p>
          <a:p>
            <a:pPr eaLnBrk="1" hangingPunct="1"/>
            <a:r>
              <a:rPr lang="en-US" sz="2000" u="sng" dirty="0">
                <a:solidFill>
                  <a:srgbClr val="170FB1"/>
                </a:solidFill>
                <a:latin typeface="+mn-lt"/>
              </a:rPr>
              <a:t>actions?</a:t>
            </a:r>
            <a:r>
              <a:rPr lang="en-US" sz="2000" dirty="0">
                <a:solidFill>
                  <a:srgbClr val="170FB1"/>
                </a:solidFill>
                <a:latin typeface="+mn-lt"/>
              </a:rPr>
              <a:t>  -add queen to any empty square</a:t>
            </a:r>
          </a:p>
          <a:p>
            <a:pPr eaLnBrk="1" hangingPunct="1">
              <a:buFontTx/>
              <a:buNone/>
            </a:pPr>
            <a:r>
              <a:rPr lang="en-US" sz="2000" dirty="0">
                <a:solidFill>
                  <a:srgbClr val="170FB1"/>
                </a:solidFill>
                <a:latin typeface="+mn-lt"/>
              </a:rPr>
              <a:t>     -</a:t>
            </a:r>
            <a:r>
              <a:rPr lang="en-US" sz="2000" i="1" dirty="0">
                <a:solidFill>
                  <a:srgbClr val="170FB1"/>
                </a:solidFill>
                <a:latin typeface="+mn-lt"/>
              </a:rPr>
              <a:t>or</a:t>
            </a:r>
            <a:r>
              <a:rPr lang="en-US" sz="2000" dirty="0">
                <a:solidFill>
                  <a:srgbClr val="170FB1"/>
                </a:solidFill>
                <a:latin typeface="+mn-lt"/>
              </a:rPr>
              <a:t> add queen to leftmost empty square such that it is not attacked by other queens.</a:t>
            </a:r>
          </a:p>
          <a:p>
            <a:pPr eaLnBrk="1" hangingPunct="1"/>
            <a:r>
              <a:rPr lang="en-US" sz="2000" u="sng" dirty="0">
                <a:solidFill>
                  <a:srgbClr val="170FB1"/>
                </a:solidFill>
                <a:latin typeface="+mn-lt"/>
              </a:rPr>
              <a:t>goal test?</a:t>
            </a:r>
            <a:r>
              <a:rPr lang="en-US" sz="2000" dirty="0">
                <a:solidFill>
                  <a:srgbClr val="170FB1"/>
                </a:solidFill>
                <a:latin typeface="+mn-lt"/>
              </a:rPr>
              <a:t> 8 queens on the board, none attacked.</a:t>
            </a:r>
          </a:p>
          <a:p>
            <a:pPr eaLnBrk="1" hangingPunct="1"/>
            <a:r>
              <a:rPr lang="en-US" u="sng" dirty="0">
                <a:solidFill>
                  <a:srgbClr val="170FB1"/>
                </a:solidFill>
                <a:latin typeface="+mn-lt"/>
              </a:rPr>
              <a:t>path cost? </a:t>
            </a:r>
            <a:r>
              <a:rPr lang="en-US" dirty="0">
                <a:solidFill>
                  <a:srgbClr val="170FB1"/>
                </a:solidFill>
                <a:latin typeface="+mn-lt"/>
              </a:rPr>
              <a:t>1 per move</a:t>
            </a:r>
          </a:p>
          <a:p>
            <a:endParaRPr lang="en-GB" dirty="0"/>
          </a:p>
        </p:txBody>
      </p:sp>
      <p:sp>
        <p:nvSpPr>
          <p:cNvPr id="16" name="Rectangle 2"/>
          <p:cNvSpPr txBox="1">
            <a:spLocks noChangeArrowheads="1"/>
          </p:cNvSpPr>
          <p:nvPr/>
        </p:nvSpPr>
        <p:spPr>
          <a:xfrm>
            <a:off x="4999856" y="552872"/>
            <a:ext cx="1656184" cy="476672"/>
          </a:xfrm>
          <a:prstGeom prst="rect">
            <a:avLst/>
          </a:prstGeom>
        </p:spPr>
        <p:txBody>
          <a:bodyPr/>
          <a:lstStyle/>
          <a:p>
            <a:pPr algn="ctr"/>
            <a:r>
              <a:rPr kumimoji="0" lang="en-US" sz="2600" b="0" i="0" u="none" strike="noStrike" kern="1200" cap="none" spc="0" normalizeH="0" baseline="0" noProof="0" dirty="0">
                <a:ln>
                  <a:noFill/>
                </a:ln>
                <a:solidFill>
                  <a:srgbClr val="170FB1"/>
                </a:solidFill>
                <a:effectLst/>
                <a:uLnTx/>
                <a:uFillTx/>
                <a:latin typeface="+mj-lt"/>
                <a:ea typeface="+mj-ea"/>
                <a:cs typeface="+mj-cs"/>
              </a:rPr>
              <a:t>Chess </a:t>
            </a:r>
          </a:p>
          <a:p>
            <a:pPr algn="ctr"/>
            <a:endParaRPr lang="en-US" sz="2600" dirty="0">
              <a:solidFill>
                <a:srgbClr val="170FB1"/>
              </a:solidFill>
              <a:latin typeface="+mj-lt"/>
              <a:ea typeface="+mj-ea"/>
              <a:cs typeface="+mj-cs"/>
            </a:endParaRPr>
          </a:p>
          <a:p>
            <a:pPr algn="ctr"/>
            <a:r>
              <a:rPr kumimoji="0" lang="en-US" sz="2600" b="0" i="0" u="none" strike="noStrike" kern="1200" cap="none" spc="0" normalizeH="0" baseline="0" noProof="0" dirty="0">
                <a:ln>
                  <a:noFill/>
                </a:ln>
                <a:solidFill>
                  <a:srgbClr val="170FB1"/>
                </a:solidFill>
                <a:effectLst/>
                <a:uLnTx/>
                <a:uFillTx/>
                <a:latin typeface="+mj-lt"/>
                <a:ea typeface="+mj-ea"/>
                <a:cs typeface="+mj-cs"/>
              </a:rPr>
              <a:t>SSP</a:t>
            </a:r>
            <a:endParaRPr lang="en-US" sz="2000" b="1" dirty="0">
              <a:solidFill>
                <a:srgbClr val="170FB1"/>
              </a:solidFill>
              <a:latin typeface="+mn-lt"/>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600" b="0" i="0" u="none" strike="noStrike" kern="1200" cap="none" spc="0" normalizeH="0" baseline="0" noProof="0" dirty="0">
              <a:ln>
                <a:noFill/>
              </a:ln>
              <a:solidFill>
                <a:srgbClr val="170FB1"/>
              </a:solidFill>
              <a:effectLst/>
              <a:uLnTx/>
              <a:uFillTx/>
              <a:latin typeface="+mj-lt"/>
              <a:ea typeface="+mj-ea"/>
              <a:cs typeface="+mj-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42</a:t>
            </a:fld>
            <a:endParaRPr lang="en-GB"/>
          </a:p>
        </p:txBody>
      </p:sp>
      <p:pic>
        <p:nvPicPr>
          <p:cNvPr id="10242" name="Picture 2"/>
          <p:cNvPicPr>
            <a:picLocks noChangeAspect="1" noChangeArrowheads="1"/>
          </p:cNvPicPr>
          <p:nvPr/>
        </p:nvPicPr>
        <p:blipFill>
          <a:blip r:embed="rId2" cstate="print"/>
          <a:srcRect/>
          <a:stretch>
            <a:fillRect/>
          </a:stretch>
        </p:blipFill>
        <p:spPr bwMode="auto">
          <a:xfrm>
            <a:off x="323528" y="692696"/>
            <a:ext cx="8136904" cy="4536504"/>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43</a:t>
            </a:fld>
            <a:endParaRPr lang="en-GB"/>
          </a:p>
        </p:txBody>
      </p:sp>
      <p:pic>
        <p:nvPicPr>
          <p:cNvPr id="11266" name="Picture 2"/>
          <p:cNvPicPr>
            <a:picLocks noChangeAspect="1" noChangeArrowheads="1"/>
          </p:cNvPicPr>
          <p:nvPr/>
        </p:nvPicPr>
        <p:blipFill>
          <a:blip r:embed="rId2" cstate="print"/>
          <a:srcRect/>
          <a:stretch>
            <a:fillRect/>
          </a:stretch>
        </p:blipFill>
        <p:spPr bwMode="auto">
          <a:xfrm>
            <a:off x="179512" y="260648"/>
            <a:ext cx="6840760" cy="3009900"/>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323528" y="3501008"/>
            <a:ext cx="6732240" cy="26670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44</a:t>
            </a:fld>
            <a:endParaRPr lang="en-GB"/>
          </a:p>
        </p:txBody>
      </p:sp>
      <p:pic>
        <p:nvPicPr>
          <p:cNvPr id="12290" name="Picture 2"/>
          <p:cNvPicPr>
            <a:picLocks noChangeAspect="1" noChangeArrowheads="1"/>
          </p:cNvPicPr>
          <p:nvPr/>
        </p:nvPicPr>
        <p:blipFill>
          <a:blip r:embed="rId2" cstate="print"/>
          <a:srcRect/>
          <a:stretch>
            <a:fillRect/>
          </a:stretch>
        </p:blipFill>
        <p:spPr bwMode="auto">
          <a:xfrm>
            <a:off x="179512" y="188640"/>
            <a:ext cx="5038725" cy="2736304"/>
          </a:xfrm>
          <a:prstGeom prst="rect">
            <a:avLst/>
          </a:prstGeom>
          <a:noFill/>
          <a:ln w="9525">
            <a:noFill/>
            <a:miter lim="800000"/>
            <a:headEnd/>
            <a:tailEnd/>
          </a:ln>
        </p:spPr>
      </p:pic>
      <p:pic>
        <p:nvPicPr>
          <p:cNvPr id="4" name="Picture 2"/>
          <p:cNvPicPr>
            <a:picLocks noChangeAspect="1" noChangeArrowheads="1"/>
          </p:cNvPicPr>
          <p:nvPr/>
        </p:nvPicPr>
        <p:blipFill>
          <a:blip r:embed="rId3" cstate="print"/>
          <a:srcRect/>
          <a:stretch>
            <a:fillRect/>
          </a:stretch>
        </p:blipFill>
        <p:spPr bwMode="auto">
          <a:xfrm>
            <a:off x="179512" y="3284984"/>
            <a:ext cx="6984776" cy="3235449"/>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45</a:t>
            </a:fld>
            <a:endParaRPr lang="en-GB"/>
          </a:p>
        </p:txBody>
      </p:sp>
      <p:pic>
        <p:nvPicPr>
          <p:cNvPr id="13315" name="Picture 3"/>
          <p:cNvPicPr>
            <a:picLocks noChangeAspect="1" noChangeArrowheads="1"/>
          </p:cNvPicPr>
          <p:nvPr/>
        </p:nvPicPr>
        <p:blipFill>
          <a:blip r:embed="rId2" cstate="print"/>
          <a:srcRect/>
          <a:stretch>
            <a:fillRect/>
          </a:stretch>
        </p:blipFill>
        <p:spPr bwMode="auto">
          <a:xfrm>
            <a:off x="298931" y="1123008"/>
            <a:ext cx="8535044" cy="2609180"/>
          </a:xfrm>
          <a:prstGeom prst="rect">
            <a:avLst/>
          </a:prstGeom>
          <a:noFill/>
          <a:ln w="9525">
            <a:noFill/>
            <a:miter lim="800000"/>
            <a:headEnd/>
            <a:tailEnd/>
          </a:ln>
        </p:spPr>
      </p:pic>
      <p:pic>
        <p:nvPicPr>
          <p:cNvPr id="13317" name="Picture 5"/>
          <p:cNvPicPr>
            <a:picLocks noChangeAspect="1" noChangeArrowheads="1"/>
          </p:cNvPicPr>
          <p:nvPr/>
        </p:nvPicPr>
        <p:blipFill>
          <a:blip r:embed="rId3" cstate="print"/>
          <a:srcRect/>
          <a:stretch>
            <a:fillRect/>
          </a:stretch>
        </p:blipFill>
        <p:spPr bwMode="auto">
          <a:xfrm>
            <a:off x="198217" y="3734400"/>
            <a:ext cx="8640960" cy="2736304"/>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46</a:t>
            </a:fld>
            <a:endParaRPr lang="en-GB"/>
          </a:p>
        </p:txBody>
      </p:sp>
      <p:pic>
        <p:nvPicPr>
          <p:cNvPr id="14338" name="Picture 2"/>
          <p:cNvPicPr>
            <a:picLocks noChangeAspect="1" noChangeArrowheads="1"/>
          </p:cNvPicPr>
          <p:nvPr/>
        </p:nvPicPr>
        <p:blipFill>
          <a:blip r:embed="rId2" cstate="print"/>
          <a:srcRect/>
          <a:stretch>
            <a:fillRect/>
          </a:stretch>
        </p:blipFill>
        <p:spPr bwMode="auto">
          <a:xfrm>
            <a:off x="251520" y="188640"/>
            <a:ext cx="8136904" cy="3312368"/>
          </a:xfrm>
          <a:prstGeom prst="rect">
            <a:avLst/>
          </a:prstGeom>
          <a:noFill/>
          <a:ln w="9525">
            <a:noFill/>
            <a:miter lim="800000"/>
            <a:headEnd/>
            <a:tailEnd/>
          </a:ln>
        </p:spPr>
      </p:pic>
      <p:pic>
        <p:nvPicPr>
          <p:cNvPr id="5" name="Picture 3"/>
          <p:cNvPicPr>
            <a:picLocks noChangeAspect="1" noChangeArrowheads="1"/>
          </p:cNvPicPr>
          <p:nvPr/>
        </p:nvPicPr>
        <p:blipFill>
          <a:blip r:embed="rId3" cstate="print"/>
          <a:srcRect/>
          <a:stretch>
            <a:fillRect/>
          </a:stretch>
        </p:blipFill>
        <p:spPr bwMode="auto">
          <a:xfrm>
            <a:off x="467544" y="3501008"/>
            <a:ext cx="7416824" cy="3134097"/>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47</a:t>
            </a:fld>
            <a:endParaRPr lang="en-GB"/>
          </a:p>
        </p:txBody>
      </p:sp>
      <p:pic>
        <p:nvPicPr>
          <p:cNvPr id="15362" name="Picture 2"/>
          <p:cNvPicPr>
            <a:picLocks noChangeAspect="1" noChangeArrowheads="1"/>
          </p:cNvPicPr>
          <p:nvPr/>
        </p:nvPicPr>
        <p:blipFill>
          <a:blip r:embed="rId2" cstate="print"/>
          <a:srcRect/>
          <a:stretch>
            <a:fillRect/>
          </a:stretch>
        </p:blipFill>
        <p:spPr bwMode="auto">
          <a:xfrm>
            <a:off x="251520" y="188640"/>
            <a:ext cx="7704856" cy="2304256"/>
          </a:xfrm>
          <a:prstGeom prst="rect">
            <a:avLst/>
          </a:prstGeom>
          <a:noFill/>
          <a:ln w="9525">
            <a:noFill/>
            <a:miter lim="800000"/>
            <a:headEnd/>
            <a:tailEnd/>
          </a:ln>
        </p:spPr>
      </p:pic>
      <p:pic>
        <p:nvPicPr>
          <p:cNvPr id="15363" name="Picture 3"/>
          <p:cNvPicPr>
            <a:picLocks noChangeAspect="1" noChangeArrowheads="1"/>
          </p:cNvPicPr>
          <p:nvPr/>
        </p:nvPicPr>
        <p:blipFill>
          <a:blip r:embed="rId3" cstate="print"/>
          <a:srcRect/>
          <a:stretch>
            <a:fillRect/>
          </a:stretch>
        </p:blipFill>
        <p:spPr bwMode="auto">
          <a:xfrm>
            <a:off x="539552" y="2492896"/>
            <a:ext cx="8280920" cy="3456384"/>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48</a:t>
            </a:fld>
            <a:endParaRPr lang="en-GB"/>
          </a:p>
        </p:txBody>
      </p:sp>
      <p:pic>
        <p:nvPicPr>
          <p:cNvPr id="3" name="Picture 4"/>
          <p:cNvPicPr>
            <a:picLocks noChangeAspect="1" noChangeArrowheads="1"/>
          </p:cNvPicPr>
          <p:nvPr/>
        </p:nvPicPr>
        <p:blipFill>
          <a:blip r:embed="rId2" cstate="print"/>
          <a:srcRect/>
          <a:stretch>
            <a:fillRect/>
          </a:stretch>
        </p:blipFill>
        <p:spPr bwMode="auto">
          <a:xfrm>
            <a:off x="251520" y="0"/>
            <a:ext cx="7776864" cy="2952328"/>
          </a:xfrm>
          <a:prstGeom prst="rect">
            <a:avLst/>
          </a:prstGeom>
          <a:noFill/>
          <a:ln w="9525">
            <a:noFill/>
            <a:miter lim="800000"/>
            <a:headEnd/>
            <a:tailEnd/>
          </a:ln>
        </p:spPr>
      </p:pic>
      <p:pic>
        <p:nvPicPr>
          <p:cNvPr id="16386" name="Picture 2"/>
          <p:cNvPicPr>
            <a:picLocks noChangeAspect="1" noChangeArrowheads="1"/>
          </p:cNvPicPr>
          <p:nvPr/>
        </p:nvPicPr>
        <p:blipFill>
          <a:blip r:embed="rId3" cstate="print"/>
          <a:srcRect/>
          <a:stretch>
            <a:fillRect/>
          </a:stretch>
        </p:blipFill>
        <p:spPr bwMode="auto">
          <a:xfrm>
            <a:off x="251520" y="3068960"/>
            <a:ext cx="8208912" cy="3168352"/>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49</a:t>
            </a:fld>
            <a:endParaRPr lang="en-GB"/>
          </a:p>
        </p:txBody>
      </p:sp>
      <p:pic>
        <p:nvPicPr>
          <p:cNvPr id="17410" name="Picture 2"/>
          <p:cNvPicPr>
            <a:picLocks noChangeAspect="1" noChangeArrowheads="1"/>
          </p:cNvPicPr>
          <p:nvPr/>
        </p:nvPicPr>
        <p:blipFill>
          <a:blip r:embed="rId2" cstate="print"/>
          <a:srcRect/>
          <a:stretch>
            <a:fillRect/>
          </a:stretch>
        </p:blipFill>
        <p:spPr bwMode="auto">
          <a:xfrm>
            <a:off x="251520" y="188640"/>
            <a:ext cx="8280920" cy="3024336"/>
          </a:xfrm>
          <a:prstGeom prst="rect">
            <a:avLst/>
          </a:prstGeom>
          <a:noFill/>
          <a:ln w="9525">
            <a:noFill/>
            <a:miter lim="800000"/>
            <a:headEnd/>
            <a:tailEnd/>
          </a:ln>
        </p:spPr>
      </p:pic>
      <p:pic>
        <p:nvPicPr>
          <p:cNvPr id="17411" name="Picture 3"/>
          <p:cNvPicPr>
            <a:picLocks noChangeAspect="1" noChangeArrowheads="1"/>
          </p:cNvPicPr>
          <p:nvPr/>
        </p:nvPicPr>
        <p:blipFill>
          <a:blip r:embed="rId3" cstate="print"/>
          <a:srcRect/>
          <a:stretch>
            <a:fillRect/>
          </a:stretch>
        </p:blipFill>
        <p:spPr bwMode="auto">
          <a:xfrm>
            <a:off x="467544" y="2924944"/>
            <a:ext cx="7416824" cy="3096344"/>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50</a:t>
            </a:fld>
            <a:endParaRPr lang="en-GB"/>
          </a:p>
        </p:txBody>
      </p:sp>
      <p:pic>
        <p:nvPicPr>
          <p:cNvPr id="18434" name="Picture 2"/>
          <p:cNvPicPr>
            <a:picLocks noChangeAspect="1" noChangeArrowheads="1"/>
          </p:cNvPicPr>
          <p:nvPr/>
        </p:nvPicPr>
        <p:blipFill>
          <a:blip r:embed="rId2" cstate="print"/>
          <a:srcRect/>
          <a:stretch>
            <a:fillRect/>
          </a:stretch>
        </p:blipFill>
        <p:spPr bwMode="auto">
          <a:xfrm>
            <a:off x="395536" y="1124744"/>
            <a:ext cx="7920880" cy="3672408"/>
          </a:xfrm>
          <a:prstGeom prst="rect">
            <a:avLst/>
          </a:prstGeom>
          <a:noFill/>
          <a:ln w="9525">
            <a:noFill/>
            <a:miter lim="800000"/>
            <a:headEnd/>
            <a:tailEnd/>
          </a:ln>
        </p:spPr>
      </p:pic>
      <p:sp>
        <p:nvSpPr>
          <p:cNvPr id="4" name="TextBox 3"/>
          <p:cNvSpPr txBox="1"/>
          <p:nvPr/>
        </p:nvSpPr>
        <p:spPr>
          <a:xfrm>
            <a:off x="2483768" y="332656"/>
            <a:ext cx="3024336" cy="523220"/>
          </a:xfrm>
          <a:prstGeom prst="rect">
            <a:avLst/>
          </a:prstGeom>
          <a:noFill/>
        </p:spPr>
        <p:txBody>
          <a:bodyPr wrap="square" rtlCol="0">
            <a:spAutoFit/>
          </a:bodyPr>
          <a:lstStyle/>
          <a:p>
            <a:r>
              <a:rPr lang="nn-NO" sz="2800" b="1" dirty="0">
                <a:solidFill>
                  <a:srgbClr val="170FB1"/>
                </a:solidFill>
                <a:latin typeface="+mn-lt"/>
              </a:rPr>
              <a:t>Tutorial Question</a:t>
            </a:r>
            <a:endParaRPr lang="en-GB" sz="2800" b="1" dirty="0">
              <a:solidFill>
                <a:srgbClr val="170FB1"/>
              </a:solidFill>
              <a:latin typeface="+mn-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51</a:t>
            </a:fld>
            <a:endParaRPr lang="en-GB"/>
          </a:p>
        </p:txBody>
      </p:sp>
      <p:pic>
        <p:nvPicPr>
          <p:cNvPr id="19458" name="Picture 2"/>
          <p:cNvPicPr>
            <a:picLocks noChangeAspect="1" noChangeArrowheads="1"/>
          </p:cNvPicPr>
          <p:nvPr/>
        </p:nvPicPr>
        <p:blipFill>
          <a:blip r:embed="rId2" cstate="print"/>
          <a:srcRect/>
          <a:stretch>
            <a:fillRect/>
          </a:stretch>
        </p:blipFill>
        <p:spPr bwMode="auto">
          <a:xfrm>
            <a:off x="971600" y="692696"/>
            <a:ext cx="7416824" cy="432048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52</a:t>
            </a:fld>
            <a:endParaRPr lang="en-GB"/>
          </a:p>
        </p:txBody>
      </p:sp>
      <p:pic>
        <p:nvPicPr>
          <p:cNvPr id="20482" name="Picture 2"/>
          <p:cNvPicPr>
            <a:picLocks noChangeAspect="1" noChangeArrowheads="1"/>
          </p:cNvPicPr>
          <p:nvPr/>
        </p:nvPicPr>
        <p:blipFill>
          <a:blip r:embed="rId2" cstate="print"/>
          <a:srcRect/>
          <a:stretch>
            <a:fillRect/>
          </a:stretch>
        </p:blipFill>
        <p:spPr bwMode="auto">
          <a:xfrm>
            <a:off x="899592" y="980728"/>
            <a:ext cx="7704856" cy="3312368"/>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53</a:t>
            </a:fld>
            <a:endParaRPr lang="en-GB"/>
          </a:p>
        </p:txBody>
      </p:sp>
      <p:pic>
        <p:nvPicPr>
          <p:cNvPr id="21506" name="Picture 2"/>
          <p:cNvPicPr>
            <a:picLocks noChangeAspect="1" noChangeArrowheads="1"/>
          </p:cNvPicPr>
          <p:nvPr/>
        </p:nvPicPr>
        <p:blipFill>
          <a:blip r:embed="rId2" cstate="print"/>
          <a:srcRect/>
          <a:stretch>
            <a:fillRect/>
          </a:stretch>
        </p:blipFill>
        <p:spPr bwMode="auto">
          <a:xfrm>
            <a:off x="755576" y="404664"/>
            <a:ext cx="7416824" cy="4690641"/>
          </a:xfrm>
          <a:prstGeom prst="rect">
            <a:avLst/>
          </a:prstGeom>
          <a:noFill/>
          <a:ln w="9525">
            <a:noFill/>
            <a:miter lim="800000"/>
            <a:headEnd/>
            <a:tailEnd/>
          </a:ln>
        </p:spPr>
      </p:pic>
      <p:pic>
        <p:nvPicPr>
          <p:cNvPr id="21507" name="Picture 3"/>
          <p:cNvPicPr>
            <a:picLocks noChangeAspect="1" noChangeArrowheads="1"/>
          </p:cNvPicPr>
          <p:nvPr/>
        </p:nvPicPr>
        <p:blipFill>
          <a:blip r:embed="rId3" cstate="print"/>
          <a:srcRect/>
          <a:stretch>
            <a:fillRect/>
          </a:stretch>
        </p:blipFill>
        <p:spPr bwMode="auto">
          <a:xfrm>
            <a:off x="1331640" y="4869160"/>
            <a:ext cx="6768752" cy="1368152"/>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54</a:t>
            </a:fld>
            <a:endParaRPr lang="en-GB"/>
          </a:p>
        </p:txBody>
      </p:sp>
      <p:pic>
        <p:nvPicPr>
          <p:cNvPr id="22530" name="Picture 2"/>
          <p:cNvPicPr>
            <a:picLocks noChangeAspect="1" noChangeArrowheads="1"/>
          </p:cNvPicPr>
          <p:nvPr/>
        </p:nvPicPr>
        <p:blipFill>
          <a:blip r:embed="rId2" cstate="print"/>
          <a:srcRect/>
          <a:stretch>
            <a:fillRect/>
          </a:stretch>
        </p:blipFill>
        <p:spPr bwMode="auto">
          <a:xfrm>
            <a:off x="323528" y="188640"/>
            <a:ext cx="7992888" cy="1800200"/>
          </a:xfrm>
          <a:prstGeom prst="rect">
            <a:avLst/>
          </a:prstGeom>
          <a:noFill/>
          <a:ln w="9525">
            <a:noFill/>
            <a:miter lim="800000"/>
            <a:headEnd/>
            <a:tailEnd/>
          </a:ln>
        </p:spPr>
      </p:pic>
      <p:pic>
        <p:nvPicPr>
          <p:cNvPr id="22531" name="Picture 3"/>
          <p:cNvPicPr>
            <a:picLocks noChangeAspect="1" noChangeArrowheads="1"/>
          </p:cNvPicPr>
          <p:nvPr/>
        </p:nvPicPr>
        <p:blipFill>
          <a:blip r:embed="rId3" cstate="print"/>
          <a:srcRect/>
          <a:stretch>
            <a:fillRect/>
          </a:stretch>
        </p:blipFill>
        <p:spPr bwMode="auto">
          <a:xfrm>
            <a:off x="395536" y="2348880"/>
            <a:ext cx="7848872" cy="36004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55</a:t>
            </a:fld>
            <a:endParaRPr lang="en-GB"/>
          </a:p>
        </p:txBody>
      </p:sp>
      <p:pic>
        <p:nvPicPr>
          <p:cNvPr id="23554" name="Picture 2"/>
          <p:cNvPicPr>
            <a:picLocks noChangeAspect="1" noChangeArrowheads="1"/>
          </p:cNvPicPr>
          <p:nvPr/>
        </p:nvPicPr>
        <p:blipFill>
          <a:blip r:embed="rId2" cstate="print"/>
          <a:srcRect/>
          <a:stretch>
            <a:fillRect/>
          </a:stretch>
        </p:blipFill>
        <p:spPr bwMode="auto">
          <a:xfrm>
            <a:off x="323528" y="260648"/>
            <a:ext cx="8424936" cy="3816424"/>
          </a:xfrm>
          <a:prstGeom prst="rect">
            <a:avLst/>
          </a:prstGeom>
          <a:noFill/>
          <a:ln w="9525">
            <a:noFill/>
            <a:miter lim="800000"/>
            <a:headEnd/>
            <a:tailEnd/>
          </a:ln>
        </p:spPr>
      </p:pic>
      <p:pic>
        <p:nvPicPr>
          <p:cNvPr id="23555" name="Picture 3"/>
          <p:cNvPicPr>
            <a:picLocks noChangeAspect="1" noChangeArrowheads="1"/>
          </p:cNvPicPr>
          <p:nvPr/>
        </p:nvPicPr>
        <p:blipFill>
          <a:blip r:embed="rId3" cstate="print"/>
          <a:srcRect/>
          <a:stretch>
            <a:fillRect/>
          </a:stretch>
        </p:blipFill>
        <p:spPr bwMode="auto">
          <a:xfrm>
            <a:off x="899592" y="4221088"/>
            <a:ext cx="7632848" cy="2636912"/>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56</a:t>
            </a:fld>
            <a:endParaRPr lang="en-GB"/>
          </a:p>
        </p:txBody>
      </p:sp>
      <p:pic>
        <p:nvPicPr>
          <p:cNvPr id="24578" name="Picture 2"/>
          <p:cNvPicPr>
            <a:picLocks noChangeAspect="1" noChangeArrowheads="1"/>
          </p:cNvPicPr>
          <p:nvPr/>
        </p:nvPicPr>
        <p:blipFill>
          <a:blip r:embed="rId2" cstate="print"/>
          <a:srcRect/>
          <a:stretch>
            <a:fillRect/>
          </a:stretch>
        </p:blipFill>
        <p:spPr bwMode="auto">
          <a:xfrm>
            <a:off x="179512" y="548680"/>
            <a:ext cx="7776864" cy="1872208"/>
          </a:xfrm>
          <a:prstGeom prst="rect">
            <a:avLst/>
          </a:prstGeom>
          <a:noFill/>
          <a:ln w="9525">
            <a:noFill/>
            <a:miter lim="800000"/>
            <a:headEnd/>
            <a:tailEnd/>
          </a:ln>
        </p:spPr>
      </p:pic>
      <p:pic>
        <p:nvPicPr>
          <p:cNvPr id="24579" name="Picture 3"/>
          <p:cNvPicPr>
            <a:picLocks noChangeAspect="1" noChangeArrowheads="1"/>
          </p:cNvPicPr>
          <p:nvPr/>
        </p:nvPicPr>
        <p:blipFill>
          <a:blip r:embed="rId3" cstate="print"/>
          <a:srcRect/>
          <a:stretch>
            <a:fillRect/>
          </a:stretch>
        </p:blipFill>
        <p:spPr bwMode="auto">
          <a:xfrm>
            <a:off x="683568" y="2348880"/>
            <a:ext cx="7200800" cy="2304256"/>
          </a:xfrm>
          <a:prstGeom prst="rect">
            <a:avLst/>
          </a:prstGeom>
          <a:noFill/>
          <a:ln w="9525">
            <a:noFill/>
            <a:miter lim="800000"/>
            <a:headEnd/>
            <a:tailEnd/>
          </a:ln>
        </p:spPr>
      </p:pic>
      <p:pic>
        <p:nvPicPr>
          <p:cNvPr id="24580" name="Picture 4"/>
          <p:cNvPicPr>
            <a:picLocks noChangeAspect="1" noChangeArrowheads="1"/>
          </p:cNvPicPr>
          <p:nvPr/>
        </p:nvPicPr>
        <p:blipFill>
          <a:blip r:embed="rId4" cstate="print"/>
          <a:srcRect/>
          <a:stretch>
            <a:fillRect/>
          </a:stretch>
        </p:blipFill>
        <p:spPr bwMode="auto">
          <a:xfrm>
            <a:off x="1043608" y="4653136"/>
            <a:ext cx="6984776" cy="1872208"/>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57</a:t>
            </a:fld>
            <a:endParaRPr lang="en-GB"/>
          </a:p>
        </p:txBody>
      </p:sp>
      <p:pic>
        <p:nvPicPr>
          <p:cNvPr id="26626" name="Picture 2"/>
          <p:cNvPicPr>
            <a:picLocks noChangeAspect="1" noChangeArrowheads="1"/>
          </p:cNvPicPr>
          <p:nvPr/>
        </p:nvPicPr>
        <p:blipFill>
          <a:blip r:embed="rId2" cstate="print"/>
          <a:srcRect/>
          <a:stretch>
            <a:fillRect/>
          </a:stretch>
        </p:blipFill>
        <p:spPr bwMode="auto">
          <a:xfrm>
            <a:off x="323528" y="188640"/>
            <a:ext cx="7704856" cy="2600325"/>
          </a:xfrm>
          <a:prstGeom prst="rect">
            <a:avLst/>
          </a:prstGeom>
          <a:noFill/>
          <a:ln w="9525">
            <a:noFill/>
            <a:miter lim="800000"/>
            <a:headEnd/>
            <a:tailEnd/>
          </a:ln>
        </p:spPr>
      </p:pic>
      <p:pic>
        <p:nvPicPr>
          <p:cNvPr id="26628" name="Picture 4"/>
          <p:cNvPicPr>
            <a:picLocks noChangeAspect="1" noChangeArrowheads="1"/>
          </p:cNvPicPr>
          <p:nvPr/>
        </p:nvPicPr>
        <p:blipFill>
          <a:blip r:embed="rId3" cstate="print"/>
          <a:srcRect/>
          <a:stretch>
            <a:fillRect/>
          </a:stretch>
        </p:blipFill>
        <p:spPr bwMode="auto">
          <a:xfrm>
            <a:off x="251520" y="2924944"/>
            <a:ext cx="8136904" cy="3096344"/>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58</a:t>
            </a:fld>
            <a:endParaRPr lang="en-GB"/>
          </a:p>
        </p:txBody>
      </p:sp>
      <p:pic>
        <p:nvPicPr>
          <p:cNvPr id="27651" name="Picture 3"/>
          <p:cNvPicPr>
            <a:picLocks noChangeAspect="1" noChangeArrowheads="1"/>
          </p:cNvPicPr>
          <p:nvPr/>
        </p:nvPicPr>
        <p:blipFill>
          <a:blip r:embed="rId3" cstate="print"/>
          <a:srcRect/>
          <a:stretch>
            <a:fillRect/>
          </a:stretch>
        </p:blipFill>
        <p:spPr bwMode="auto">
          <a:xfrm>
            <a:off x="467544" y="260648"/>
            <a:ext cx="7992888" cy="5616624"/>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59</a:t>
            </a:fld>
            <a:endParaRPr lang="en-GB"/>
          </a:p>
        </p:txBody>
      </p:sp>
      <p:pic>
        <p:nvPicPr>
          <p:cNvPr id="28674" name="Picture 2"/>
          <p:cNvPicPr>
            <a:picLocks noChangeAspect="1" noChangeArrowheads="1"/>
          </p:cNvPicPr>
          <p:nvPr/>
        </p:nvPicPr>
        <p:blipFill>
          <a:blip r:embed="rId2" cstate="print"/>
          <a:srcRect/>
          <a:stretch>
            <a:fillRect/>
          </a:stretch>
        </p:blipFill>
        <p:spPr bwMode="auto">
          <a:xfrm>
            <a:off x="395536" y="332656"/>
            <a:ext cx="8064896" cy="5688632"/>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60</a:t>
            </a:fld>
            <a:endParaRPr lang="en-GB"/>
          </a:p>
        </p:txBody>
      </p:sp>
      <p:pic>
        <p:nvPicPr>
          <p:cNvPr id="29698" name="Picture 2"/>
          <p:cNvPicPr>
            <a:picLocks noChangeAspect="1" noChangeArrowheads="1"/>
          </p:cNvPicPr>
          <p:nvPr/>
        </p:nvPicPr>
        <p:blipFill>
          <a:blip r:embed="rId2" cstate="print"/>
          <a:srcRect/>
          <a:stretch>
            <a:fillRect/>
          </a:stretch>
        </p:blipFill>
        <p:spPr bwMode="auto">
          <a:xfrm>
            <a:off x="323528" y="332656"/>
            <a:ext cx="8496944" cy="5904656"/>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61</a:t>
            </a:fld>
            <a:endParaRPr lang="en-GB"/>
          </a:p>
        </p:txBody>
      </p:sp>
      <p:pic>
        <p:nvPicPr>
          <p:cNvPr id="3" name="Picture 3"/>
          <p:cNvPicPr>
            <a:picLocks noChangeAspect="1" noChangeArrowheads="1"/>
          </p:cNvPicPr>
          <p:nvPr/>
        </p:nvPicPr>
        <p:blipFill>
          <a:blip r:embed="rId2" cstate="print"/>
          <a:srcRect/>
          <a:stretch>
            <a:fillRect/>
          </a:stretch>
        </p:blipFill>
        <p:spPr bwMode="auto">
          <a:xfrm>
            <a:off x="179512" y="1268760"/>
            <a:ext cx="8640960" cy="4248472"/>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62</a:t>
            </a:fld>
            <a:endParaRPr lang="en-GB"/>
          </a:p>
        </p:txBody>
      </p:sp>
      <p:pic>
        <p:nvPicPr>
          <p:cNvPr id="30722" name="Picture 2"/>
          <p:cNvPicPr>
            <a:picLocks noChangeAspect="1" noChangeArrowheads="1"/>
          </p:cNvPicPr>
          <p:nvPr/>
        </p:nvPicPr>
        <p:blipFill>
          <a:blip r:embed="rId2" cstate="print"/>
          <a:srcRect/>
          <a:stretch>
            <a:fillRect/>
          </a:stretch>
        </p:blipFill>
        <p:spPr bwMode="auto">
          <a:xfrm>
            <a:off x="539552" y="692696"/>
            <a:ext cx="8136904" cy="5328592"/>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63</a:t>
            </a:fld>
            <a:endParaRPr lang="en-GB"/>
          </a:p>
        </p:txBody>
      </p:sp>
      <p:pic>
        <p:nvPicPr>
          <p:cNvPr id="31746" name="Picture 2"/>
          <p:cNvPicPr>
            <a:picLocks noChangeAspect="1" noChangeArrowheads="1"/>
          </p:cNvPicPr>
          <p:nvPr/>
        </p:nvPicPr>
        <p:blipFill>
          <a:blip r:embed="rId2" cstate="print"/>
          <a:srcRect/>
          <a:stretch>
            <a:fillRect/>
          </a:stretch>
        </p:blipFill>
        <p:spPr bwMode="auto">
          <a:xfrm>
            <a:off x="251520" y="188640"/>
            <a:ext cx="8136904" cy="3240360"/>
          </a:xfrm>
          <a:prstGeom prst="rect">
            <a:avLst/>
          </a:prstGeom>
          <a:noFill/>
          <a:ln w="9525">
            <a:noFill/>
            <a:miter lim="800000"/>
            <a:headEnd/>
            <a:tailEnd/>
          </a:ln>
        </p:spPr>
      </p:pic>
      <p:pic>
        <p:nvPicPr>
          <p:cNvPr id="31747" name="Picture 3"/>
          <p:cNvPicPr>
            <a:picLocks noChangeAspect="1" noChangeArrowheads="1"/>
          </p:cNvPicPr>
          <p:nvPr/>
        </p:nvPicPr>
        <p:blipFill>
          <a:blip r:embed="rId3" cstate="print"/>
          <a:srcRect/>
          <a:stretch>
            <a:fillRect/>
          </a:stretch>
        </p:blipFill>
        <p:spPr bwMode="auto">
          <a:xfrm>
            <a:off x="899592" y="3140968"/>
            <a:ext cx="7488832" cy="324036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64</a:t>
            </a:fld>
            <a:endParaRPr lang="en-GB"/>
          </a:p>
        </p:txBody>
      </p:sp>
      <p:pic>
        <p:nvPicPr>
          <p:cNvPr id="32770" name="Picture 2"/>
          <p:cNvPicPr>
            <a:picLocks noChangeAspect="1" noChangeArrowheads="1"/>
          </p:cNvPicPr>
          <p:nvPr/>
        </p:nvPicPr>
        <p:blipFill>
          <a:blip r:embed="rId2" cstate="print"/>
          <a:srcRect/>
          <a:stretch>
            <a:fillRect/>
          </a:stretch>
        </p:blipFill>
        <p:spPr bwMode="auto">
          <a:xfrm>
            <a:off x="755576" y="332656"/>
            <a:ext cx="7776864" cy="5616624"/>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65</a:t>
            </a:fld>
            <a:endParaRPr lang="en-GB"/>
          </a:p>
        </p:txBody>
      </p:sp>
      <p:pic>
        <p:nvPicPr>
          <p:cNvPr id="33794" name="Picture 2"/>
          <p:cNvPicPr>
            <a:picLocks noChangeAspect="1" noChangeArrowheads="1"/>
          </p:cNvPicPr>
          <p:nvPr/>
        </p:nvPicPr>
        <p:blipFill>
          <a:blip r:embed="rId2" cstate="print"/>
          <a:srcRect/>
          <a:stretch>
            <a:fillRect/>
          </a:stretch>
        </p:blipFill>
        <p:spPr bwMode="auto">
          <a:xfrm>
            <a:off x="179512" y="1340768"/>
            <a:ext cx="8712968" cy="4968552"/>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66</a:t>
            </a:fld>
            <a:endParaRPr lang="en-GB"/>
          </a:p>
        </p:txBody>
      </p:sp>
      <p:pic>
        <p:nvPicPr>
          <p:cNvPr id="34818" name="Picture 2"/>
          <p:cNvPicPr>
            <a:picLocks noChangeAspect="1" noChangeArrowheads="1"/>
          </p:cNvPicPr>
          <p:nvPr/>
        </p:nvPicPr>
        <p:blipFill>
          <a:blip r:embed="rId3" cstate="print"/>
          <a:srcRect/>
          <a:stretch>
            <a:fillRect/>
          </a:stretch>
        </p:blipFill>
        <p:spPr bwMode="auto">
          <a:xfrm>
            <a:off x="323528" y="836712"/>
            <a:ext cx="8352928" cy="2880320"/>
          </a:xfrm>
          <a:prstGeom prst="rect">
            <a:avLst/>
          </a:prstGeom>
          <a:noFill/>
          <a:ln w="9525">
            <a:noFill/>
            <a:miter lim="800000"/>
            <a:headEnd/>
            <a:tailEnd/>
          </a:ln>
        </p:spPr>
      </p:pic>
      <p:pic>
        <p:nvPicPr>
          <p:cNvPr id="34819" name="Picture 3"/>
          <p:cNvPicPr>
            <a:picLocks noChangeAspect="1" noChangeArrowheads="1"/>
          </p:cNvPicPr>
          <p:nvPr/>
        </p:nvPicPr>
        <p:blipFill>
          <a:blip r:embed="rId4" cstate="print"/>
          <a:srcRect/>
          <a:stretch>
            <a:fillRect/>
          </a:stretch>
        </p:blipFill>
        <p:spPr bwMode="auto">
          <a:xfrm>
            <a:off x="395536" y="4005064"/>
            <a:ext cx="8136904" cy="2664296"/>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B15F4DED-9D0E-4FE2-8D45-C43843DD21EA}" type="slidenum">
              <a:rPr lang="en-GB" smtClean="0"/>
              <a:pPr>
                <a:defRPr/>
              </a:pPr>
              <a:t>67</a:t>
            </a:fld>
            <a:endParaRPr lang="en-GB"/>
          </a:p>
        </p:txBody>
      </p:sp>
      <p:pic>
        <p:nvPicPr>
          <p:cNvPr id="35842" name="Picture 2"/>
          <p:cNvPicPr>
            <a:picLocks noChangeAspect="1" noChangeArrowheads="1"/>
          </p:cNvPicPr>
          <p:nvPr/>
        </p:nvPicPr>
        <p:blipFill>
          <a:blip r:embed="rId3" cstate="print"/>
          <a:srcRect/>
          <a:stretch>
            <a:fillRect/>
          </a:stretch>
        </p:blipFill>
        <p:spPr bwMode="auto">
          <a:xfrm>
            <a:off x="251520" y="188640"/>
            <a:ext cx="8424936" cy="4392488"/>
          </a:xfrm>
          <a:prstGeom prst="rect">
            <a:avLst/>
          </a:prstGeom>
          <a:noFill/>
          <a:ln w="9525">
            <a:noFill/>
            <a:miter lim="800000"/>
            <a:headEnd/>
            <a:tailEnd/>
          </a:ln>
        </p:spPr>
      </p:pic>
      <p:pic>
        <p:nvPicPr>
          <p:cNvPr id="35843" name="Picture 3"/>
          <p:cNvPicPr>
            <a:picLocks noChangeAspect="1" noChangeArrowheads="1"/>
          </p:cNvPicPr>
          <p:nvPr/>
        </p:nvPicPr>
        <p:blipFill>
          <a:blip r:embed="rId4" cstate="print"/>
          <a:srcRect/>
          <a:stretch>
            <a:fillRect/>
          </a:stretch>
        </p:blipFill>
        <p:spPr bwMode="auto">
          <a:xfrm>
            <a:off x="323528" y="4653136"/>
            <a:ext cx="8136904" cy="2129408"/>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3067</TotalTime>
  <Words>6767</Words>
  <Application>Microsoft Office PowerPoint</Application>
  <PresentationFormat>On-screen Show (4:3)</PresentationFormat>
  <Paragraphs>461</Paragraphs>
  <Slides>67</Slides>
  <Notes>30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67</vt:i4>
      </vt:variant>
    </vt:vector>
  </HeadingPairs>
  <TitlesOfParts>
    <vt:vector size="76" baseType="lpstr">
      <vt:lpstr>Arial</vt:lpstr>
      <vt:lpstr>Calibri</vt:lpstr>
      <vt:lpstr>Courier New</vt:lpstr>
      <vt:lpstr>Roboto</vt:lpstr>
      <vt:lpstr>Tw Cen MT</vt:lpstr>
      <vt:lpstr>Tw Cen MT Condensed</vt:lpstr>
      <vt:lpstr>Wingdings</vt:lpstr>
      <vt:lpstr>Wingdings 3</vt:lpstr>
      <vt:lpstr>Integral</vt:lpstr>
      <vt:lpstr>AI Problem Solving</vt:lpstr>
      <vt:lpstr>Search and problem solving</vt:lpstr>
      <vt:lpstr>Search and problem solving (Cont.)</vt:lpstr>
      <vt:lpstr>Search and problem solving (Cont.)</vt:lpstr>
      <vt:lpstr>intro</vt:lpstr>
      <vt:lpstr>PROBLEM-SOLVING AGENTS</vt:lpstr>
      <vt:lpstr>PowerPoint Presentation</vt:lpstr>
      <vt:lpstr>PowerPoint Presentation</vt:lpstr>
      <vt:lpstr>PowerPoint Presentation</vt:lpstr>
      <vt:lpstr>Functionality of a problem</vt:lpstr>
      <vt:lpstr>Well-defined problems and solutions</vt:lpstr>
      <vt:lpstr>PowerPoint Presentation</vt:lpstr>
      <vt:lpstr>PowerPoint Presentation</vt:lpstr>
      <vt:lpstr>PowerPoint Presentation</vt:lpstr>
      <vt:lpstr>PowerPoint Presentation</vt:lpstr>
      <vt:lpstr>Formulating problems</vt:lpstr>
      <vt:lpstr>EXAMPLE 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Types</vt:lpstr>
      <vt:lpstr>PowerPoint Presentation</vt:lpstr>
      <vt:lpstr>PowerPoint Presentation</vt:lpstr>
      <vt:lpstr>PowerPoint Presentation</vt:lpstr>
      <vt:lpstr>PowerPoint Presentation</vt:lpstr>
      <vt:lpstr>Search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IDI, NTNU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Wande</dc:creator>
  <cp:lastModifiedBy>Siphokazi Tswane</cp:lastModifiedBy>
  <cp:revision>116</cp:revision>
  <dcterms:created xsi:type="dcterms:W3CDTF">2013-10-02T10:20:07Z</dcterms:created>
  <dcterms:modified xsi:type="dcterms:W3CDTF">2021-04-23T08:03:28Z</dcterms:modified>
</cp:coreProperties>
</file>