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F142-0EE7-47E1-B6A0-C842CFA6F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F0F17-8664-4560-975F-A328CB1A2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55275-4FC9-4D7F-8BA5-7003FEFB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B891-1FF7-482A-9867-E5A03EBF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2803-AD6A-4954-BA48-8575E66F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731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8755-B0FF-4D6E-9F0A-4A5EE988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06DCB-CD95-4E73-A9B7-227E9B91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D02A-ABA8-4AC0-B835-ED8C020B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DFEEF-5A58-4AE4-88DE-56AE1E048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C3B1-9195-4E78-96F1-637F3BE4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1500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70A5-EACA-45C3-B546-776973EC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04EF7-65F2-41F6-8905-5F4267EA7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724BE-C547-4948-8779-23C8D0F2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8849C-2F33-43DA-856F-330520CE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9CCF7-9EEF-4394-8629-72F9E88B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089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21E0-1BB4-446D-B8A0-CDD67C80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A8482-41D3-4ABC-AF7C-73278F4BB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81266-AA72-47AF-8AB5-24C7C2BB9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5315B-69D3-411D-A856-CF10C571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C5330-5596-489C-8C66-496D046E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230F0-B62A-4455-9865-C919F8CA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407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97FB-BF38-4DB9-9536-BAFB850E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84005-0602-418A-8A9D-8FB7E4218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2B904-D245-4C52-A4BB-D015A2332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D356C-215F-4E17-AD41-1671FB44C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D82B6-D615-4D27-B9DB-25E0EA8BB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860F4-CB7D-4E63-BCD1-DD79F6EB3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4BB4F-5ADC-416E-9BFC-60E71B8B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74C07-93C9-42DF-AFC6-554AA1B2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483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F2AC-B47E-421A-9352-D24DBE47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4A922-A3D1-4F1F-BA82-9290E8A61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B1316-E89F-4603-B9CF-839BD80A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B104E-3F22-41D0-93B4-197800C3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706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083DB-99D6-4E6A-84DF-158B58B3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0DC89-D4C9-41D3-959F-FCA685BB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6555E-72AD-4459-A02C-96EFBAF2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474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697D-ECA7-4EEA-A938-60414255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F008E-E0FF-40FF-AE7B-BE82130D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EEAD4-5BB5-41E6-99D5-113E36503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9CEE-5D2A-46CA-91C6-1AD557CC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F125F-45CA-4DC1-B5F0-C1F119076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806A5-14B8-40B2-BCE3-8EAF1E59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15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CD45-6C47-47E9-A4EF-CB7FFF51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A4EE1-ACE8-4584-847A-D44A8E25D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E16BF-959F-4E3B-B230-355D8991E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72B74-04BE-415D-BF1D-D3C7A98D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F3E23-359A-4C63-B099-5EA92339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8D158-7E0D-4C32-8D81-640E4217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85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9DCD-4A96-480E-A8F4-9CEC18A2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CE53A-081C-448E-96D6-B40DBD7E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4838-D821-4F16-B42F-0BCFF940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8884-833C-4F26-B561-EA84E111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7D613-0C0C-46B3-B138-9A012311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744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1385E-7E63-4B7D-9C8D-EA450FCF3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CBEBF-CDB6-4C67-9A8A-D2AFE7DC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92BBB-19BE-404E-B89C-8955FB50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9212-251A-411E-8C66-75CA6BB6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9AF12-974D-4719-9A21-ADF97DD7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488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781A6-9C57-425E-8D69-1332E5E6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A75D9-98B8-47CE-AE29-E98FFC59F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8CFF8-C764-4BD3-80B4-7622BDCC6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B2896-F9CC-4EC2-AB3E-69A0B4F2847D}" type="datetimeFigureOut">
              <a:rPr lang="en-ZA" smtClean="0"/>
              <a:t>2021/09/02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1FC43-094D-424F-A820-9E0777D06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C0FE-425D-4B6E-AA57-CCB0754A5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2156A-D991-47C8-9D9B-2314293754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930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D98CAC-3EFF-4342-BD5A-6C0E8CAB4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400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BB547-F4D3-4BE8-884E-1061484E9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659957"/>
          </a:xfrm>
        </p:spPr>
        <p:txBody>
          <a:bodyPr>
            <a:normAutofit/>
          </a:bodyPr>
          <a:lstStyle/>
          <a:p>
            <a:r>
              <a:rPr lang="en-ZA" sz="8000" b="1">
                <a:solidFill>
                  <a:srgbClr val="FFFFFF"/>
                </a:solidFill>
              </a:rPr>
              <a:t>Linear Regression Cont.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13084-BE53-41BB-86DE-9B3D7D422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368800"/>
            <a:ext cx="10515600" cy="1390650"/>
          </a:xfrm>
        </p:spPr>
        <p:txBody>
          <a:bodyPr>
            <a:normAutofit/>
          </a:bodyPr>
          <a:lstStyle/>
          <a:p>
            <a:r>
              <a:rPr lang="en-ZA" sz="3200" b="1" dirty="0"/>
              <a:t>2 September 2021</a:t>
            </a:r>
          </a:p>
        </p:txBody>
      </p:sp>
    </p:spTree>
    <p:extLst>
      <p:ext uri="{BB962C8B-B14F-4D97-AF65-F5344CB8AC3E}">
        <p14:creationId xmlns:p14="http://schemas.microsoft.com/office/powerpoint/2010/main" val="983084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5D0D1-E64F-4B00-BC32-3C3E66DA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466663-3C66-415B-96AD-E9C996E22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6225" y="408779"/>
            <a:ext cx="7744704" cy="62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41850D-C609-4D13-A9A4-12957CC8FAB7}"/>
              </a:ext>
            </a:extLst>
          </p:cNvPr>
          <p:cNvSpPr/>
          <p:nvPr/>
        </p:nvSpPr>
        <p:spPr>
          <a:xfrm>
            <a:off x="4426226" y="478302"/>
            <a:ext cx="2902226" cy="1042028"/>
          </a:xfrm>
          <a:prstGeom prst="rec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 dirty="0"/>
              <a:t>LINEAR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6C4CF3-97C0-43D2-A52C-84B83AF683DE}"/>
              </a:ext>
            </a:extLst>
          </p:cNvPr>
          <p:cNvSpPr/>
          <p:nvPr/>
        </p:nvSpPr>
        <p:spPr>
          <a:xfrm>
            <a:off x="1073426" y="2739885"/>
            <a:ext cx="2849217" cy="13682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SIMPLE LR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1C1CA2-3022-4CAE-989F-94735A577CD0}"/>
              </a:ext>
            </a:extLst>
          </p:cNvPr>
          <p:cNvSpPr/>
          <p:nvPr/>
        </p:nvSpPr>
        <p:spPr>
          <a:xfrm>
            <a:off x="8269358" y="2739886"/>
            <a:ext cx="2690190" cy="136828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MULTIPLE LR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95EE04-518F-4AF9-A316-6D67F404136E}"/>
              </a:ext>
            </a:extLst>
          </p:cNvPr>
          <p:cNvCxnSpPr>
            <a:cxnSpLocks/>
          </p:cNvCxnSpPr>
          <p:nvPr/>
        </p:nvCxnSpPr>
        <p:spPr>
          <a:xfrm flipH="1">
            <a:off x="2498035" y="1520330"/>
            <a:ext cx="3185313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FCD8D4-4AB0-4A3A-83B0-5D9509748C9D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5877339" y="1520330"/>
            <a:ext cx="3737114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5689BB-6856-4870-A2C0-014D507B9FA2}"/>
              </a:ext>
            </a:extLst>
          </p:cNvPr>
          <p:cNvSpPr/>
          <p:nvPr/>
        </p:nvSpPr>
        <p:spPr>
          <a:xfrm>
            <a:off x="1071386" y="4994031"/>
            <a:ext cx="2849217" cy="13682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Describes the relationship between </a:t>
            </a:r>
            <a:r>
              <a:rPr lang="en-ZA" b="1" dirty="0"/>
              <a:t>independent</a:t>
            </a:r>
            <a:r>
              <a:rPr lang="en-ZA" dirty="0"/>
              <a:t> and </a:t>
            </a:r>
            <a:r>
              <a:rPr lang="en-ZA" b="1" dirty="0"/>
              <a:t>dependant</a:t>
            </a:r>
            <a:r>
              <a:rPr lang="en-ZA" dirty="0"/>
              <a:t> variable.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A8B54A-2D20-4693-9478-0237EB958C98}"/>
              </a:ext>
            </a:extLst>
          </p:cNvPr>
          <p:cNvSpPr/>
          <p:nvPr/>
        </p:nvSpPr>
        <p:spPr>
          <a:xfrm>
            <a:off x="8269358" y="4994030"/>
            <a:ext cx="2690189" cy="13682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ZA" dirty="0"/>
              <a:t>Estimates relationship between </a:t>
            </a:r>
            <a:r>
              <a:rPr lang="en-ZA" b="1" dirty="0"/>
              <a:t>2 or more independent </a:t>
            </a:r>
            <a:r>
              <a:rPr lang="en-ZA" dirty="0"/>
              <a:t>variables and </a:t>
            </a:r>
            <a:r>
              <a:rPr lang="en-ZA" b="1" dirty="0"/>
              <a:t>1 dependant </a:t>
            </a:r>
            <a:r>
              <a:rPr lang="en-ZA" dirty="0"/>
              <a:t>variables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1DDA60-38CC-4CCF-914F-8DD2BE498CE9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 flipH="1">
            <a:off x="2495995" y="4108172"/>
            <a:ext cx="2040" cy="885859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15AC14-84E7-4884-881E-3CAEE7A71525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9614453" y="4108172"/>
            <a:ext cx="0" cy="885858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5D2ED88-26AC-42C0-A788-08E7E5A1D2B4}"/>
              </a:ext>
            </a:extLst>
          </p:cNvPr>
          <p:cNvSpPr/>
          <p:nvPr/>
        </p:nvSpPr>
        <p:spPr>
          <a:xfrm>
            <a:off x="1073425" y="2739884"/>
            <a:ext cx="2849217" cy="13682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SIMPLE LR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BA0341-C38A-4E8F-B96B-1ED5FAC9A4C2}"/>
              </a:ext>
            </a:extLst>
          </p:cNvPr>
          <p:cNvSpPr/>
          <p:nvPr/>
        </p:nvSpPr>
        <p:spPr>
          <a:xfrm>
            <a:off x="8269357" y="2749829"/>
            <a:ext cx="2690190" cy="136828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MULTIPLE LR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A57E4C-E3F9-46E0-B2AB-372B0F4DFD61}"/>
              </a:ext>
            </a:extLst>
          </p:cNvPr>
          <p:cNvCxnSpPr>
            <a:cxnSpLocks/>
          </p:cNvCxnSpPr>
          <p:nvPr/>
        </p:nvCxnSpPr>
        <p:spPr>
          <a:xfrm flipH="1">
            <a:off x="2498034" y="1520329"/>
            <a:ext cx="3185313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E1D267-9E63-4EC2-A272-D7D620E8323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877338" y="1530273"/>
            <a:ext cx="3737114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0A3593-04B2-4CFC-92E3-928238E7AFB4}"/>
              </a:ext>
            </a:extLst>
          </p:cNvPr>
          <p:cNvSpPr/>
          <p:nvPr/>
        </p:nvSpPr>
        <p:spPr>
          <a:xfrm>
            <a:off x="1071385" y="4994030"/>
            <a:ext cx="2849217" cy="13682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Describes the relationship between </a:t>
            </a:r>
            <a:r>
              <a:rPr lang="en-ZA" b="1" dirty="0"/>
              <a:t>independent</a:t>
            </a:r>
            <a:r>
              <a:rPr lang="en-ZA" dirty="0"/>
              <a:t> and </a:t>
            </a:r>
            <a:r>
              <a:rPr lang="en-ZA" b="1" dirty="0"/>
              <a:t>dependant</a:t>
            </a:r>
            <a:r>
              <a:rPr lang="en-ZA" dirty="0"/>
              <a:t> variable. </a:t>
            </a:r>
          </a:p>
        </p:txBody>
      </p:sp>
    </p:spTree>
    <p:extLst>
      <p:ext uri="{BB962C8B-B14F-4D97-AF65-F5344CB8AC3E}">
        <p14:creationId xmlns:p14="http://schemas.microsoft.com/office/powerpoint/2010/main" val="381147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220C26-24A1-4E48-B268-5F5DD17F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753" y="2929620"/>
            <a:ext cx="4170025" cy="3206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1C1D1C-D5EC-452C-BCA4-8611B638F8DA}"/>
              </a:ext>
            </a:extLst>
          </p:cNvPr>
          <p:cNvSpPr txBox="1"/>
          <p:nvPr/>
        </p:nvSpPr>
        <p:spPr>
          <a:xfrm>
            <a:off x="968581" y="444608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/>
              <a:t>Linear Regression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256B8-26C9-4A12-B053-62FCDBAFFF51}"/>
              </a:ext>
            </a:extLst>
          </p:cNvPr>
          <p:cNvSpPr txBox="1"/>
          <p:nvPr/>
        </p:nvSpPr>
        <p:spPr>
          <a:xfrm>
            <a:off x="874643" y="1401664"/>
            <a:ext cx="106282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Shows linear relationship between a dependent (y) and one or more independent (x) variables, hence called as linear regression.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933F79-65C1-4BCB-B413-76A72549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43" y="5974836"/>
            <a:ext cx="2188654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0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4EA18F-0481-4DC3-A918-5892C1F7D2A6}"/>
              </a:ext>
            </a:extLst>
          </p:cNvPr>
          <p:cNvSpPr txBox="1"/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kern="1200" dirty="0">
                <a:solidFill>
                  <a:schemeClr val="tx1"/>
                </a:solidFill>
                <a:ea typeface="+mj-ea"/>
                <a:cs typeface="+mj-cs"/>
              </a:rPr>
              <a:t>Simple Linear Regression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kern="1200" dirty="0">
                <a:solidFill>
                  <a:schemeClr val="tx1"/>
                </a:solidFill>
                <a:ea typeface="+mj-ea"/>
                <a:cs typeface="+mj-cs"/>
              </a:rPr>
              <a:t>Example of visual OUTPUT of a Test data set.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0E346-B98B-43A6-A4DA-D36FF6328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2938" y="-6032938"/>
            <a:ext cx="126124" cy="12192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1C346-F348-405C-85D0-65FE844A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53" y="1863801"/>
            <a:ext cx="7162493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0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847E0B-1068-4EA6-A51A-D958CC800ACD}"/>
              </a:ext>
            </a:extLst>
          </p:cNvPr>
          <p:cNvSpPr txBox="1"/>
          <p:nvPr/>
        </p:nvSpPr>
        <p:spPr>
          <a:xfrm>
            <a:off x="813112" y="797052"/>
            <a:ext cx="10877141" cy="7690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ea typeface="+mj-ea"/>
                <a:cs typeface="+mj-cs"/>
              </a:rPr>
              <a:t>Multiple Linear Regression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127454-05ED-4566-85B8-9B19E8D6D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2938" y="-6032938"/>
            <a:ext cx="126124" cy="12192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D2E5B-990B-42E2-A3BB-B7A451590884}"/>
              </a:ext>
            </a:extLst>
          </p:cNvPr>
          <p:cNvSpPr txBox="1"/>
          <p:nvPr/>
        </p:nvSpPr>
        <p:spPr>
          <a:xfrm>
            <a:off x="813112" y="1803605"/>
            <a:ext cx="10331966" cy="372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Relationship </a:t>
            </a:r>
            <a:r>
              <a:rPr lang="en-US" sz="2400" b="1" dirty="0"/>
              <a:t>two or more independent </a:t>
            </a:r>
            <a:r>
              <a:rPr lang="en-US" sz="2400" dirty="0"/>
              <a:t>variables and </a:t>
            </a:r>
            <a:r>
              <a:rPr lang="en-US" sz="2400" b="1" dirty="0"/>
              <a:t>one dependent variable</a:t>
            </a:r>
          </a:p>
          <a:p>
            <a:pPr lvl="1"/>
            <a:r>
              <a:rPr lang="en-US" sz="2400" b="1" dirty="0"/>
              <a:t>Example: </a:t>
            </a:r>
            <a:r>
              <a:rPr lang="en-US" sz="2400" dirty="0"/>
              <a:t>How can rainfall, temperature, and amount of fertilizer effect crop growth.</a:t>
            </a:r>
          </a:p>
          <a:p>
            <a:pPr lvl="1"/>
            <a:r>
              <a:rPr lang="en-US" sz="2400" b="1" dirty="0"/>
              <a:t>Example: </a:t>
            </a:r>
            <a:r>
              <a:rPr lang="en-US" sz="2400" dirty="0"/>
              <a:t>The expected yield of a crop at certain levels of rainfall, temperature, and fertilizer.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Two types of Multiple LR: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Linear – straight line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Non-Linear – not straight line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5081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AF60CE-958B-4559-A789-446EACE3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650756"/>
            <a:ext cx="7226162" cy="4723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1A4DA5-850A-4049-982B-83ACD0C5BF3E}"/>
              </a:ext>
            </a:extLst>
          </p:cNvPr>
          <p:cNvSpPr txBox="1"/>
          <p:nvPr/>
        </p:nvSpPr>
        <p:spPr>
          <a:xfrm>
            <a:off x="902319" y="483528"/>
            <a:ext cx="92488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Multiple Linear Regression cont.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Visualizing the results in a graph</a:t>
            </a:r>
          </a:p>
        </p:txBody>
      </p:sp>
    </p:spTree>
    <p:extLst>
      <p:ext uri="{BB962C8B-B14F-4D97-AF65-F5344CB8AC3E}">
        <p14:creationId xmlns:p14="http://schemas.microsoft.com/office/powerpoint/2010/main" val="102844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ED721F-99DF-4B81-B38C-BAA50D4BAC4A}"/>
              </a:ext>
            </a:extLst>
          </p:cNvPr>
          <p:cNvSpPr/>
          <p:nvPr/>
        </p:nvSpPr>
        <p:spPr>
          <a:xfrm>
            <a:off x="4426226" y="478302"/>
            <a:ext cx="2902226" cy="1042028"/>
          </a:xfrm>
          <a:prstGeom prst="rec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 dirty="0"/>
              <a:t>CLASSIFICATION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05B9296-A9A8-4417-8815-869E36D72801}"/>
              </a:ext>
            </a:extLst>
          </p:cNvPr>
          <p:cNvCxnSpPr>
            <a:cxnSpLocks/>
          </p:cNvCxnSpPr>
          <p:nvPr/>
        </p:nvCxnSpPr>
        <p:spPr>
          <a:xfrm flipH="1">
            <a:off x="2498034" y="1520329"/>
            <a:ext cx="3185313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21B42F-1293-43F5-A5D3-4A861749C8F5}"/>
              </a:ext>
            </a:extLst>
          </p:cNvPr>
          <p:cNvCxnSpPr>
            <a:cxnSpLocks/>
          </p:cNvCxnSpPr>
          <p:nvPr/>
        </p:nvCxnSpPr>
        <p:spPr>
          <a:xfrm>
            <a:off x="5877338" y="1520329"/>
            <a:ext cx="3737114" cy="121955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FE8EAFE-5107-45AC-BABA-871E81D9A388}"/>
              </a:ext>
            </a:extLst>
          </p:cNvPr>
          <p:cNvSpPr/>
          <p:nvPr/>
        </p:nvSpPr>
        <p:spPr>
          <a:xfrm>
            <a:off x="1073425" y="2739884"/>
            <a:ext cx="2849217" cy="13682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Binary Classifier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1E055A-5B06-4049-88DD-A8CE0DAA9711}"/>
              </a:ext>
            </a:extLst>
          </p:cNvPr>
          <p:cNvSpPr/>
          <p:nvPr/>
        </p:nvSpPr>
        <p:spPr>
          <a:xfrm>
            <a:off x="8269357" y="2749829"/>
            <a:ext cx="2690190" cy="136828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tx1"/>
                </a:solidFill>
              </a:rPr>
              <a:t>Multi-class Classifier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C45436-B081-494D-AE99-D4CD69F9FF76}"/>
              </a:ext>
            </a:extLst>
          </p:cNvPr>
          <p:cNvCxnSpPr>
            <a:cxnSpLocks/>
          </p:cNvCxnSpPr>
          <p:nvPr/>
        </p:nvCxnSpPr>
        <p:spPr>
          <a:xfrm flipH="1">
            <a:off x="2495995" y="4108172"/>
            <a:ext cx="2040" cy="885859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A0D5C8-9145-4368-853A-79BEC116C935}"/>
              </a:ext>
            </a:extLst>
          </p:cNvPr>
          <p:cNvCxnSpPr>
            <a:cxnSpLocks/>
          </p:cNvCxnSpPr>
          <p:nvPr/>
        </p:nvCxnSpPr>
        <p:spPr>
          <a:xfrm>
            <a:off x="9614453" y="4108172"/>
            <a:ext cx="0" cy="885858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758445-733D-44C4-B131-13563818C412}"/>
              </a:ext>
            </a:extLst>
          </p:cNvPr>
          <p:cNvSpPr/>
          <p:nvPr/>
        </p:nvSpPr>
        <p:spPr>
          <a:xfrm>
            <a:off x="1071385" y="4994030"/>
            <a:ext cx="2849217" cy="169831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 has only two possible outcomes.</a:t>
            </a:r>
          </a:p>
          <a:p>
            <a:pPr algn="ctr"/>
            <a:r>
              <a:rPr lang="en-US" b="1" dirty="0"/>
              <a:t>e.g., Yes or No, Male or Female</a:t>
            </a:r>
            <a:endParaRPr lang="en-ZA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7DCC4C-5D6F-4BAD-BB02-A59B7EB53899}"/>
              </a:ext>
            </a:extLst>
          </p:cNvPr>
          <p:cNvSpPr/>
          <p:nvPr/>
        </p:nvSpPr>
        <p:spPr>
          <a:xfrm>
            <a:off x="8269358" y="4994030"/>
            <a:ext cx="2690189" cy="169831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Problem has more than two outcomes.</a:t>
            </a:r>
          </a:p>
          <a:p>
            <a:r>
              <a:rPr lang="en-US" b="1" dirty="0"/>
              <a:t>e.g., Classification of types of crops, classification of types of music.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45663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E053-B7B5-48E7-A964-CD94A9A0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832"/>
          </a:xfrm>
        </p:spPr>
        <p:txBody>
          <a:bodyPr>
            <a:normAutofit/>
          </a:bodyPr>
          <a:lstStyle/>
          <a:p>
            <a:pPr algn="ctr"/>
            <a:r>
              <a:rPr lang="en-ZA" sz="3200" b="1" dirty="0">
                <a:latin typeface="+mn-lt"/>
              </a:rPr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97A4-3EBE-4AFA-AC81-E037ACA99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10515600" cy="50107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Predict the categorical values</a:t>
            </a:r>
          </a:p>
          <a:p>
            <a:pPr>
              <a:lnSpc>
                <a:spcPct val="150000"/>
              </a:lnSpc>
            </a:pPr>
            <a:r>
              <a:rPr lang="en-US" dirty="0"/>
              <a:t>Program learns from the given dataset or observations and then classifies new observation into several classes or groups.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E.g., Yes or No, Spam or Not Spam</a:t>
            </a:r>
          </a:p>
          <a:p>
            <a:pPr>
              <a:lnSpc>
                <a:spcPct val="150000"/>
              </a:lnSpc>
            </a:pPr>
            <a:r>
              <a:rPr lang="en-US" dirty="0"/>
              <a:t>Classes are called targets/labels or categories.</a:t>
            </a:r>
          </a:p>
          <a:p>
            <a:pPr>
              <a:lnSpc>
                <a:spcPct val="150000"/>
              </a:lnSpc>
            </a:pPr>
            <a:r>
              <a:rPr lang="en-US" dirty="0"/>
              <a:t>y=f(x), where y = categorical output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0308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97A66C-77F7-4424-B32D-2872FD419657}"/>
              </a:ext>
            </a:extLst>
          </p:cNvPr>
          <p:cNvSpPr txBox="1"/>
          <p:nvPr/>
        </p:nvSpPr>
        <p:spPr>
          <a:xfrm>
            <a:off x="728868" y="512373"/>
            <a:ext cx="112908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/>
              <a:t>Learners in Classification Problems: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dirty="0"/>
              <a:t>Two types: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A" sz="2400" dirty="0"/>
              <a:t>Lazy Learners - </a:t>
            </a:r>
            <a:r>
              <a:rPr lang="en-US" sz="2400" dirty="0"/>
              <a:t>stores the training dataset and wait until it receives the test dataset</a:t>
            </a:r>
            <a:endParaRPr lang="en-ZA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A" sz="2400" dirty="0"/>
              <a:t>Eager Learners - </a:t>
            </a:r>
            <a:r>
              <a:rPr lang="en-US" sz="2400" dirty="0"/>
              <a:t>develop a classification model based on a training dataset before receiving a test dataset</a:t>
            </a:r>
            <a:endParaRPr lang="en-ZA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ADBF4-6C27-42DA-977B-33912FAE20ED}"/>
              </a:ext>
            </a:extLst>
          </p:cNvPr>
          <p:cNvSpPr txBox="1"/>
          <p:nvPr/>
        </p:nvSpPr>
        <p:spPr>
          <a:xfrm>
            <a:off x="728868" y="27822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Types of ML Classification Algorithms:</a:t>
            </a:r>
            <a:endParaRPr lang="en-ZA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444F5-1124-4772-AFC9-8EFFDB545FEA}"/>
              </a:ext>
            </a:extLst>
          </p:cNvPr>
          <p:cNvSpPr txBox="1"/>
          <p:nvPr/>
        </p:nvSpPr>
        <p:spPr>
          <a:xfrm>
            <a:off x="728868" y="3267091"/>
            <a:ext cx="887895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ZA" sz="2400" i="0" dirty="0">
                <a:solidFill>
                  <a:srgbClr val="000000"/>
                </a:solidFill>
                <a:effectLst/>
              </a:rPr>
              <a:t>Linear Models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Logistic Regression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Support Vector Machines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ZA" sz="2400" i="0" dirty="0">
                <a:solidFill>
                  <a:srgbClr val="000000"/>
                </a:solidFill>
                <a:effectLst/>
              </a:rPr>
              <a:t>Non-linear Models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K-Nearest Neighbours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Kernel SVM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Naïve Bayes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Decision Tree Classification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ZA" sz="2000" b="0" i="0" dirty="0">
                <a:solidFill>
                  <a:srgbClr val="000000"/>
                </a:solidFill>
                <a:effectLst/>
              </a:rPr>
              <a:t>Random Forest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30941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A1051-5420-4DFE-B6D0-95ABBE2F5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96" y="1628775"/>
            <a:ext cx="7470291" cy="3600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E2F80-ABEC-4DDB-B3D9-D4D1A2973924}"/>
              </a:ext>
            </a:extLst>
          </p:cNvPr>
          <p:cNvSpPr txBox="1"/>
          <p:nvPr/>
        </p:nvSpPr>
        <p:spPr>
          <a:xfrm>
            <a:off x="1233624" y="656643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dirty="0"/>
              <a:t>Regression vs.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C818D-0C11-4423-BFC5-8565FE89D10F}"/>
              </a:ext>
            </a:extLst>
          </p:cNvPr>
          <p:cNvSpPr txBox="1"/>
          <p:nvPr/>
        </p:nvSpPr>
        <p:spPr>
          <a:xfrm>
            <a:off x="6096000" y="5059948"/>
            <a:ext cx="2968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b="1" dirty="0"/>
              <a:t>Predict the continuous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0FA37-041B-48A7-8B3C-EA4B433352AF}"/>
              </a:ext>
            </a:extLst>
          </p:cNvPr>
          <p:cNvSpPr txBox="1"/>
          <p:nvPr/>
        </p:nvSpPr>
        <p:spPr>
          <a:xfrm>
            <a:off x="2171389" y="5062692"/>
            <a:ext cx="3366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Predict/Classify the discrete values</a:t>
            </a:r>
            <a:endParaRPr lang="en-ZA" sz="1600" b="1" dirty="0"/>
          </a:p>
        </p:txBody>
      </p:sp>
    </p:spTree>
    <p:extLst>
      <p:ext uri="{BB962C8B-B14F-4D97-AF65-F5344CB8AC3E}">
        <p14:creationId xmlns:p14="http://schemas.microsoft.com/office/powerpoint/2010/main" val="11194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346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Linear Regression Cont.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Madaniyah Mohamed</dc:creator>
  <cp:lastModifiedBy>Madaniyah Mohamed</cp:lastModifiedBy>
  <cp:revision>18</cp:revision>
  <dcterms:created xsi:type="dcterms:W3CDTF">2021-08-30T18:24:22Z</dcterms:created>
  <dcterms:modified xsi:type="dcterms:W3CDTF">2021-09-02T05:45:09Z</dcterms:modified>
</cp:coreProperties>
</file>