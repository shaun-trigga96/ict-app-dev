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58" r:id="rId4"/>
    <p:sldId id="259" r:id="rId5"/>
    <p:sldId id="260" r:id="rId6"/>
    <p:sldId id="261" r:id="rId7"/>
    <p:sldId id="262" r:id="rId8"/>
    <p:sldId id="263" r:id="rId9"/>
    <p:sldId id="264" r:id="rId10"/>
    <p:sldId id="265"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266" r:id="rId26"/>
    <p:sldId id="267" r:id="rId27"/>
    <p:sldId id="272" r:id="rId28"/>
    <p:sldId id="273" r:id="rId29"/>
    <p:sldId id="275" r:id="rId30"/>
    <p:sldId id="276" r:id="rId31"/>
    <p:sldId id="277" r:id="rId32"/>
    <p:sldId id="274" r:id="rId33"/>
    <p:sldId id="268" r:id="rId34"/>
    <p:sldId id="270" r:id="rId35"/>
    <p:sldId id="269" r:id="rId36"/>
    <p:sldId id="284" r:id="rId37"/>
    <p:sldId id="271" r:id="rId38"/>
    <p:sldId id="278" r:id="rId39"/>
    <p:sldId id="279" r:id="rId40"/>
    <p:sldId id="280" r:id="rId41"/>
    <p:sldId id="281" r:id="rId42"/>
    <p:sldId id="282" r:id="rId43"/>
    <p:sldId id="283" r:id="rId44"/>
    <p:sldId id="285" r:id="rId45"/>
    <p:sldId id="286" r:id="rId46"/>
    <p:sldId id="287" r:id="rId47"/>
    <p:sldId id="288" r:id="rId48"/>
    <p:sldId id="289" r:id="rId49"/>
    <p:sldId id="290" r:id="rId50"/>
    <p:sldId id="291" r:id="rId51"/>
    <p:sldId id="292" r:id="rId52"/>
    <p:sldId id="293" r:id="rId53"/>
    <p:sldId id="294"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13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CEDC8B4-0A3A-4DBC-9124-A4272AB506A8}" type="datetimeFigureOut">
              <a:rPr lang="en-ZA" smtClean="0"/>
              <a:t>2021/11/05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158068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EDC8B4-0A3A-4DBC-9124-A4272AB506A8}" type="datetimeFigureOut">
              <a:rPr lang="en-ZA" smtClean="0"/>
              <a:t>2021/11/05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51229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EDC8B4-0A3A-4DBC-9124-A4272AB506A8}" type="datetimeFigureOut">
              <a:rPr lang="en-ZA" smtClean="0"/>
              <a:t>2021/11/05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48402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EDC8B4-0A3A-4DBC-9124-A4272AB506A8}" type="datetimeFigureOut">
              <a:rPr lang="en-ZA" smtClean="0"/>
              <a:t>2021/11/05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3223479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EDC8B4-0A3A-4DBC-9124-A4272AB506A8}" type="datetimeFigureOut">
              <a:rPr lang="en-ZA" smtClean="0"/>
              <a:t>2021/11/05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2338876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EDC8B4-0A3A-4DBC-9124-A4272AB506A8}" type="datetimeFigureOut">
              <a:rPr lang="en-ZA" smtClean="0"/>
              <a:t>2021/11/05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892726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EDC8B4-0A3A-4DBC-9124-A4272AB506A8}" type="datetimeFigureOut">
              <a:rPr lang="en-ZA" smtClean="0"/>
              <a:t>2021/11/05</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3468974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EDC8B4-0A3A-4DBC-9124-A4272AB506A8}" type="datetimeFigureOut">
              <a:rPr lang="en-ZA" smtClean="0"/>
              <a:t>2021/11/05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2974056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EDC8B4-0A3A-4DBC-9124-A4272AB506A8}" type="datetimeFigureOut">
              <a:rPr lang="en-ZA" smtClean="0"/>
              <a:t>2021/11/05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678849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EDC8B4-0A3A-4DBC-9124-A4272AB506A8}" type="datetimeFigureOut">
              <a:rPr lang="en-ZA" smtClean="0"/>
              <a:t>2021/11/05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1467102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EDC8B4-0A3A-4DBC-9124-A4272AB506A8}" type="datetimeFigureOut">
              <a:rPr lang="en-ZA" smtClean="0"/>
              <a:t>2021/11/05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901D26F5-4783-4F67-83E4-CC0FE168ECBC}" type="slidenum">
              <a:rPr lang="en-ZA" smtClean="0"/>
              <a:t>‹#›</a:t>
            </a:fld>
            <a:endParaRPr lang="en-ZA"/>
          </a:p>
        </p:txBody>
      </p:sp>
    </p:spTree>
    <p:extLst>
      <p:ext uri="{BB962C8B-B14F-4D97-AF65-F5344CB8AC3E}">
        <p14:creationId xmlns:p14="http://schemas.microsoft.com/office/powerpoint/2010/main" val="2796900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EDC8B4-0A3A-4DBC-9124-A4272AB506A8}" type="datetimeFigureOut">
              <a:rPr lang="en-ZA" smtClean="0"/>
              <a:t>2021/11/05</a:t>
            </a:fld>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1D26F5-4783-4F67-83E4-CC0FE168ECBC}" type="slidenum">
              <a:rPr lang="en-ZA" smtClean="0"/>
              <a:t>‹#›</a:t>
            </a:fld>
            <a:endParaRPr lang="en-ZA"/>
          </a:p>
        </p:txBody>
      </p:sp>
    </p:spTree>
    <p:extLst>
      <p:ext uri="{BB962C8B-B14F-4D97-AF65-F5344CB8AC3E}">
        <p14:creationId xmlns:p14="http://schemas.microsoft.com/office/powerpoint/2010/main" val="3436490769"/>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A004-7226-4BFA-BDB4-4E20AA628280}"/>
              </a:ext>
            </a:extLst>
          </p:cNvPr>
          <p:cNvSpPr>
            <a:spLocks noGrp="1"/>
          </p:cNvSpPr>
          <p:nvPr>
            <p:ph type="ctrTitle"/>
          </p:nvPr>
        </p:nvSpPr>
        <p:spPr>
          <a:xfrm>
            <a:off x="1524000" y="868362"/>
            <a:ext cx="9144000" cy="2387600"/>
          </a:xfrm>
        </p:spPr>
        <p:txBody>
          <a:bodyPr>
            <a:normAutofit/>
          </a:bodyPr>
          <a:lstStyle/>
          <a:p>
            <a:r>
              <a:rPr lang="en-ZA" sz="5400">
                <a:latin typeface="+mn-lt"/>
              </a:rPr>
              <a:t>QUANTIFYING UNCERTAINTY </a:t>
            </a:r>
            <a:endParaRPr lang="en-ZA" sz="5400" dirty="0">
              <a:latin typeface="+mn-lt"/>
            </a:endParaRPr>
          </a:p>
        </p:txBody>
      </p:sp>
      <p:sp>
        <p:nvSpPr>
          <p:cNvPr id="3" name="Subtitle 2">
            <a:extLst>
              <a:ext uri="{FF2B5EF4-FFF2-40B4-BE49-F238E27FC236}">
                <a16:creationId xmlns:a16="http://schemas.microsoft.com/office/drawing/2014/main" id="{5E52AEED-BC0F-4E9B-9FEC-430D4ADEEECC}"/>
              </a:ext>
            </a:extLst>
          </p:cNvPr>
          <p:cNvSpPr>
            <a:spLocks noGrp="1"/>
          </p:cNvSpPr>
          <p:nvPr>
            <p:ph type="subTitle" idx="1"/>
          </p:nvPr>
        </p:nvSpPr>
        <p:spPr/>
        <p:txBody>
          <a:bodyPr>
            <a:normAutofit/>
          </a:bodyPr>
          <a:lstStyle/>
          <a:p>
            <a:r>
              <a:rPr lang="en-ZA" sz="4400"/>
              <a:t>(CHAPTER 13, Russell &amp; Norvig)</a:t>
            </a:r>
          </a:p>
          <a:p>
            <a:endParaRPr lang="en-ZA" sz="4400" dirty="0"/>
          </a:p>
        </p:txBody>
      </p:sp>
    </p:spTree>
    <p:extLst>
      <p:ext uri="{BB962C8B-B14F-4D97-AF65-F5344CB8AC3E}">
        <p14:creationId xmlns:p14="http://schemas.microsoft.com/office/powerpoint/2010/main" val="900039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927C-1722-45C0-BA8A-F2CEEDFD9C8C}"/>
              </a:ext>
            </a:extLst>
          </p:cNvPr>
          <p:cNvSpPr>
            <a:spLocks noGrp="1"/>
          </p:cNvSpPr>
          <p:nvPr>
            <p:ph type="title"/>
          </p:nvPr>
        </p:nvSpPr>
        <p:spPr/>
        <p:txBody>
          <a:bodyPr/>
          <a:lstStyle/>
          <a:p>
            <a:pPr algn="ctr"/>
            <a:r>
              <a:rPr lang="en-ZA" b="1">
                <a:latin typeface="+mn-lt"/>
              </a:rPr>
              <a:t>This Lecture</a:t>
            </a:r>
            <a:endParaRPr lang="en-ZA" b="1" dirty="0">
              <a:latin typeface="+mn-lt"/>
            </a:endParaRPr>
          </a:p>
        </p:txBody>
      </p:sp>
      <p:sp>
        <p:nvSpPr>
          <p:cNvPr id="3" name="Content Placeholder 2">
            <a:extLst>
              <a:ext uri="{FF2B5EF4-FFF2-40B4-BE49-F238E27FC236}">
                <a16:creationId xmlns:a16="http://schemas.microsoft.com/office/drawing/2014/main" id="{861A472D-F74C-48B7-B797-ACB5E9D8ED49}"/>
              </a:ext>
            </a:extLst>
          </p:cNvPr>
          <p:cNvSpPr>
            <a:spLocks noGrp="1"/>
          </p:cNvSpPr>
          <p:nvPr>
            <p:ph idx="1"/>
          </p:nvPr>
        </p:nvSpPr>
        <p:spPr/>
        <p:txBody>
          <a:bodyPr/>
          <a:lstStyle/>
          <a:p>
            <a:r>
              <a:rPr lang="en-US"/>
              <a:t>Uncertainty</a:t>
            </a:r>
          </a:p>
          <a:p>
            <a:r>
              <a:rPr lang="en-US"/>
              <a:t>Probability</a:t>
            </a:r>
          </a:p>
          <a:p>
            <a:r>
              <a:rPr lang="en-US"/>
              <a:t>Syntax</a:t>
            </a:r>
          </a:p>
          <a:p>
            <a:r>
              <a:rPr lang="en-US"/>
              <a:t>Semantics</a:t>
            </a:r>
          </a:p>
          <a:p>
            <a:r>
              <a:rPr lang="en-US"/>
              <a:t>Inference rules</a:t>
            </a:r>
          </a:p>
          <a:p>
            <a:r>
              <a:rPr lang="en-US"/>
              <a:t>How to build a Naïve Bayes classifier</a:t>
            </a:r>
          </a:p>
          <a:p>
            <a:endParaRPr lang="en-ZA" dirty="0"/>
          </a:p>
        </p:txBody>
      </p:sp>
    </p:spTree>
    <p:extLst>
      <p:ext uri="{BB962C8B-B14F-4D97-AF65-F5344CB8AC3E}">
        <p14:creationId xmlns:p14="http://schemas.microsoft.com/office/powerpoint/2010/main" val="965093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54BE3-AD76-4588-85EF-DAA96B22C790}"/>
              </a:ext>
            </a:extLst>
          </p:cNvPr>
          <p:cNvSpPr>
            <a:spLocks noGrp="1"/>
          </p:cNvSpPr>
          <p:nvPr>
            <p:ph type="title"/>
          </p:nvPr>
        </p:nvSpPr>
        <p:spPr>
          <a:xfrm>
            <a:off x="838200" y="842204"/>
            <a:ext cx="10515600" cy="814318"/>
          </a:xfrm>
        </p:spPr>
        <p:txBody>
          <a:bodyPr>
            <a:normAutofit/>
          </a:bodyPr>
          <a:lstStyle/>
          <a:p>
            <a:pPr algn="ctr"/>
            <a:r>
              <a:rPr lang="en-ZA" sz="3200" b="1">
                <a:latin typeface="+mn-lt"/>
              </a:rPr>
              <a:t>Uncertainty</a:t>
            </a:r>
            <a:endParaRPr lang="en-ZA" sz="3200" b="1" dirty="0">
              <a:latin typeface="+mn-lt"/>
            </a:endParaRPr>
          </a:p>
        </p:txBody>
      </p:sp>
      <p:sp>
        <p:nvSpPr>
          <p:cNvPr id="3" name="Content Placeholder 2">
            <a:extLst>
              <a:ext uri="{FF2B5EF4-FFF2-40B4-BE49-F238E27FC236}">
                <a16:creationId xmlns:a16="http://schemas.microsoft.com/office/drawing/2014/main" id="{2FE92247-2058-4F3B-A1E5-7FF08CEA0D5E}"/>
              </a:ext>
            </a:extLst>
          </p:cNvPr>
          <p:cNvSpPr>
            <a:spLocks noGrp="1"/>
          </p:cNvSpPr>
          <p:nvPr>
            <p:ph idx="1"/>
          </p:nvPr>
        </p:nvSpPr>
        <p:spPr>
          <a:xfrm>
            <a:off x="838200" y="1656522"/>
            <a:ext cx="10515600" cy="4520441"/>
          </a:xfrm>
        </p:spPr>
        <p:txBody>
          <a:bodyPr/>
          <a:lstStyle/>
          <a:p>
            <a:pPr>
              <a:buFont typeface="Wingdings" panose="05000000000000000000" pitchFamily="2" charset="2"/>
              <a:buChar char="q"/>
            </a:pPr>
            <a:endParaRPr lang="en-US"/>
          </a:p>
          <a:p>
            <a:pPr>
              <a:buFont typeface="Wingdings" panose="05000000000000000000" pitchFamily="2" charset="2"/>
              <a:buChar char="q"/>
            </a:pPr>
            <a:r>
              <a:rPr lang="en-US"/>
              <a:t>Agents may need to handle uncertainty in their environment. </a:t>
            </a:r>
          </a:p>
          <a:p>
            <a:pPr>
              <a:buFont typeface="Wingdings" panose="05000000000000000000" pitchFamily="2" charset="2"/>
              <a:buChar char="q"/>
            </a:pPr>
            <a:r>
              <a:rPr lang="en-US"/>
              <a:t>This can be due to partial observability, non-determinism, or a combination of the two. </a:t>
            </a:r>
          </a:p>
          <a:p>
            <a:pPr>
              <a:buFont typeface="Wingdings" panose="05000000000000000000" pitchFamily="2" charset="2"/>
              <a:buChar char="q"/>
            </a:pPr>
            <a:r>
              <a:rPr lang="en-US"/>
              <a:t>Summarizing uncertainty/ uncertain reasoning using an example:</a:t>
            </a:r>
          </a:p>
          <a:p>
            <a:pPr lvl="1"/>
            <a:r>
              <a:rPr lang="en-ZA"/>
              <a:t>Diagnosing a dental patient’s toothache.</a:t>
            </a:r>
          </a:p>
          <a:p>
            <a:pPr lvl="1"/>
            <a:r>
              <a:rPr lang="en-US"/>
              <a:t>Consider the following simple rule:</a:t>
            </a:r>
          </a:p>
          <a:p>
            <a:pPr marL="457200" lvl="1" indent="0">
              <a:buNone/>
            </a:pPr>
            <a:r>
              <a:rPr lang="en-US"/>
              <a:t>		Toothache ⇒ Cavity </a:t>
            </a:r>
          </a:p>
          <a:p>
            <a:pPr marL="457200" lvl="1" indent="0">
              <a:buNone/>
            </a:pPr>
            <a:endParaRPr lang="en-US"/>
          </a:p>
          <a:p>
            <a:pPr marL="457200" lvl="1" indent="0">
              <a:buNone/>
            </a:pPr>
            <a:endParaRPr lang="en-US"/>
          </a:p>
          <a:p>
            <a:pPr lvl="1"/>
            <a:endParaRPr lang="en-ZA" dirty="0"/>
          </a:p>
        </p:txBody>
      </p:sp>
    </p:spTree>
    <p:extLst>
      <p:ext uri="{BB962C8B-B14F-4D97-AF65-F5344CB8AC3E}">
        <p14:creationId xmlns:p14="http://schemas.microsoft.com/office/powerpoint/2010/main" val="42431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274F-3CC5-4C7E-98B7-F9A8FF23D3F4}"/>
              </a:ext>
            </a:extLst>
          </p:cNvPr>
          <p:cNvSpPr>
            <a:spLocks noGrp="1"/>
          </p:cNvSpPr>
          <p:nvPr>
            <p:ph type="title"/>
          </p:nvPr>
        </p:nvSpPr>
        <p:spPr>
          <a:xfrm>
            <a:off x="838200" y="365126"/>
            <a:ext cx="10515600" cy="774562"/>
          </a:xfrm>
        </p:spPr>
        <p:txBody>
          <a:bodyPr>
            <a:normAutofit/>
          </a:bodyPr>
          <a:lstStyle/>
          <a:p>
            <a:r>
              <a:rPr lang="en-ZA" sz="3200" b="1" dirty="0">
                <a:latin typeface="+mn-lt"/>
              </a:rPr>
              <a:t>Uncertainty cont.</a:t>
            </a:r>
          </a:p>
        </p:txBody>
      </p:sp>
      <p:sp>
        <p:nvSpPr>
          <p:cNvPr id="3" name="Content Placeholder 2">
            <a:extLst>
              <a:ext uri="{FF2B5EF4-FFF2-40B4-BE49-F238E27FC236}">
                <a16:creationId xmlns:a16="http://schemas.microsoft.com/office/drawing/2014/main" id="{542E87D1-2566-4B21-B537-77348640622D}"/>
              </a:ext>
            </a:extLst>
          </p:cNvPr>
          <p:cNvSpPr>
            <a:spLocks noGrp="1"/>
          </p:cNvSpPr>
          <p:nvPr>
            <p:ph idx="1"/>
          </p:nvPr>
        </p:nvSpPr>
        <p:spPr>
          <a:xfrm>
            <a:off x="838200" y="1139688"/>
            <a:ext cx="10515600" cy="5037275"/>
          </a:xfrm>
        </p:spPr>
        <p:txBody>
          <a:bodyPr>
            <a:normAutofit fontScale="92500"/>
          </a:bodyPr>
          <a:lstStyle/>
          <a:p>
            <a:pPr marL="0" indent="0">
              <a:buNone/>
            </a:pPr>
            <a:r>
              <a:rPr lang="en-ZA" dirty="0"/>
              <a:t>			</a:t>
            </a:r>
            <a:r>
              <a:rPr lang="en-ZA" dirty="0">
                <a:highlight>
                  <a:srgbClr val="0000FF"/>
                </a:highlight>
              </a:rPr>
              <a:t>Rule: Toothache ⇒ Cavity </a:t>
            </a:r>
          </a:p>
          <a:p>
            <a:r>
              <a:rPr lang="en-ZA" dirty="0"/>
              <a:t>This rule is incorrect</a:t>
            </a:r>
          </a:p>
          <a:p>
            <a:r>
              <a:rPr lang="en-ZA" dirty="0"/>
              <a:t>Not all toothache is caused by cavity</a:t>
            </a:r>
          </a:p>
          <a:p>
            <a:r>
              <a:rPr lang="en-ZA" dirty="0"/>
              <a:t>Toothache ⇒ Cavity </a:t>
            </a:r>
            <a:r>
              <a:rPr lang="en-ZA" b="1" dirty="0"/>
              <a:t>∨</a:t>
            </a:r>
            <a:r>
              <a:rPr lang="en-ZA" dirty="0"/>
              <a:t> Gum Problem </a:t>
            </a:r>
            <a:r>
              <a:rPr lang="en-ZA" b="1" dirty="0"/>
              <a:t>∨</a:t>
            </a:r>
            <a:r>
              <a:rPr lang="en-ZA" dirty="0"/>
              <a:t> Abscess ...</a:t>
            </a:r>
          </a:p>
          <a:p>
            <a:r>
              <a:rPr lang="en-ZA" dirty="0"/>
              <a:t>T</a:t>
            </a:r>
            <a:r>
              <a:rPr lang="en-US" dirty="0"/>
              <a:t>o make the rule true, we must add an almost unlimited list of possible problems</a:t>
            </a:r>
          </a:p>
          <a:p>
            <a:r>
              <a:rPr lang="en-US" dirty="0"/>
              <a:t>Therefore, to use logic fails for three main reasons:</a:t>
            </a:r>
          </a:p>
          <a:p>
            <a:pPr lvl="1">
              <a:buFont typeface="Wingdings" panose="05000000000000000000" pitchFamily="2" charset="2"/>
              <a:buChar char="Ø"/>
            </a:pPr>
            <a:r>
              <a:rPr lang="en-US" b="1" dirty="0"/>
              <a:t>Laziness:</a:t>
            </a:r>
            <a:r>
              <a:rPr lang="en-US" dirty="0"/>
              <a:t> It is too much work to list the complete set of antecedents or consequents</a:t>
            </a:r>
          </a:p>
          <a:p>
            <a:pPr marL="457200" lvl="1" indent="0">
              <a:buNone/>
            </a:pPr>
            <a:r>
              <a:rPr lang="en-US" dirty="0"/>
              <a:t>    needed to ensure an exceptionless rule and too hard to use such rules.</a:t>
            </a:r>
          </a:p>
          <a:p>
            <a:pPr lvl="1">
              <a:buFont typeface="Wingdings" panose="05000000000000000000" pitchFamily="2" charset="2"/>
              <a:buChar char="Ø"/>
            </a:pPr>
            <a:r>
              <a:rPr lang="en-US" b="1" dirty="0"/>
              <a:t>Theoretical ignorance</a:t>
            </a:r>
            <a:r>
              <a:rPr lang="en-US" dirty="0"/>
              <a:t>: Medical science has no complete theory for the domain. </a:t>
            </a:r>
          </a:p>
          <a:p>
            <a:pPr lvl="1">
              <a:buFont typeface="Wingdings" panose="05000000000000000000" pitchFamily="2" charset="2"/>
              <a:buChar char="Ø"/>
            </a:pPr>
            <a:r>
              <a:rPr lang="en-US" b="1" dirty="0"/>
              <a:t>Practical ignorance</a:t>
            </a:r>
            <a:r>
              <a:rPr lang="en-US" dirty="0"/>
              <a:t>: Even if we know all the rules, we might be uncertain about a particular patient because not all the necessary tests have been or can be run.</a:t>
            </a:r>
          </a:p>
          <a:p>
            <a:pPr lvl="1">
              <a:buFont typeface="Wingdings" panose="05000000000000000000" pitchFamily="2" charset="2"/>
              <a:buChar char="Ø"/>
            </a:pPr>
            <a:endParaRPr lang="en-US" dirty="0"/>
          </a:p>
          <a:p>
            <a:pPr marL="0" indent="0">
              <a:buNone/>
            </a:pPr>
            <a:endParaRPr lang="en-US" dirty="0"/>
          </a:p>
          <a:p>
            <a:pPr marL="0" indent="0">
              <a:buNone/>
            </a:pPr>
            <a:endParaRPr lang="en-ZA" dirty="0"/>
          </a:p>
        </p:txBody>
      </p:sp>
    </p:spTree>
    <p:extLst>
      <p:ext uri="{BB962C8B-B14F-4D97-AF65-F5344CB8AC3E}">
        <p14:creationId xmlns:p14="http://schemas.microsoft.com/office/powerpoint/2010/main" val="3139504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B492E-0B14-4E76-90F6-CEE7FDF4598B}"/>
              </a:ext>
            </a:extLst>
          </p:cNvPr>
          <p:cNvSpPr>
            <a:spLocks noGrp="1"/>
          </p:cNvSpPr>
          <p:nvPr>
            <p:ph type="title"/>
          </p:nvPr>
        </p:nvSpPr>
        <p:spPr>
          <a:xfrm>
            <a:off x="838200" y="365125"/>
            <a:ext cx="10515600" cy="1238387"/>
          </a:xfrm>
        </p:spPr>
        <p:txBody>
          <a:bodyPr>
            <a:normAutofit/>
          </a:bodyPr>
          <a:lstStyle/>
          <a:p>
            <a:r>
              <a:rPr lang="en-ZA" sz="3200" b="1" dirty="0">
                <a:latin typeface="+mn-lt"/>
              </a:rPr>
              <a:t>Uncertainty cont.</a:t>
            </a:r>
          </a:p>
        </p:txBody>
      </p:sp>
      <p:sp>
        <p:nvSpPr>
          <p:cNvPr id="3" name="Content Placeholder 2">
            <a:extLst>
              <a:ext uri="{FF2B5EF4-FFF2-40B4-BE49-F238E27FC236}">
                <a16:creationId xmlns:a16="http://schemas.microsoft.com/office/drawing/2014/main" id="{E6E2D4E2-60E8-4794-9D96-3476B39AC566}"/>
              </a:ext>
            </a:extLst>
          </p:cNvPr>
          <p:cNvSpPr>
            <a:spLocks noGrp="1"/>
          </p:cNvSpPr>
          <p:nvPr>
            <p:ph idx="1"/>
          </p:nvPr>
        </p:nvSpPr>
        <p:spPr>
          <a:xfrm>
            <a:off x="838200" y="1497496"/>
            <a:ext cx="10515600" cy="4679467"/>
          </a:xfrm>
        </p:spPr>
        <p:txBody>
          <a:bodyPr>
            <a:normAutofit/>
          </a:bodyPr>
          <a:lstStyle/>
          <a:p>
            <a:pPr marL="0" indent="0">
              <a:buNone/>
            </a:pPr>
            <a:endParaRPr lang="en-US" sz="3200" b="1" dirty="0"/>
          </a:p>
          <a:p>
            <a:r>
              <a:rPr lang="en-US" dirty="0"/>
              <a:t>Connection between toothaches and cavities is not a logical consequence </a:t>
            </a:r>
          </a:p>
          <a:p>
            <a:r>
              <a:rPr lang="en-US" dirty="0"/>
              <a:t>The agent’s knowledge can at best provide only a degree of belief in the relevant sentences. </a:t>
            </a:r>
          </a:p>
          <a:p>
            <a:r>
              <a:rPr lang="en-US" dirty="0"/>
              <a:t>The main tool for dealing with </a:t>
            </a:r>
            <a:r>
              <a:rPr lang="en-US" dirty="0">
                <a:highlight>
                  <a:srgbClr val="0000FF"/>
                </a:highlight>
              </a:rPr>
              <a:t>degrees of belief </a:t>
            </a:r>
            <a:r>
              <a:rPr lang="en-US" dirty="0"/>
              <a:t>is </a:t>
            </a:r>
            <a:r>
              <a:rPr lang="en-US" dirty="0">
                <a:highlight>
                  <a:srgbClr val="0000FF"/>
                </a:highlight>
              </a:rPr>
              <a:t>probability theory.</a:t>
            </a:r>
          </a:p>
          <a:p>
            <a:r>
              <a:rPr lang="en-US" dirty="0"/>
              <a:t>Probabilities express the agent’s inability to reach a definite decision regarding the truth of a sentence. </a:t>
            </a:r>
          </a:p>
          <a:p>
            <a:r>
              <a:rPr lang="en-US" dirty="0"/>
              <a:t>Probabilities summarize the agent’s beliefs relative to the evidence.</a:t>
            </a:r>
          </a:p>
          <a:p>
            <a:endParaRPr lang="en-ZA" dirty="0"/>
          </a:p>
        </p:txBody>
      </p:sp>
    </p:spTree>
    <p:extLst>
      <p:ext uri="{BB962C8B-B14F-4D97-AF65-F5344CB8AC3E}">
        <p14:creationId xmlns:p14="http://schemas.microsoft.com/office/powerpoint/2010/main" val="2157413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DCC69-ACE4-4652-B627-D31C54EA9C9B}"/>
              </a:ext>
            </a:extLst>
          </p:cNvPr>
          <p:cNvSpPr>
            <a:spLocks noGrp="1"/>
          </p:cNvSpPr>
          <p:nvPr>
            <p:ph type="title"/>
          </p:nvPr>
        </p:nvSpPr>
        <p:spPr>
          <a:xfrm>
            <a:off x="838200" y="365126"/>
            <a:ext cx="10515600" cy="946840"/>
          </a:xfrm>
        </p:spPr>
        <p:txBody>
          <a:bodyPr>
            <a:normAutofit/>
          </a:bodyPr>
          <a:lstStyle/>
          <a:p>
            <a:r>
              <a:rPr lang="en-ZA" sz="3200" b="1" dirty="0">
                <a:latin typeface="+mn-lt"/>
              </a:rPr>
              <a:t>Solution using probability theory</a:t>
            </a:r>
            <a:r>
              <a:rPr lang="en-ZA" sz="3600" b="1" dirty="0">
                <a:latin typeface="+mn-lt"/>
              </a:rPr>
              <a:t>:</a:t>
            </a:r>
          </a:p>
        </p:txBody>
      </p:sp>
      <p:sp>
        <p:nvSpPr>
          <p:cNvPr id="3" name="Content Placeholder 2">
            <a:extLst>
              <a:ext uri="{FF2B5EF4-FFF2-40B4-BE49-F238E27FC236}">
                <a16:creationId xmlns:a16="http://schemas.microsoft.com/office/drawing/2014/main" id="{61AC844A-4E29-44FB-BD1D-0D893A38CAA7}"/>
              </a:ext>
            </a:extLst>
          </p:cNvPr>
          <p:cNvSpPr>
            <a:spLocks noGrp="1"/>
          </p:cNvSpPr>
          <p:nvPr>
            <p:ph idx="1"/>
          </p:nvPr>
        </p:nvSpPr>
        <p:spPr>
          <a:xfrm>
            <a:off x="838200" y="1311966"/>
            <a:ext cx="10515600" cy="4864997"/>
          </a:xfrm>
        </p:spPr>
        <p:txBody>
          <a:bodyPr>
            <a:normAutofit/>
          </a:bodyPr>
          <a:lstStyle/>
          <a:p>
            <a:r>
              <a:rPr lang="en-US" dirty="0"/>
              <a:t>We </a:t>
            </a:r>
            <a:r>
              <a:rPr lang="en-US" dirty="0">
                <a:highlight>
                  <a:srgbClr val="0000FF"/>
                </a:highlight>
              </a:rPr>
              <a:t>believe</a:t>
            </a:r>
            <a:r>
              <a:rPr lang="en-US" dirty="0"/>
              <a:t> the patient has 80% chance, probability of 0,8 that the patient who has a toothache has a cavity. </a:t>
            </a:r>
          </a:p>
          <a:p>
            <a:r>
              <a:rPr lang="en-US" dirty="0"/>
              <a:t>We expect that out of all the situations the patient will have a cavity in 80% of them. </a:t>
            </a:r>
          </a:p>
          <a:p>
            <a:r>
              <a:rPr lang="en-US" dirty="0"/>
              <a:t>This </a:t>
            </a:r>
            <a:r>
              <a:rPr lang="en-US" dirty="0">
                <a:highlight>
                  <a:srgbClr val="0000FF"/>
                </a:highlight>
              </a:rPr>
              <a:t>belief</a:t>
            </a:r>
            <a:r>
              <a:rPr lang="en-US" dirty="0"/>
              <a:t> could be derived from statistical data such as:</a:t>
            </a:r>
          </a:p>
          <a:p>
            <a:pPr lvl="1">
              <a:buFont typeface="Wingdings" panose="05000000000000000000" pitchFamily="2" charset="2"/>
              <a:buChar char="Ø"/>
            </a:pPr>
            <a:r>
              <a:rPr lang="en-US" dirty="0"/>
              <a:t>80% of the toothache patients seen so far have had cavities</a:t>
            </a:r>
          </a:p>
          <a:p>
            <a:pPr lvl="1">
              <a:buFont typeface="Wingdings" panose="05000000000000000000" pitchFamily="2" charset="2"/>
              <a:buChar char="Ø"/>
            </a:pPr>
            <a:r>
              <a:rPr lang="en-US" dirty="0"/>
              <a:t>or from some general dental knowledge</a:t>
            </a:r>
          </a:p>
          <a:p>
            <a:pPr lvl="1">
              <a:buFont typeface="Wingdings" panose="05000000000000000000" pitchFamily="2" charset="2"/>
              <a:buChar char="Ø"/>
            </a:pPr>
            <a:r>
              <a:rPr lang="en-US" dirty="0"/>
              <a:t>or from a combination of evidence sources.</a:t>
            </a:r>
          </a:p>
          <a:p>
            <a:pPr marL="0" indent="0">
              <a:buNone/>
            </a:pPr>
            <a:endParaRPr lang="en-ZA" dirty="0"/>
          </a:p>
        </p:txBody>
      </p:sp>
    </p:spTree>
    <p:extLst>
      <p:ext uri="{BB962C8B-B14F-4D97-AF65-F5344CB8AC3E}">
        <p14:creationId xmlns:p14="http://schemas.microsoft.com/office/powerpoint/2010/main" val="137587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309A4-2665-46EF-A1E4-76207AA4974E}"/>
              </a:ext>
            </a:extLst>
          </p:cNvPr>
          <p:cNvSpPr>
            <a:spLocks noGrp="1"/>
          </p:cNvSpPr>
          <p:nvPr>
            <p:ph type="title"/>
          </p:nvPr>
        </p:nvSpPr>
        <p:spPr>
          <a:xfrm>
            <a:off x="838200" y="365125"/>
            <a:ext cx="10515600" cy="854075"/>
          </a:xfrm>
        </p:spPr>
        <p:txBody>
          <a:bodyPr>
            <a:normAutofit/>
          </a:bodyPr>
          <a:lstStyle/>
          <a:p>
            <a:pPr algn="ctr"/>
            <a:r>
              <a:rPr lang="en-ZA" sz="3200" b="1" dirty="0">
                <a:latin typeface="+mn-lt"/>
              </a:rPr>
              <a:t>Uncertainty and rational decisions</a:t>
            </a:r>
          </a:p>
        </p:txBody>
      </p:sp>
      <p:sp>
        <p:nvSpPr>
          <p:cNvPr id="3" name="Content Placeholder 2">
            <a:extLst>
              <a:ext uri="{FF2B5EF4-FFF2-40B4-BE49-F238E27FC236}">
                <a16:creationId xmlns:a16="http://schemas.microsoft.com/office/drawing/2014/main" id="{701EE5A6-92C5-4DA2-98DA-FE29643D52B9}"/>
              </a:ext>
            </a:extLst>
          </p:cNvPr>
          <p:cNvSpPr>
            <a:spLocks noGrp="1"/>
          </p:cNvSpPr>
          <p:nvPr>
            <p:ph idx="1"/>
          </p:nvPr>
        </p:nvSpPr>
        <p:spPr>
          <a:xfrm>
            <a:off x="838200" y="1219200"/>
            <a:ext cx="10515600" cy="4957763"/>
          </a:xfrm>
        </p:spPr>
        <p:txBody>
          <a:bodyPr>
            <a:normAutofit/>
          </a:bodyPr>
          <a:lstStyle/>
          <a:p>
            <a:pPr marL="0" indent="0">
              <a:buNone/>
            </a:pPr>
            <a:r>
              <a:rPr lang="en-ZA" dirty="0"/>
              <a:t>Action plans with probabilities</a:t>
            </a:r>
          </a:p>
          <a:p>
            <a:pPr marL="1371600" lvl="3" indent="0">
              <a:lnSpc>
                <a:spcPct val="100000"/>
              </a:lnSpc>
              <a:buNone/>
            </a:pPr>
            <a:r>
              <a:rPr lang="en-US" dirty="0"/>
              <a:t>P(A90 gets me there on time/…) = 0.70</a:t>
            </a:r>
          </a:p>
          <a:p>
            <a:pPr marL="1371600" lvl="3" indent="0">
              <a:lnSpc>
                <a:spcPct val="100000"/>
              </a:lnSpc>
              <a:buNone/>
            </a:pPr>
            <a:r>
              <a:rPr lang="en-US" dirty="0"/>
              <a:t>P(A180 gets me there on time/…) = 0.95</a:t>
            </a:r>
          </a:p>
          <a:p>
            <a:pPr marL="1371600" lvl="3" indent="0">
              <a:lnSpc>
                <a:spcPct val="100000"/>
              </a:lnSpc>
              <a:buNone/>
            </a:pPr>
            <a:r>
              <a:rPr lang="en-US" dirty="0"/>
              <a:t>P(A1440 gets me there on time/…) = 0.999</a:t>
            </a:r>
          </a:p>
          <a:p>
            <a:pPr marL="0" indent="0">
              <a:buNone/>
            </a:pPr>
            <a:r>
              <a:rPr lang="en-US" dirty="0"/>
              <a:t>A90 plan gives us a 70% chance of catching our flight.</a:t>
            </a:r>
          </a:p>
          <a:p>
            <a:pPr marL="0" indent="0">
              <a:buNone/>
            </a:pPr>
            <a:r>
              <a:rPr lang="en-US" dirty="0"/>
              <a:t>Not a rational choice. Why?</a:t>
            </a:r>
          </a:p>
          <a:p>
            <a:pPr lvl="1"/>
            <a:r>
              <a:rPr lang="en-US" dirty="0"/>
              <a:t>Because A180, which has a higher probability only if it is vital not to miss the flight, then it is worth risking the longer wait at the airport. </a:t>
            </a:r>
          </a:p>
          <a:p>
            <a:pPr lvl="1"/>
            <a:r>
              <a:rPr lang="en-US" dirty="0"/>
              <a:t>A1440, a plan that involves leaving home 24 hours in advance. In most circumstances, this is not a good choice, because although it almost guarantees getting there on time, it involves an intolerable wait.</a:t>
            </a:r>
          </a:p>
          <a:p>
            <a:pPr marL="0" indent="0">
              <a:buNone/>
            </a:pPr>
            <a:endParaRPr lang="en-ZA" dirty="0"/>
          </a:p>
        </p:txBody>
      </p:sp>
    </p:spTree>
    <p:extLst>
      <p:ext uri="{BB962C8B-B14F-4D97-AF65-F5344CB8AC3E}">
        <p14:creationId xmlns:p14="http://schemas.microsoft.com/office/powerpoint/2010/main" val="3286790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3CC37-1981-4621-A316-69115F91E4F2}"/>
              </a:ext>
            </a:extLst>
          </p:cNvPr>
          <p:cNvSpPr>
            <a:spLocks noGrp="1"/>
          </p:cNvSpPr>
          <p:nvPr>
            <p:ph type="title"/>
          </p:nvPr>
        </p:nvSpPr>
        <p:spPr>
          <a:xfrm>
            <a:off x="957469" y="683177"/>
            <a:ext cx="10515600" cy="681797"/>
          </a:xfrm>
        </p:spPr>
        <p:txBody>
          <a:bodyPr>
            <a:normAutofit/>
          </a:bodyPr>
          <a:lstStyle/>
          <a:p>
            <a:r>
              <a:rPr lang="en-ZA" sz="3200" b="1" dirty="0">
                <a:latin typeface="+mn-lt"/>
              </a:rPr>
              <a:t>Rational Approach cont.</a:t>
            </a:r>
          </a:p>
        </p:txBody>
      </p:sp>
      <p:sp>
        <p:nvSpPr>
          <p:cNvPr id="3" name="Content Placeholder 2">
            <a:extLst>
              <a:ext uri="{FF2B5EF4-FFF2-40B4-BE49-F238E27FC236}">
                <a16:creationId xmlns:a16="http://schemas.microsoft.com/office/drawing/2014/main" id="{02B40978-ECF0-446C-A525-4BFA85BA113B}"/>
              </a:ext>
            </a:extLst>
          </p:cNvPr>
          <p:cNvSpPr>
            <a:spLocks noGrp="1"/>
          </p:cNvSpPr>
          <p:nvPr>
            <p:ph idx="1"/>
          </p:nvPr>
        </p:nvSpPr>
        <p:spPr>
          <a:xfrm>
            <a:off x="838200" y="1842053"/>
            <a:ext cx="10515600" cy="3727173"/>
          </a:xfrm>
        </p:spPr>
        <p:txBody>
          <a:bodyPr/>
          <a:lstStyle/>
          <a:p>
            <a:r>
              <a:rPr lang="en-US" dirty="0"/>
              <a:t>Therefore, AGENT needs PREFERENCE of which possible outcome it prefers among the various plans.</a:t>
            </a:r>
          </a:p>
          <a:p>
            <a:r>
              <a:rPr lang="en-US" dirty="0">
                <a:highlight>
                  <a:srgbClr val="0000FF"/>
                </a:highlight>
              </a:rPr>
              <a:t>Outcome </a:t>
            </a:r>
            <a:r>
              <a:rPr lang="en-US" dirty="0"/>
              <a:t>is a completely specified state, including such factors as:</a:t>
            </a:r>
          </a:p>
          <a:p>
            <a:pPr lvl="1">
              <a:buFont typeface="Wingdings" panose="05000000000000000000" pitchFamily="2" charset="2"/>
              <a:buChar char="Ø"/>
            </a:pPr>
            <a:r>
              <a:rPr lang="en-US" dirty="0"/>
              <a:t>Whether the agent arrives on time and </a:t>
            </a:r>
          </a:p>
          <a:p>
            <a:pPr lvl="1">
              <a:buFont typeface="Wingdings" panose="05000000000000000000" pitchFamily="2" charset="2"/>
              <a:buChar char="Ø"/>
            </a:pPr>
            <a:r>
              <a:rPr lang="en-US" dirty="0"/>
              <a:t>The length of the wait at the airport. </a:t>
            </a:r>
          </a:p>
          <a:p>
            <a:r>
              <a:rPr lang="en-US" dirty="0"/>
              <a:t>So, to represent and reason with preference we use </a:t>
            </a:r>
            <a:r>
              <a:rPr lang="en-US" dirty="0">
                <a:highlight>
                  <a:srgbClr val="0000FF"/>
                </a:highlight>
              </a:rPr>
              <a:t>UTILITY THEORY.</a:t>
            </a:r>
            <a:r>
              <a:rPr lang="en-US" dirty="0"/>
              <a:t> </a:t>
            </a:r>
          </a:p>
          <a:p>
            <a:r>
              <a:rPr lang="en-US" dirty="0"/>
              <a:t>UTILITY used in this context is “the quality of being useful,” / practical.</a:t>
            </a:r>
          </a:p>
          <a:p>
            <a:endParaRPr lang="en-ZA" dirty="0"/>
          </a:p>
        </p:txBody>
      </p:sp>
    </p:spTree>
    <p:extLst>
      <p:ext uri="{BB962C8B-B14F-4D97-AF65-F5344CB8AC3E}">
        <p14:creationId xmlns:p14="http://schemas.microsoft.com/office/powerpoint/2010/main" val="3263994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EEB65-5F2D-4047-AF2A-1BB4E81B26FD}"/>
              </a:ext>
            </a:extLst>
          </p:cNvPr>
          <p:cNvSpPr>
            <a:spLocks noGrp="1"/>
          </p:cNvSpPr>
          <p:nvPr>
            <p:ph type="title"/>
          </p:nvPr>
        </p:nvSpPr>
        <p:spPr>
          <a:xfrm>
            <a:off x="838200" y="365125"/>
            <a:ext cx="10515600" cy="734805"/>
          </a:xfrm>
        </p:spPr>
        <p:txBody>
          <a:bodyPr/>
          <a:lstStyle/>
          <a:p>
            <a:r>
              <a:rPr lang="en-ZA" sz="3200" b="1" dirty="0">
                <a:latin typeface="+mn-lt"/>
              </a:rPr>
              <a:t>Rational Approach cont</a:t>
            </a:r>
            <a:r>
              <a:rPr lang="en-ZA" dirty="0"/>
              <a:t>.</a:t>
            </a:r>
          </a:p>
        </p:txBody>
      </p:sp>
      <p:sp>
        <p:nvSpPr>
          <p:cNvPr id="3" name="Content Placeholder 2">
            <a:extLst>
              <a:ext uri="{FF2B5EF4-FFF2-40B4-BE49-F238E27FC236}">
                <a16:creationId xmlns:a16="http://schemas.microsoft.com/office/drawing/2014/main" id="{754FCAFE-0E4A-4C9B-B1AA-9997F76239ED}"/>
              </a:ext>
            </a:extLst>
          </p:cNvPr>
          <p:cNvSpPr>
            <a:spLocks noGrp="1"/>
          </p:cNvSpPr>
          <p:nvPr>
            <p:ph idx="1"/>
          </p:nvPr>
        </p:nvSpPr>
        <p:spPr>
          <a:xfrm>
            <a:off x="838200" y="1099930"/>
            <a:ext cx="10515600" cy="5077033"/>
          </a:xfrm>
        </p:spPr>
        <p:txBody>
          <a:bodyPr>
            <a:normAutofit/>
          </a:bodyPr>
          <a:lstStyle/>
          <a:p>
            <a:pPr marL="0" indent="0">
              <a:buNone/>
            </a:pPr>
            <a:r>
              <a:rPr lang="en-US" dirty="0"/>
              <a:t>UTILITY THEORY:</a:t>
            </a:r>
          </a:p>
          <a:p>
            <a:pPr lvl="1">
              <a:buFont typeface="Wingdings" panose="05000000000000000000" pitchFamily="2" charset="2"/>
              <a:buChar char="Ø"/>
            </a:pPr>
            <a:r>
              <a:rPr lang="en-US" dirty="0"/>
              <a:t>Every state has a degree of usefulness/ utility to an agent</a:t>
            </a:r>
          </a:p>
          <a:p>
            <a:pPr lvl="1">
              <a:buFont typeface="Wingdings" panose="05000000000000000000" pitchFamily="2" charset="2"/>
              <a:buChar char="Ø"/>
            </a:pPr>
            <a:r>
              <a:rPr lang="en-US" dirty="0"/>
              <a:t>Agent will prefer states with higher utility</a:t>
            </a:r>
          </a:p>
          <a:p>
            <a:pPr lvl="1">
              <a:buFont typeface="Wingdings" panose="05000000000000000000" pitchFamily="2" charset="2"/>
              <a:buChar char="Ø"/>
            </a:pPr>
            <a:r>
              <a:rPr lang="en-US" dirty="0"/>
              <a:t>The utility of a state is relative to an agent.</a:t>
            </a:r>
          </a:p>
          <a:p>
            <a:pPr marL="0" indent="0">
              <a:buNone/>
            </a:pPr>
            <a:r>
              <a:rPr lang="en-US" dirty="0"/>
              <a:t>Preferences, that are expressed by utilities, are combined with probabilities in the general theory of rational decisions called </a:t>
            </a:r>
            <a:r>
              <a:rPr lang="en-US" dirty="0">
                <a:highlight>
                  <a:srgbClr val="0000FF"/>
                </a:highlight>
              </a:rPr>
              <a:t>decision theory:</a:t>
            </a:r>
          </a:p>
          <a:p>
            <a:pPr marL="0" indent="0">
              <a:buNone/>
            </a:pPr>
            <a:r>
              <a:rPr lang="en-US" dirty="0"/>
              <a:t>		</a:t>
            </a:r>
            <a:r>
              <a:rPr lang="en-US" b="1" dirty="0">
                <a:highlight>
                  <a:srgbClr val="0000FF"/>
                </a:highlight>
              </a:rPr>
              <a:t>Decision theory = probability theory + utility theory</a:t>
            </a:r>
          </a:p>
          <a:p>
            <a:pPr marL="0" indent="0">
              <a:buNone/>
            </a:pPr>
            <a:r>
              <a:rPr lang="en-US" dirty="0"/>
              <a:t>The fundamental idea of decision theory is that an agent is rational if and only if it chooses the action that yields the highest expected utility, averaged over all the possible outcomes of the action</a:t>
            </a:r>
          </a:p>
          <a:p>
            <a:pPr marL="0" indent="0">
              <a:buNone/>
            </a:pPr>
            <a:endParaRPr lang="en-ZA" dirty="0"/>
          </a:p>
        </p:txBody>
      </p:sp>
    </p:spTree>
    <p:extLst>
      <p:ext uri="{BB962C8B-B14F-4D97-AF65-F5344CB8AC3E}">
        <p14:creationId xmlns:p14="http://schemas.microsoft.com/office/powerpoint/2010/main" val="534108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8064F8-D410-4037-AC06-E064561C4535}"/>
              </a:ext>
            </a:extLst>
          </p:cNvPr>
          <p:cNvPicPr>
            <a:picLocks noChangeAspect="1"/>
          </p:cNvPicPr>
          <p:nvPr/>
        </p:nvPicPr>
        <p:blipFill>
          <a:blip r:embed="rId2"/>
          <a:stretch>
            <a:fillRect/>
          </a:stretch>
        </p:blipFill>
        <p:spPr>
          <a:xfrm>
            <a:off x="702366" y="858129"/>
            <a:ext cx="11304104" cy="5219114"/>
          </a:xfrm>
          <a:prstGeom prst="rect">
            <a:avLst/>
          </a:prstGeom>
        </p:spPr>
      </p:pic>
    </p:spTree>
    <p:extLst>
      <p:ext uri="{BB962C8B-B14F-4D97-AF65-F5344CB8AC3E}">
        <p14:creationId xmlns:p14="http://schemas.microsoft.com/office/powerpoint/2010/main" val="3225396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609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3282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391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03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50609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706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970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7221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694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742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2482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8959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2776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9611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4ED6B-BA4D-48E7-A892-7FDF68715EAC}"/>
              </a:ext>
            </a:extLst>
          </p:cNvPr>
          <p:cNvSpPr>
            <a:spLocks noGrp="1"/>
          </p:cNvSpPr>
          <p:nvPr>
            <p:ph type="title"/>
          </p:nvPr>
        </p:nvSpPr>
        <p:spPr>
          <a:xfrm>
            <a:off x="838200" y="365125"/>
            <a:ext cx="10515600" cy="718087"/>
          </a:xfrm>
        </p:spPr>
        <p:txBody>
          <a:bodyPr>
            <a:normAutofit/>
          </a:bodyPr>
          <a:lstStyle/>
          <a:p>
            <a:pPr algn="ctr"/>
            <a:r>
              <a:rPr lang="en-ZA" sz="4000" dirty="0">
                <a:latin typeface="+mn-lt"/>
              </a:rPr>
              <a:t>Probabilities</a:t>
            </a:r>
          </a:p>
        </p:txBody>
      </p:sp>
      <p:sp>
        <p:nvSpPr>
          <p:cNvPr id="3" name="Content Placeholder 2">
            <a:extLst>
              <a:ext uri="{FF2B5EF4-FFF2-40B4-BE49-F238E27FC236}">
                <a16:creationId xmlns:a16="http://schemas.microsoft.com/office/drawing/2014/main" id="{9ADD6E00-35CF-44CF-BFC6-82A724C0E7AE}"/>
              </a:ext>
            </a:extLst>
          </p:cNvPr>
          <p:cNvSpPr>
            <a:spLocks noGrp="1"/>
          </p:cNvSpPr>
          <p:nvPr>
            <p:ph idx="1"/>
          </p:nvPr>
        </p:nvSpPr>
        <p:spPr>
          <a:xfrm>
            <a:off x="838200" y="1083212"/>
            <a:ext cx="10515600" cy="5093751"/>
          </a:xfrm>
        </p:spPr>
        <p:txBody>
          <a:bodyPr/>
          <a:lstStyle/>
          <a:p>
            <a:pPr lvl="1"/>
            <a:r>
              <a:rPr lang="en-US" dirty="0"/>
              <a:t>Probabilistic assertions are about possible worlds</a:t>
            </a:r>
          </a:p>
          <a:p>
            <a:pPr lvl="1"/>
            <a:r>
              <a:rPr lang="en-US" dirty="0"/>
              <a:t>About how probable the various worlds are</a:t>
            </a:r>
          </a:p>
          <a:p>
            <a:pPr marL="0" indent="0">
              <a:buNone/>
            </a:pPr>
            <a:r>
              <a:rPr lang="en-ZA" dirty="0"/>
              <a:t>Probability SAMPLE SPACE theory:</a:t>
            </a:r>
          </a:p>
          <a:p>
            <a:pPr lvl="1">
              <a:buFont typeface="Wingdings" panose="05000000000000000000" pitchFamily="2" charset="2"/>
              <a:buChar char="Ø"/>
            </a:pPr>
            <a:r>
              <a:rPr lang="en-US" dirty="0"/>
              <a:t>the set of all possible worlds is called the sample space</a:t>
            </a:r>
          </a:p>
          <a:p>
            <a:pPr lvl="1">
              <a:buFont typeface="Wingdings" panose="05000000000000000000" pitchFamily="2" charset="2"/>
              <a:buChar char="Ø"/>
            </a:pPr>
            <a:r>
              <a:rPr lang="en-US" dirty="0"/>
              <a:t>The possible worlds are mutually exclusive and exhaustive</a:t>
            </a:r>
          </a:p>
          <a:p>
            <a:pPr lvl="1">
              <a:buFont typeface="Wingdings" panose="05000000000000000000" pitchFamily="2" charset="2"/>
              <a:buChar char="Ø"/>
            </a:pPr>
            <a:r>
              <a:rPr lang="en-US" dirty="0"/>
              <a:t>For example, if we are about to roll two (distinguishable)</a:t>
            </a:r>
          </a:p>
          <a:p>
            <a:pPr marL="457200" lvl="1" indent="0">
              <a:buNone/>
            </a:pPr>
            <a:r>
              <a:rPr lang="en-US" dirty="0"/>
              <a:t>    dice, there are 36 possible worlds to consider: (1,1), (1,2), ..., (6,6). </a:t>
            </a:r>
          </a:p>
          <a:p>
            <a:pPr lvl="1">
              <a:buFont typeface="Wingdings" panose="05000000000000000000" pitchFamily="2" charset="2"/>
              <a:buChar char="Ø"/>
            </a:pPr>
            <a:r>
              <a:rPr lang="en-US" dirty="0"/>
              <a:t>The Greek letter </a:t>
            </a:r>
            <a:r>
              <a:rPr lang="en-US" sz="3600" dirty="0"/>
              <a:t>Ω</a:t>
            </a:r>
            <a:r>
              <a:rPr lang="en-US" dirty="0"/>
              <a:t> – refers to sample space</a:t>
            </a:r>
          </a:p>
          <a:p>
            <a:pPr lvl="1">
              <a:buFont typeface="Wingdings" panose="05000000000000000000" pitchFamily="2" charset="2"/>
              <a:buChar char="Ø"/>
            </a:pPr>
            <a:r>
              <a:rPr lang="en-US" dirty="0"/>
              <a:t>ω (lowercase omega) refers to elements of the space</a:t>
            </a:r>
          </a:p>
          <a:p>
            <a:pPr lvl="1">
              <a:buFont typeface="Wingdings" panose="05000000000000000000" pitchFamily="2" charset="2"/>
              <a:buChar char="Ø"/>
            </a:pPr>
            <a:r>
              <a:rPr lang="en-US" dirty="0"/>
              <a:t>associates a numerical probability P(ω) with each possible world</a:t>
            </a:r>
          </a:p>
          <a:p>
            <a:pPr lvl="1">
              <a:buFont typeface="Wingdings" panose="05000000000000000000" pitchFamily="2" charset="2"/>
              <a:buChar char="Ø"/>
            </a:pPr>
            <a:r>
              <a:rPr lang="en-US" dirty="0"/>
              <a:t>every possible world has a probability between 0 and 1 and that the total probability of the set of possible worlds is 1</a:t>
            </a:r>
          </a:p>
          <a:p>
            <a:pPr marL="457200" lvl="1" indent="0">
              <a:buNone/>
            </a:pPr>
            <a:endParaRPr lang="en-US" dirty="0"/>
          </a:p>
          <a:p>
            <a:pPr lvl="1">
              <a:buFont typeface="Wingdings" panose="05000000000000000000" pitchFamily="2" charset="2"/>
              <a:buChar char="Ø"/>
            </a:pPr>
            <a:endParaRPr lang="en-ZA" dirty="0"/>
          </a:p>
        </p:txBody>
      </p:sp>
      <p:pic>
        <p:nvPicPr>
          <p:cNvPr id="4" name="Picture 3">
            <a:extLst>
              <a:ext uri="{FF2B5EF4-FFF2-40B4-BE49-F238E27FC236}">
                <a16:creationId xmlns:a16="http://schemas.microsoft.com/office/drawing/2014/main" id="{FC9F8981-F3B8-4F81-B760-6277DACD2887}"/>
              </a:ext>
            </a:extLst>
          </p:cNvPr>
          <p:cNvPicPr>
            <a:picLocks noChangeAspect="1"/>
          </p:cNvPicPr>
          <p:nvPr/>
        </p:nvPicPr>
        <p:blipFill>
          <a:blip r:embed="rId2"/>
          <a:stretch>
            <a:fillRect/>
          </a:stretch>
        </p:blipFill>
        <p:spPr>
          <a:xfrm>
            <a:off x="2363372" y="5954439"/>
            <a:ext cx="5711483" cy="798053"/>
          </a:xfrm>
          <a:prstGeom prst="rect">
            <a:avLst/>
          </a:prstGeom>
        </p:spPr>
      </p:pic>
    </p:spTree>
    <p:extLst>
      <p:ext uri="{BB962C8B-B14F-4D97-AF65-F5344CB8AC3E}">
        <p14:creationId xmlns:p14="http://schemas.microsoft.com/office/powerpoint/2010/main" val="2700816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252B7-8991-4932-B82A-B44F8DAA211E}"/>
              </a:ext>
            </a:extLst>
          </p:cNvPr>
          <p:cNvSpPr>
            <a:spLocks noGrp="1"/>
          </p:cNvSpPr>
          <p:nvPr>
            <p:ph type="title"/>
          </p:nvPr>
        </p:nvSpPr>
        <p:spPr>
          <a:xfrm>
            <a:off x="838200" y="365126"/>
            <a:ext cx="10515600" cy="774358"/>
          </a:xfrm>
        </p:spPr>
        <p:txBody>
          <a:bodyPr>
            <a:normAutofit/>
          </a:bodyPr>
          <a:lstStyle/>
          <a:p>
            <a:pPr algn="ctr"/>
            <a:r>
              <a:rPr lang="en-ZA" sz="3200" b="1" dirty="0">
                <a:latin typeface="+mn-lt"/>
              </a:rPr>
              <a:t>Probability basics</a:t>
            </a:r>
          </a:p>
        </p:txBody>
      </p:sp>
      <p:pic>
        <p:nvPicPr>
          <p:cNvPr id="5" name="Content Placeholder 4" descr="Text, letter&#10;&#10;Description automatically generated">
            <a:extLst>
              <a:ext uri="{FF2B5EF4-FFF2-40B4-BE49-F238E27FC236}">
                <a16:creationId xmlns:a16="http://schemas.microsoft.com/office/drawing/2014/main" id="{931EABFB-0F60-4ED8-94D3-2CC0182CBB16}"/>
              </a:ext>
            </a:extLst>
          </p:cNvPr>
          <p:cNvPicPr>
            <a:picLocks noGrp="1" noChangeAspect="1"/>
          </p:cNvPicPr>
          <p:nvPr>
            <p:ph idx="1"/>
          </p:nvPr>
        </p:nvPicPr>
        <p:blipFill>
          <a:blip r:embed="rId2"/>
          <a:stretch>
            <a:fillRect/>
          </a:stretch>
        </p:blipFill>
        <p:spPr>
          <a:xfrm>
            <a:off x="838200" y="1285258"/>
            <a:ext cx="9008165" cy="4784237"/>
          </a:xfrm>
        </p:spPr>
      </p:pic>
    </p:spTree>
    <p:extLst>
      <p:ext uri="{BB962C8B-B14F-4D97-AF65-F5344CB8AC3E}">
        <p14:creationId xmlns:p14="http://schemas.microsoft.com/office/powerpoint/2010/main" val="3918616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8935C-9B1C-48E5-8343-B51D1A925E5D}"/>
              </a:ext>
            </a:extLst>
          </p:cNvPr>
          <p:cNvSpPr>
            <a:spLocks noGrp="1"/>
          </p:cNvSpPr>
          <p:nvPr>
            <p:ph type="title"/>
          </p:nvPr>
        </p:nvSpPr>
        <p:spPr>
          <a:xfrm>
            <a:off x="838200" y="365125"/>
            <a:ext cx="10515600" cy="695049"/>
          </a:xfrm>
        </p:spPr>
        <p:txBody>
          <a:bodyPr>
            <a:normAutofit/>
          </a:bodyPr>
          <a:lstStyle/>
          <a:p>
            <a:pPr algn="ctr"/>
            <a:r>
              <a:rPr lang="en-ZA" sz="3200" b="1" dirty="0">
                <a:latin typeface="+mn-lt"/>
              </a:rPr>
              <a:t>Propositions</a:t>
            </a:r>
          </a:p>
        </p:txBody>
      </p:sp>
      <p:sp>
        <p:nvSpPr>
          <p:cNvPr id="3" name="Content Placeholder 2">
            <a:extLst>
              <a:ext uri="{FF2B5EF4-FFF2-40B4-BE49-F238E27FC236}">
                <a16:creationId xmlns:a16="http://schemas.microsoft.com/office/drawing/2014/main" id="{130B971E-C16A-4EEC-9E1B-1F899FFBEE8B}"/>
              </a:ext>
            </a:extLst>
          </p:cNvPr>
          <p:cNvSpPr>
            <a:spLocks noGrp="1"/>
          </p:cNvSpPr>
          <p:nvPr>
            <p:ph idx="1"/>
          </p:nvPr>
        </p:nvSpPr>
        <p:spPr>
          <a:xfrm>
            <a:off x="838200" y="1165465"/>
            <a:ext cx="10515600" cy="5447369"/>
          </a:xfrm>
        </p:spPr>
        <p:txBody>
          <a:bodyPr/>
          <a:lstStyle/>
          <a:p>
            <a:pPr>
              <a:buFont typeface="Wingdings" panose="05000000000000000000" pitchFamily="2" charset="2"/>
              <a:buChar char="§"/>
            </a:pPr>
            <a:r>
              <a:rPr lang="en-US" sz="2400" dirty="0"/>
              <a:t>Propositions describing sets of possible worlds are written in a notation that combines elements of propositional logic.</a:t>
            </a:r>
          </a:p>
          <a:p>
            <a:pPr>
              <a:buFont typeface="Wingdings" panose="05000000000000000000" pitchFamily="2" charset="2"/>
              <a:buChar char="§"/>
            </a:pPr>
            <a:r>
              <a:rPr lang="en-US" sz="2400" dirty="0"/>
              <a:t>Possible world is represented by a set of variable/value pairs.</a:t>
            </a:r>
          </a:p>
          <a:p>
            <a:pPr>
              <a:buFont typeface="Wingdings" panose="05000000000000000000" pitchFamily="2" charset="2"/>
              <a:buChar char="§"/>
            </a:pPr>
            <a:r>
              <a:rPr lang="en-US" sz="2400" dirty="0"/>
              <a:t>Variables in probability theory are called random variables and their names begin with an uppercase letter.</a:t>
            </a:r>
          </a:p>
          <a:p>
            <a:pPr>
              <a:buFont typeface="Wingdings" panose="05000000000000000000" pitchFamily="2" charset="2"/>
              <a:buChar char="§"/>
            </a:pPr>
            <a:endParaRPr lang="en-US" dirty="0"/>
          </a:p>
          <a:p>
            <a:endParaRPr lang="en-ZA" dirty="0"/>
          </a:p>
        </p:txBody>
      </p:sp>
      <p:pic>
        <p:nvPicPr>
          <p:cNvPr id="8" name="Picture 7">
            <a:extLst>
              <a:ext uri="{FF2B5EF4-FFF2-40B4-BE49-F238E27FC236}">
                <a16:creationId xmlns:a16="http://schemas.microsoft.com/office/drawing/2014/main" id="{757E2BA6-96E3-485F-BD58-8C0E6047BD51}"/>
              </a:ext>
            </a:extLst>
          </p:cNvPr>
          <p:cNvPicPr>
            <a:picLocks noChangeAspect="1"/>
          </p:cNvPicPr>
          <p:nvPr/>
        </p:nvPicPr>
        <p:blipFill>
          <a:blip r:embed="rId2"/>
          <a:stretch>
            <a:fillRect/>
          </a:stretch>
        </p:blipFill>
        <p:spPr>
          <a:xfrm>
            <a:off x="1011446" y="3167270"/>
            <a:ext cx="8260796" cy="3114260"/>
          </a:xfrm>
          <a:prstGeom prst="rect">
            <a:avLst/>
          </a:prstGeom>
        </p:spPr>
      </p:pic>
    </p:spTree>
    <p:extLst>
      <p:ext uri="{BB962C8B-B14F-4D97-AF65-F5344CB8AC3E}">
        <p14:creationId xmlns:p14="http://schemas.microsoft.com/office/powerpoint/2010/main" val="55220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46876C-7555-4582-9F42-70F6D8557BEB}"/>
              </a:ext>
            </a:extLst>
          </p:cNvPr>
          <p:cNvPicPr>
            <a:picLocks noChangeAspect="1"/>
          </p:cNvPicPr>
          <p:nvPr/>
        </p:nvPicPr>
        <p:blipFill>
          <a:blip r:embed="rId2"/>
          <a:stretch>
            <a:fillRect/>
          </a:stretch>
        </p:blipFill>
        <p:spPr>
          <a:xfrm>
            <a:off x="1111348" y="609601"/>
            <a:ext cx="9988061" cy="3886292"/>
          </a:xfrm>
          <a:prstGeom prst="rect">
            <a:avLst/>
          </a:prstGeom>
        </p:spPr>
      </p:pic>
      <p:pic>
        <p:nvPicPr>
          <p:cNvPr id="3" name="Picture 2">
            <a:extLst>
              <a:ext uri="{FF2B5EF4-FFF2-40B4-BE49-F238E27FC236}">
                <a16:creationId xmlns:a16="http://schemas.microsoft.com/office/drawing/2014/main" id="{25974D3B-0B8A-46F9-A0BB-AAC04EE18ACF}"/>
              </a:ext>
            </a:extLst>
          </p:cNvPr>
          <p:cNvPicPr>
            <a:picLocks noChangeAspect="1"/>
          </p:cNvPicPr>
          <p:nvPr/>
        </p:nvPicPr>
        <p:blipFill>
          <a:blip r:embed="rId3"/>
          <a:stretch>
            <a:fillRect/>
          </a:stretch>
        </p:blipFill>
        <p:spPr>
          <a:xfrm>
            <a:off x="1111348" y="4495893"/>
            <a:ext cx="9715678" cy="1851898"/>
          </a:xfrm>
          <a:prstGeom prst="rect">
            <a:avLst/>
          </a:prstGeom>
        </p:spPr>
      </p:pic>
    </p:spTree>
    <p:extLst>
      <p:ext uri="{BB962C8B-B14F-4D97-AF65-F5344CB8AC3E}">
        <p14:creationId xmlns:p14="http://schemas.microsoft.com/office/powerpoint/2010/main" val="1953433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FF7E2-AE20-4765-8B3D-E7D1701E67F5}"/>
              </a:ext>
            </a:extLst>
          </p:cNvPr>
          <p:cNvSpPr>
            <a:spLocks noGrp="1"/>
          </p:cNvSpPr>
          <p:nvPr>
            <p:ph type="title"/>
          </p:nvPr>
        </p:nvSpPr>
        <p:spPr>
          <a:xfrm>
            <a:off x="838200" y="365126"/>
            <a:ext cx="10515600" cy="858764"/>
          </a:xfrm>
        </p:spPr>
        <p:txBody>
          <a:bodyPr>
            <a:normAutofit/>
          </a:bodyPr>
          <a:lstStyle/>
          <a:p>
            <a:pPr algn="ctr"/>
            <a:r>
              <a:rPr lang="en-ZA" sz="3200" b="1" dirty="0">
                <a:latin typeface="+mn-lt"/>
              </a:rPr>
              <a:t>Syntax for propositions</a:t>
            </a:r>
            <a:endParaRPr lang="en-ZA" sz="3200" dirty="0">
              <a:latin typeface="+mn-lt"/>
            </a:endParaRPr>
          </a:p>
        </p:txBody>
      </p:sp>
      <p:sp>
        <p:nvSpPr>
          <p:cNvPr id="3" name="Content Placeholder 2">
            <a:extLst>
              <a:ext uri="{FF2B5EF4-FFF2-40B4-BE49-F238E27FC236}">
                <a16:creationId xmlns:a16="http://schemas.microsoft.com/office/drawing/2014/main" id="{602B0927-0EB5-4FFA-8BA0-666423AB9F73}"/>
              </a:ext>
            </a:extLst>
          </p:cNvPr>
          <p:cNvSpPr>
            <a:spLocks noGrp="1"/>
          </p:cNvSpPr>
          <p:nvPr>
            <p:ph idx="1"/>
          </p:nvPr>
        </p:nvSpPr>
        <p:spPr>
          <a:xfrm>
            <a:off x="838200" y="1510748"/>
            <a:ext cx="10515600" cy="4666215"/>
          </a:xfrm>
        </p:spPr>
        <p:txBody>
          <a:bodyPr>
            <a:normAutofit/>
          </a:bodyPr>
          <a:lstStyle/>
          <a:p>
            <a:pPr marL="0" indent="0">
              <a:buNone/>
            </a:pPr>
            <a:r>
              <a:rPr lang="en-US" b="1" u="sng" dirty="0"/>
              <a:t>DOMAINS</a:t>
            </a:r>
          </a:p>
          <a:p>
            <a:r>
              <a:rPr lang="en-US" dirty="0"/>
              <a:t>Random variables has domains</a:t>
            </a:r>
          </a:p>
          <a:p>
            <a:r>
              <a:rPr lang="en-US" dirty="0"/>
              <a:t>Domain is a set of possible values it can take on </a:t>
            </a:r>
          </a:p>
          <a:p>
            <a:pPr lvl="1">
              <a:buFont typeface="Wingdings" panose="05000000000000000000" pitchFamily="2" charset="2"/>
              <a:buChar char="Ø"/>
            </a:pPr>
            <a:r>
              <a:rPr lang="en-US" dirty="0"/>
              <a:t>Domain for Age to be {juvenile, teen, adult} and the</a:t>
            </a:r>
          </a:p>
          <a:p>
            <a:pPr lvl="1">
              <a:buFont typeface="Wingdings" panose="05000000000000000000" pitchFamily="2" charset="2"/>
              <a:buChar char="Ø"/>
            </a:pPr>
            <a:r>
              <a:rPr lang="en-US" dirty="0"/>
              <a:t>Domain of Weather might be {sunny, rain, cloudy, snow}. </a:t>
            </a:r>
          </a:p>
          <a:p>
            <a:r>
              <a:rPr lang="en-US" dirty="0"/>
              <a:t>These are known as the finite domain.</a:t>
            </a:r>
          </a:p>
          <a:p>
            <a:r>
              <a:rPr lang="en-US" dirty="0"/>
              <a:t>Variables can have infinite domains:</a:t>
            </a:r>
          </a:p>
          <a:p>
            <a:pPr lvl="1">
              <a:buFont typeface="Wingdings" panose="05000000000000000000" pitchFamily="2" charset="2"/>
              <a:buChar char="Ø"/>
            </a:pPr>
            <a:r>
              <a:rPr lang="en-US" dirty="0"/>
              <a:t> discrete (like the integers) or</a:t>
            </a:r>
          </a:p>
          <a:p>
            <a:pPr lvl="1">
              <a:buFont typeface="Wingdings" panose="05000000000000000000" pitchFamily="2" charset="2"/>
              <a:buChar char="Ø"/>
            </a:pPr>
            <a:r>
              <a:rPr lang="en-US" dirty="0"/>
              <a:t> continuous (like the reals)</a:t>
            </a:r>
          </a:p>
          <a:p>
            <a:pPr marL="0" indent="0">
              <a:buNone/>
            </a:pPr>
            <a:endParaRPr lang="en-ZA" dirty="0"/>
          </a:p>
        </p:txBody>
      </p:sp>
    </p:spTree>
    <p:extLst>
      <p:ext uri="{BB962C8B-B14F-4D97-AF65-F5344CB8AC3E}">
        <p14:creationId xmlns:p14="http://schemas.microsoft.com/office/powerpoint/2010/main" val="14740981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2E18-CAB7-4275-828E-93791CD18508}"/>
              </a:ext>
            </a:extLst>
          </p:cNvPr>
          <p:cNvSpPr>
            <a:spLocks noGrp="1"/>
          </p:cNvSpPr>
          <p:nvPr>
            <p:ph type="title"/>
          </p:nvPr>
        </p:nvSpPr>
        <p:spPr>
          <a:xfrm>
            <a:off x="838200" y="365126"/>
            <a:ext cx="10515600" cy="761310"/>
          </a:xfrm>
        </p:spPr>
        <p:txBody>
          <a:bodyPr/>
          <a:lstStyle/>
          <a:p>
            <a:r>
              <a:rPr lang="en-ZA" sz="3600" b="1" dirty="0">
                <a:latin typeface="+mn-lt"/>
              </a:rPr>
              <a:t>DOMAINS cont</a:t>
            </a:r>
            <a:r>
              <a:rPr lang="en-ZA" dirty="0"/>
              <a:t>.</a:t>
            </a:r>
          </a:p>
        </p:txBody>
      </p:sp>
      <p:sp>
        <p:nvSpPr>
          <p:cNvPr id="3" name="Content Placeholder 2">
            <a:extLst>
              <a:ext uri="{FF2B5EF4-FFF2-40B4-BE49-F238E27FC236}">
                <a16:creationId xmlns:a16="http://schemas.microsoft.com/office/drawing/2014/main" id="{32EAA653-F8F6-4511-90AA-3C36DC3E0215}"/>
              </a:ext>
            </a:extLst>
          </p:cNvPr>
          <p:cNvSpPr>
            <a:spLocks noGrp="1"/>
          </p:cNvSpPr>
          <p:nvPr>
            <p:ph idx="1"/>
          </p:nvPr>
        </p:nvSpPr>
        <p:spPr>
          <a:xfrm>
            <a:off x="838200" y="1643270"/>
            <a:ext cx="10515600" cy="4533693"/>
          </a:xfrm>
        </p:spPr>
        <p:txBody>
          <a:bodyPr>
            <a:normAutofit/>
          </a:bodyPr>
          <a:lstStyle/>
          <a:p>
            <a:pPr marL="0" indent="0">
              <a:lnSpc>
                <a:spcPct val="120000"/>
              </a:lnSpc>
              <a:buNone/>
            </a:pPr>
            <a:r>
              <a:rPr lang="en-US" dirty="0"/>
              <a:t>Boolean random variable:</a:t>
            </a:r>
          </a:p>
          <a:p>
            <a:pPr lvl="1">
              <a:lnSpc>
                <a:spcPct val="120000"/>
              </a:lnSpc>
            </a:pPr>
            <a:r>
              <a:rPr lang="en-US" dirty="0"/>
              <a:t>Domain {true, false} </a:t>
            </a:r>
          </a:p>
          <a:p>
            <a:pPr lvl="1">
              <a:lnSpc>
                <a:spcPct val="120000"/>
              </a:lnSpc>
            </a:pPr>
            <a:r>
              <a:rPr lang="en-US" dirty="0"/>
              <a:t>Values are always lowercase</a:t>
            </a:r>
          </a:p>
          <a:p>
            <a:pPr lvl="1">
              <a:lnSpc>
                <a:spcPct val="120000"/>
              </a:lnSpc>
            </a:pPr>
            <a:r>
              <a:rPr lang="en-US" dirty="0"/>
              <a:t>for example, the proposition that doubles are rolled can be written </a:t>
            </a:r>
          </a:p>
          <a:p>
            <a:pPr marL="0" indent="0">
              <a:lnSpc>
                <a:spcPct val="120000"/>
              </a:lnSpc>
              <a:buNone/>
            </a:pPr>
            <a:r>
              <a:rPr lang="en-US" dirty="0"/>
              <a:t>				Doubles = true</a:t>
            </a:r>
          </a:p>
          <a:p>
            <a:endParaRPr lang="en-ZA" dirty="0"/>
          </a:p>
        </p:txBody>
      </p:sp>
    </p:spTree>
    <p:extLst>
      <p:ext uri="{BB962C8B-B14F-4D97-AF65-F5344CB8AC3E}">
        <p14:creationId xmlns:p14="http://schemas.microsoft.com/office/powerpoint/2010/main" val="11546589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BC88F-2EBC-440A-A2E1-FF7E01456986}"/>
              </a:ext>
            </a:extLst>
          </p:cNvPr>
          <p:cNvSpPr>
            <a:spLocks noGrp="1"/>
          </p:cNvSpPr>
          <p:nvPr>
            <p:ph type="title"/>
          </p:nvPr>
        </p:nvSpPr>
        <p:spPr>
          <a:xfrm>
            <a:off x="838200" y="365125"/>
            <a:ext cx="10515600" cy="681797"/>
          </a:xfrm>
        </p:spPr>
        <p:txBody>
          <a:bodyPr>
            <a:normAutofit/>
          </a:bodyPr>
          <a:lstStyle/>
          <a:p>
            <a:r>
              <a:rPr lang="en-US" sz="3200" b="1" dirty="0">
                <a:latin typeface="+mn-lt"/>
              </a:rPr>
              <a:t>Domain cont.</a:t>
            </a:r>
            <a:endParaRPr lang="en-ZA" sz="3200" b="1" dirty="0">
              <a:latin typeface="+mn-lt"/>
            </a:endParaRPr>
          </a:p>
        </p:txBody>
      </p:sp>
      <p:sp>
        <p:nvSpPr>
          <p:cNvPr id="3" name="Content Placeholder 2">
            <a:extLst>
              <a:ext uri="{FF2B5EF4-FFF2-40B4-BE49-F238E27FC236}">
                <a16:creationId xmlns:a16="http://schemas.microsoft.com/office/drawing/2014/main" id="{C14E1728-67A2-4E17-9A8C-7A472B252AAF}"/>
              </a:ext>
            </a:extLst>
          </p:cNvPr>
          <p:cNvSpPr>
            <a:spLocks noGrp="1"/>
          </p:cNvSpPr>
          <p:nvPr>
            <p:ph idx="1"/>
          </p:nvPr>
        </p:nvSpPr>
        <p:spPr>
          <a:xfrm>
            <a:off x="838200" y="1391478"/>
            <a:ext cx="10515600" cy="4785485"/>
          </a:xfrm>
        </p:spPr>
        <p:txBody>
          <a:bodyPr>
            <a:normAutofit fontScale="70000" lnSpcReduction="20000"/>
          </a:bodyPr>
          <a:lstStyle/>
          <a:p>
            <a:pPr marL="0" indent="0">
              <a:lnSpc>
                <a:spcPct val="120000"/>
              </a:lnSpc>
              <a:buNone/>
            </a:pPr>
            <a:r>
              <a:rPr lang="en-US" dirty="0"/>
              <a:t>Sometimes we will want to talk about the probabilities of all the possible values of a random</a:t>
            </a:r>
          </a:p>
          <a:p>
            <a:pPr marL="0" indent="0">
              <a:lnSpc>
                <a:spcPct val="120000"/>
              </a:lnSpc>
              <a:buNone/>
            </a:pPr>
            <a:r>
              <a:rPr lang="en-US" dirty="0"/>
              <a:t>variable. We could write:</a:t>
            </a:r>
          </a:p>
          <a:p>
            <a:pPr marL="914400" lvl="2" indent="0">
              <a:lnSpc>
                <a:spcPct val="120000"/>
              </a:lnSpc>
              <a:buNone/>
            </a:pPr>
            <a:r>
              <a:rPr lang="en-US" sz="2600" dirty="0"/>
              <a:t>P(Weather = sunny)=0.6</a:t>
            </a:r>
          </a:p>
          <a:p>
            <a:pPr marL="914400" lvl="2" indent="0">
              <a:lnSpc>
                <a:spcPct val="120000"/>
              </a:lnSpc>
              <a:buNone/>
            </a:pPr>
            <a:r>
              <a:rPr lang="en-US" sz="2600" dirty="0"/>
              <a:t>P(Weather = rain)=0.1</a:t>
            </a:r>
          </a:p>
          <a:p>
            <a:pPr marL="914400" lvl="2" indent="0">
              <a:lnSpc>
                <a:spcPct val="120000"/>
              </a:lnSpc>
              <a:buNone/>
            </a:pPr>
            <a:r>
              <a:rPr lang="en-US" sz="2600" dirty="0"/>
              <a:t>P(Weather = cloudy)=0.29</a:t>
            </a:r>
          </a:p>
          <a:p>
            <a:pPr marL="914400" lvl="2" indent="0">
              <a:lnSpc>
                <a:spcPct val="120000"/>
              </a:lnSpc>
              <a:buNone/>
            </a:pPr>
            <a:r>
              <a:rPr lang="en-US" sz="2600" dirty="0"/>
              <a:t>P(Weather = snow)=0.01 ,</a:t>
            </a:r>
          </a:p>
          <a:p>
            <a:pPr marL="0" indent="0">
              <a:lnSpc>
                <a:spcPct val="120000"/>
              </a:lnSpc>
              <a:buNone/>
            </a:pPr>
            <a:r>
              <a:rPr lang="en-US" dirty="0"/>
              <a:t>but as an abbreviation we will allow </a:t>
            </a:r>
            <a:r>
              <a:rPr lang="en-US" b="1" dirty="0"/>
              <a:t>P</a:t>
            </a:r>
            <a:r>
              <a:rPr lang="en-US" dirty="0"/>
              <a:t>(Weather ) = {0.6, 0.1, 0.29, 0.01},</a:t>
            </a:r>
          </a:p>
          <a:p>
            <a:pPr marL="0" indent="0">
              <a:lnSpc>
                <a:spcPct val="120000"/>
              </a:lnSpc>
              <a:buNone/>
            </a:pPr>
            <a:r>
              <a:rPr lang="en-US" dirty="0"/>
              <a:t>The bold </a:t>
            </a:r>
            <a:r>
              <a:rPr lang="en-US" b="1" dirty="0"/>
              <a:t>P</a:t>
            </a:r>
            <a:r>
              <a:rPr lang="en-US" dirty="0"/>
              <a:t> indicates that the result is a vector of numbers, and where we assume a predefined ordering sunny, rain, cloudy, snow  on the domain of Weather . </a:t>
            </a:r>
          </a:p>
          <a:p>
            <a:pPr marL="0" indent="0">
              <a:lnSpc>
                <a:spcPct val="120000"/>
              </a:lnSpc>
              <a:buNone/>
            </a:pPr>
            <a:r>
              <a:rPr lang="en-US" dirty="0"/>
              <a:t>We say that the P statement defines a </a:t>
            </a:r>
            <a:r>
              <a:rPr lang="en-US" b="1" dirty="0"/>
              <a:t>probability distribution </a:t>
            </a:r>
            <a:r>
              <a:rPr lang="en-US" dirty="0"/>
              <a:t>for the random variable Weather . The P notation is also used for conditional distributions: P(X | Y ) gives the values of P(X = xi | Y = </a:t>
            </a:r>
            <a:r>
              <a:rPr lang="en-US" dirty="0" err="1"/>
              <a:t>yj</a:t>
            </a:r>
            <a:r>
              <a:rPr lang="en-US" dirty="0"/>
              <a:t> ) for each possible </a:t>
            </a:r>
            <a:r>
              <a:rPr lang="en-US" dirty="0" err="1"/>
              <a:t>i</a:t>
            </a:r>
            <a:r>
              <a:rPr lang="en-US" dirty="0"/>
              <a:t>, j pair</a:t>
            </a:r>
          </a:p>
          <a:p>
            <a:pPr marL="0" indent="0">
              <a:buNone/>
            </a:pPr>
            <a:endParaRPr lang="en-ZA" dirty="0"/>
          </a:p>
        </p:txBody>
      </p:sp>
    </p:spTree>
    <p:extLst>
      <p:ext uri="{BB962C8B-B14F-4D97-AF65-F5344CB8AC3E}">
        <p14:creationId xmlns:p14="http://schemas.microsoft.com/office/powerpoint/2010/main" val="1712259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9B20B-EEB4-47DC-978A-5F0331E1FB34}"/>
              </a:ext>
            </a:extLst>
          </p:cNvPr>
          <p:cNvSpPr>
            <a:spLocks noGrp="1"/>
          </p:cNvSpPr>
          <p:nvPr>
            <p:ph type="title"/>
          </p:nvPr>
        </p:nvSpPr>
        <p:spPr>
          <a:xfrm>
            <a:off x="838200" y="365126"/>
            <a:ext cx="10515600" cy="589032"/>
          </a:xfrm>
        </p:spPr>
        <p:txBody>
          <a:bodyPr>
            <a:normAutofit fontScale="90000"/>
          </a:bodyPr>
          <a:lstStyle/>
          <a:p>
            <a:r>
              <a:rPr lang="en-ZA" sz="3600" b="1" dirty="0">
                <a:latin typeface="+mn-lt"/>
              </a:rPr>
              <a:t>Syntax for propositions cont</a:t>
            </a:r>
            <a:r>
              <a:rPr lang="en-ZA" sz="4000" dirty="0"/>
              <a:t>.</a:t>
            </a:r>
          </a:p>
        </p:txBody>
      </p:sp>
      <p:pic>
        <p:nvPicPr>
          <p:cNvPr id="5" name="Content Placeholder 4" descr="Text&#10;&#10;Description automatically generated">
            <a:extLst>
              <a:ext uri="{FF2B5EF4-FFF2-40B4-BE49-F238E27FC236}">
                <a16:creationId xmlns:a16="http://schemas.microsoft.com/office/drawing/2014/main" id="{658A36BC-078A-48BD-A48C-328C4BF3CE10}"/>
              </a:ext>
            </a:extLst>
          </p:cNvPr>
          <p:cNvPicPr>
            <a:picLocks noGrp="1" noChangeAspect="1"/>
          </p:cNvPicPr>
          <p:nvPr>
            <p:ph idx="1"/>
          </p:nvPr>
        </p:nvPicPr>
        <p:blipFill>
          <a:blip r:embed="rId2"/>
          <a:stretch>
            <a:fillRect/>
          </a:stretch>
        </p:blipFill>
        <p:spPr>
          <a:xfrm>
            <a:off x="838200" y="1374775"/>
            <a:ext cx="9670774" cy="4997890"/>
          </a:xfrm>
        </p:spPr>
      </p:pic>
    </p:spTree>
    <p:extLst>
      <p:ext uri="{BB962C8B-B14F-4D97-AF65-F5344CB8AC3E}">
        <p14:creationId xmlns:p14="http://schemas.microsoft.com/office/powerpoint/2010/main" val="2467552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B583B-E812-4128-A192-48F87F50CEEE}"/>
              </a:ext>
            </a:extLst>
          </p:cNvPr>
          <p:cNvSpPr>
            <a:spLocks noGrp="1"/>
          </p:cNvSpPr>
          <p:nvPr>
            <p:ph type="title"/>
          </p:nvPr>
        </p:nvSpPr>
        <p:spPr>
          <a:xfrm>
            <a:off x="655320" y="681037"/>
            <a:ext cx="10515600" cy="909224"/>
          </a:xfrm>
        </p:spPr>
        <p:txBody>
          <a:bodyPr>
            <a:normAutofit/>
          </a:bodyPr>
          <a:lstStyle/>
          <a:p>
            <a:pPr algn="ctr"/>
            <a:r>
              <a:rPr lang="en-ZA" sz="3200" b="1" dirty="0">
                <a:latin typeface="+mn-lt"/>
              </a:rPr>
              <a:t>Unconditional probabilities</a:t>
            </a:r>
          </a:p>
        </p:txBody>
      </p:sp>
      <p:sp>
        <p:nvSpPr>
          <p:cNvPr id="3" name="Content Placeholder 2">
            <a:extLst>
              <a:ext uri="{FF2B5EF4-FFF2-40B4-BE49-F238E27FC236}">
                <a16:creationId xmlns:a16="http://schemas.microsoft.com/office/drawing/2014/main" id="{0C86A68E-8A57-4CE8-AAFF-C0124F0C6107}"/>
              </a:ext>
            </a:extLst>
          </p:cNvPr>
          <p:cNvSpPr>
            <a:spLocks noGrp="1"/>
          </p:cNvSpPr>
          <p:nvPr>
            <p:ph idx="1"/>
          </p:nvPr>
        </p:nvSpPr>
        <p:spPr>
          <a:xfrm>
            <a:off x="838200" y="2236762"/>
            <a:ext cx="10515600" cy="3940201"/>
          </a:xfrm>
        </p:spPr>
        <p:txBody>
          <a:bodyPr>
            <a:normAutofit/>
          </a:bodyPr>
          <a:lstStyle/>
          <a:p>
            <a:pPr lvl="1">
              <a:buFont typeface="Wingdings" panose="05000000000000000000" pitchFamily="2" charset="2"/>
              <a:buChar char="Ø"/>
            </a:pPr>
            <a:r>
              <a:rPr lang="en-US" sz="3500" dirty="0"/>
              <a:t>simply the probability of an event occurring. </a:t>
            </a:r>
          </a:p>
          <a:p>
            <a:pPr lvl="1">
              <a:buFont typeface="Wingdings" panose="05000000000000000000" pitchFamily="2" charset="2"/>
              <a:buChar char="Ø"/>
            </a:pPr>
            <a:r>
              <a:rPr lang="en-US" sz="3500" dirty="0"/>
              <a:t>probability of an event that is not conditioned on the occurrence of another event. </a:t>
            </a:r>
          </a:p>
          <a:p>
            <a:pPr lvl="1">
              <a:buFont typeface="Wingdings" panose="05000000000000000000" pitchFamily="2" charset="2"/>
              <a:buChar char="Ø"/>
            </a:pPr>
            <a:r>
              <a:rPr lang="en-US" sz="3500" dirty="0"/>
              <a:t>It is expressed as P(A).</a:t>
            </a:r>
          </a:p>
          <a:p>
            <a:pPr marL="457200" lvl="1" indent="0">
              <a:lnSpc>
                <a:spcPct val="100000"/>
              </a:lnSpc>
              <a:buNone/>
            </a:pPr>
            <a:endParaRPr lang="en-ZA" dirty="0"/>
          </a:p>
        </p:txBody>
      </p:sp>
    </p:spTree>
    <p:extLst>
      <p:ext uri="{BB962C8B-B14F-4D97-AF65-F5344CB8AC3E}">
        <p14:creationId xmlns:p14="http://schemas.microsoft.com/office/powerpoint/2010/main" val="23409223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00638B-D57B-4531-8167-AA70334C9848}"/>
              </a:ext>
            </a:extLst>
          </p:cNvPr>
          <p:cNvPicPr>
            <a:picLocks noChangeAspect="1"/>
          </p:cNvPicPr>
          <p:nvPr/>
        </p:nvPicPr>
        <p:blipFill>
          <a:blip r:embed="rId2"/>
          <a:stretch>
            <a:fillRect/>
          </a:stretch>
        </p:blipFill>
        <p:spPr>
          <a:xfrm>
            <a:off x="1392702" y="609461"/>
            <a:ext cx="8736035" cy="3200677"/>
          </a:xfrm>
          <a:prstGeom prst="rect">
            <a:avLst/>
          </a:prstGeom>
        </p:spPr>
      </p:pic>
      <p:pic>
        <p:nvPicPr>
          <p:cNvPr id="3" name="Picture 2">
            <a:extLst>
              <a:ext uri="{FF2B5EF4-FFF2-40B4-BE49-F238E27FC236}">
                <a16:creationId xmlns:a16="http://schemas.microsoft.com/office/drawing/2014/main" id="{7954CB55-7A14-477C-9B1D-CDC828C2AA40}"/>
              </a:ext>
            </a:extLst>
          </p:cNvPr>
          <p:cNvPicPr>
            <a:picLocks noChangeAspect="1"/>
          </p:cNvPicPr>
          <p:nvPr/>
        </p:nvPicPr>
        <p:blipFill>
          <a:blip r:embed="rId3"/>
          <a:stretch>
            <a:fillRect/>
          </a:stretch>
        </p:blipFill>
        <p:spPr>
          <a:xfrm>
            <a:off x="1392701" y="3924886"/>
            <a:ext cx="8736035" cy="2025748"/>
          </a:xfrm>
          <a:prstGeom prst="rect">
            <a:avLst/>
          </a:prstGeom>
        </p:spPr>
      </p:pic>
    </p:spTree>
    <p:extLst>
      <p:ext uri="{BB962C8B-B14F-4D97-AF65-F5344CB8AC3E}">
        <p14:creationId xmlns:p14="http://schemas.microsoft.com/office/powerpoint/2010/main" val="1109957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27FA4-1088-4E5D-BD0F-06FD4824EE43}"/>
              </a:ext>
            </a:extLst>
          </p:cNvPr>
          <p:cNvSpPr>
            <a:spLocks noGrp="1"/>
          </p:cNvSpPr>
          <p:nvPr>
            <p:ph type="title"/>
          </p:nvPr>
        </p:nvSpPr>
        <p:spPr>
          <a:xfrm>
            <a:off x="838200" y="357810"/>
            <a:ext cx="10515600" cy="967408"/>
          </a:xfrm>
        </p:spPr>
        <p:txBody>
          <a:bodyPr>
            <a:normAutofit fontScale="90000"/>
          </a:bodyPr>
          <a:lstStyle/>
          <a:p>
            <a:pPr algn="ctr"/>
            <a:r>
              <a:rPr lang="en-ZA" sz="3600" b="1" dirty="0">
                <a:latin typeface="+mn-lt"/>
              </a:rPr>
              <a:t>Conditional/ Posterior probability</a:t>
            </a:r>
            <a:br>
              <a:rPr lang="en-ZA" dirty="0"/>
            </a:br>
            <a:endParaRPr lang="en-ZA" dirty="0"/>
          </a:p>
        </p:txBody>
      </p:sp>
      <p:sp>
        <p:nvSpPr>
          <p:cNvPr id="3" name="Content Placeholder 2">
            <a:extLst>
              <a:ext uri="{FF2B5EF4-FFF2-40B4-BE49-F238E27FC236}">
                <a16:creationId xmlns:a16="http://schemas.microsoft.com/office/drawing/2014/main" id="{691DAFAF-0A44-4E5A-8F16-EFA3651747E7}"/>
              </a:ext>
            </a:extLst>
          </p:cNvPr>
          <p:cNvSpPr>
            <a:spLocks noGrp="1"/>
          </p:cNvSpPr>
          <p:nvPr>
            <p:ph idx="1"/>
          </p:nvPr>
        </p:nvSpPr>
        <p:spPr>
          <a:xfrm>
            <a:off x="838200" y="1232453"/>
            <a:ext cx="10515600" cy="4785484"/>
          </a:xfrm>
        </p:spPr>
        <p:txBody>
          <a:bodyPr/>
          <a:lstStyle/>
          <a:p>
            <a:r>
              <a:rPr lang="en-US" dirty="0"/>
              <a:t>probability of an event given that another event has occurred. </a:t>
            </a:r>
          </a:p>
          <a:p>
            <a:r>
              <a:rPr lang="en-US" dirty="0"/>
              <a:t>It is denoted as P(A | B) ("the probability of A given B").</a:t>
            </a:r>
          </a:p>
          <a:p>
            <a:r>
              <a:rPr lang="en-US" dirty="0"/>
              <a:t>conditional probabilities are defined in terms of unconditional probabilities:</a:t>
            </a:r>
          </a:p>
          <a:p>
            <a:endParaRPr lang="en-ZA" dirty="0"/>
          </a:p>
        </p:txBody>
      </p:sp>
      <p:pic>
        <p:nvPicPr>
          <p:cNvPr id="6" name="Picture 5" descr="Text, letter&#10;&#10;Description automatically generated">
            <a:extLst>
              <a:ext uri="{FF2B5EF4-FFF2-40B4-BE49-F238E27FC236}">
                <a16:creationId xmlns:a16="http://schemas.microsoft.com/office/drawing/2014/main" id="{91F4B2F4-227E-4C15-945D-500516493593}"/>
              </a:ext>
            </a:extLst>
          </p:cNvPr>
          <p:cNvPicPr>
            <a:picLocks noChangeAspect="1"/>
          </p:cNvPicPr>
          <p:nvPr/>
        </p:nvPicPr>
        <p:blipFill>
          <a:blip r:embed="rId2"/>
          <a:stretch>
            <a:fillRect/>
          </a:stretch>
        </p:blipFill>
        <p:spPr>
          <a:xfrm>
            <a:off x="838200" y="3115975"/>
            <a:ext cx="6982060" cy="1747369"/>
          </a:xfrm>
          <a:prstGeom prst="rect">
            <a:avLst/>
          </a:prstGeom>
        </p:spPr>
      </p:pic>
      <p:pic>
        <p:nvPicPr>
          <p:cNvPr id="8" name="Picture 7" descr="Diagram, venn diagram&#10;&#10;Description automatically generated">
            <a:extLst>
              <a:ext uri="{FF2B5EF4-FFF2-40B4-BE49-F238E27FC236}">
                <a16:creationId xmlns:a16="http://schemas.microsoft.com/office/drawing/2014/main" id="{91C0495C-B6B4-4B63-8F59-0B9BC94A571E}"/>
              </a:ext>
            </a:extLst>
          </p:cNvPr>
          <p:cNvPicPr>
            <a:picLocks noChangeAspect="1"/>
          </p:cNvPicPr>
          <p:nvPr/>
        </p:nvPicPr>
        <p:blipFill>
          <a:blip r:embed="rId3"/>
          <a:stretch>
            <a:fillRect/>
          </a:stretch>
        </p:blipFill>
        <p:spPr>
          <a:xfrm>
            <a:off x="4342667" y="4906732"/>
            <a:ext cx="3506666" cy="1747369"/>
          </a:xfrm>
          <a:prstGeom prst="rect">
            <a:avLst/>
          </a:prstGeom>
        </p:spPr>
      </p:pic>
      <p:sp>
        <p:nvSpPr>
          <p:cNvPr id="12" name="TextBox 11">
            <a:extLst>
              <a:ext uri="{FF2B5EF4-FFF2-40B4-BE49-F238E27FC236}">
                <a16:creationId xmlns:a16="http://schemas.microsoft.com/office/drawing/2014/main" id="{FEBC508B-A356-4FA7-B969-1BC8E1377870}"/>
              </a:ext>
            </a:extLst>
          </p:cNvPr>
          <p:cNvSpPr txBox="1"/>
          <p:nvPr/>
        </p:nvSpPr>
        <p:spPr>
          <a:xfrm>
            <a:off x="8533227" y="4395787"/>
            <a:ext cx="1394994" cy="2462213"/>
          </a:xfrm>
          <a:prstGeom prst="rect">
            <a:avLst/>
          </a:prstGeom>
          <a:noFill/>
        </p:spPr>
        <p:txBody>
          <a:bodyPr wrap="square">
            <a:spAutoFit/>
          </a:bodyPr>
          <a:lstStyle/>
          <a:p>
            <a:r>
              <a:rPr lang="en-US" sz="1400" dirty="0"/>
              <a:t>I.e., P(A|B) means,  our universe has  shrunk to the one  in which B is true.</a:t>
            </a:r>
          </a:p>
          <a:p>
            <a:endParaRPr lang="en-US" sz="1400" dirty="0"/>
          </a:p>
          <a:p>
            <a:r>
              <a:rPr lang="en-US" sz="1400" dirty="0"/>
              <a:t>P(A|B) is the ratio of  the </a:t>
            </a:r>
            <a:r>
              <a:rPr lang="en-US" sz="1400" dirty="0">
                <a:highlight>
                  <a:srgbClr val="FF0000"/>
                </a:highlight>
              </a:rPr>
              <a:t>red </a:t>
            </a:r>
            <a:r>
              <a:rPr lang="en-US" sz="1400" dirty="0"/>
              <a:t>area to the  </a:t>
            </a:r>
            <a:r>
              <a:rPr lang="en-US" sz="1400" dirty="0">
                <a:highlight>
                  <a:srgbClr val="0000FF"/>
                </a:highlight>
              </a:rPr>
              <a:t>blue</a:t>
            </a:r>
            <a:r>
              <a:rPr lang="en-US" sz="1400" dirty="0"/>
              <a:t> area.</a:t>
            </a:r>
          </a:p>
        </p:txBody>
      </p:sp>
    </p:spTree>
    <p:extLst>
      <p:ext uri="{BB962C8B-B14F-4D97-AF65-F5344CB8AC3E}">
        <p14:creationId xmlns:p14="http://schemas.microsoft.com/office/powerpoint/2010/main" val="2270183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5555D-D503-4B98-A0DB-0812562D605D}"/>
              </a:ext>
            </a:extLst>
          </p:cNvPr>
          <p:cNvSpPr>
            <a:spLocks noGrp="1"/>
          </p:cNvSpPr>
          <p:nvPr>
            <p:ph type="title"/>
          </p:nvPr>
        </p:nvSpPr>
        <p:spPr/>
        <p:txBody>
          <a:bodyPr>
            <a:normAutofit/>
          </a:bodyPr>
          <a:lstStyle/>
          <a:p>
            <a:r>
              <a:rPr lang="en-US" sz="3200" b="1" dirty="0">
                <a:latin typeface="+mn-lt"/>
              </a:rPr>
              <a:t>Conditional Probability cont.</a:t>
            </a:r>
            <a:endParaRPr lang="en-ZA" sz="3200" b="1" dirty="0">
              <a:latin typeface="+mn-lt"/>
            </a:endParaRPr>
          </a:p>
        </p:txBody>
      </p:sp>
      <p:sp>
        <p:nvSpPr>
          <p:cNvPr id="3" name="Content Placeholder 2">
            <a:extLst>
              <a:ext uri="{FF2B5EF4-FFF2-40B4-BE49-F238E27FC236}">
                <a16:creationId xmlns:a16="http://schemas.microsoft.com/office/drawing/2014/main" id="{36559CFC-7581-4356-AA19-0337DADD4716}"/>
              </a:ext>
            </a:extLst>
          </p:cNvPr>
          <p:cNvSpPr>
            <a:spLocks noGrp="1"/>
          </p:cNvSpPr>
          <p:nvPr>
            <p:ph idx="1"/>
          </p:nvPr>
        </p:nvSpPr>
        <p:spPr/>
        <p:txBody>
          <a:bodyPr/>
          <a:lstStyle/>
          <a:p>
            <a:pPr marL="0" indent="0">
              <a:buNone/>
            </a:pPr>
            <a:r>
              <a:rPr lang="en-US" dirty="0"/>
              <a:t>The definition of conditional probability, Equation can be written in a different </a:t>
            </a:r>
            <a:r>
              <a:rPr lang="en-US" dirty="0">
                <a:highlight>
                  <a:srgbClr val="0000FF"/>
                </a:highlight>
              </a:rPr>
              <a:t>PRODUCT RULE </a:t>
            </a:r>
            <a:r>
              <a:rPr lang="en-US" dirty="0"/>
              <a:t>form called the product rule:</a:t>
            </a:r>
          </a:p>
          <a:p>
            <a:pPr marL="0" indent="0">
              <a:buNone/>
            </a:pPr>
            <a:r>
              <a:rPr lang="en-US" dirty="0"/>
              <a:t>			P(a ∧ b) = P(a | b)P(b) ,</a:t>
            </a:r>
          </a:p>
          <a:p>
            <a:pPr marL="0" indent="0">
              <a:buNone/>
            </a:pPr>
            <a:r>
              <a:rPr lang="en-US" dirty="0"/>
              <a:t>The product rule is perhaps easier to remember it comes from the fact that, for a and b to be true, we need b to be true, and we also need a to be true given b.</a:t>
            </a:r>
            <a:endParaRPr lang="en-ZA" dirty="0"/>
          </a:p>
        </p:txBody>
      </p:sp>
    </p:spTree>
    <p:extLst>
      <p:ext uri="{BB962C8B-B14F-4D97-AF65-F5344CB8AC3E}">
        <p14:creationId xmlns:p14="http://schemas.microsoft.com/office/powerpoint/2010/main" val="1725218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90183BC5-25CA-4C6A-B2D6-0CDE1194A368}"/>
              </a:ext>
            </a:extLst>
          </p:cNvPr>
          <p:cNvPicPr>
            <a:picLocks noChangeAspect="1"/>
          </p:cNvPicPr>
          <p:nvPr/>
        </p:nvPicPr>
        <p:blipFill>
          <a:blip r:embed="rId2"/>
          <a:stretch>
            <a:fillRect/>
          </a:stretch>
        </p:blipFill>
        <p:spPr>
          <a:xfrm>
            <a:off x="1038018" y="416615"/>
            <a:ext cx="8753096" cy="4019550"/>
          </a:xfrm>
          <a:prstGeom prst="rect">
            <a:avLst/>
          </a:prstGeom>
        </p:spPr>
      </p:pic>
      <p:pic>
        <p:nvPicPr>
          <p:cNvPr id="5" name="Picture 4" descr="A picture containing text, orange, dark, close&#10;&#10;Description automatically generated">
            <a:extLst>
              <a:ext uri="{FF2B5EF4-FFF2-40B4-BE49-F238E27FC236}">
                <a16:creationId xmlns:a16="http://schemas.microsoft.com/office/drawing/2014/main" id="{AA9F15B6-8E54-4D96-8EE6-39821CF6B2F2}"/>
              </a:ext>
            </a:extLst>
          </p:cNvPr>
          <p:cNvPicPr>
            <a:picLocks noChangeAspect="1"/>
          </p:cNvPicPr>
          <p:nvPr/>
        </p:nvPicPr>
        <p:blipFill>
          <a:blip r:embed="rId3"/>
          <a:stretch>
            <a:fillRect/>
          </a:stretch>
        </p:blipFill>
        <p:spPr>
          <a:xfrm>
            <a:off x="1038017" y="4436165"/>
            <a:ext cx="8753095" cy="1167332"/>
          </a:xfrm>
          <a:prstGeom prst="rect">
            <a:avLst/>
          </a:prstGeom>
        </p:spPr>
      </p:pic>
    </p:spTree>
    <p:extLst>
      <p:ext uri="{BB962C8B-B14F-4D97-AF65-F5344CB8AC3E}">
        <p14:creationId xmlns:p14="http://schemas.microsoft.com/office/powerpoint/2010/main" val="4586043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97DB3-E72A-426D-870F-E68422C5AB34}"/>
              </a:ext>
            </a:extLst>
          </p:cNvPr>
          <p:cNvSpPr>
            <a:spLocks noGrp="1"/>
          </p:cNvSpPr>
          <p:nvPr>
            <p:ph type="title"/>
          </p:nvPr>
        </p:nvSpPr>
        <p:spPr>
          <a:xfrm>
            <a:off x="838200" y="365125"/>
            <a:ext cx="10515600" cy="827571"/>
          </a:xfrm>
        </p:spPr>
        <p:txBody>
          <a:bodyPr>
            <a:normAutofit/>
          </a:bodyPr>
          <a:lstStyle/>
          <a:p>
            <a:pPr algn="ctr"/>
            <a:r>
              <a:rPr lang="en-US" sz="3200" b="1" dirty="0">
                <a:latin typeface="+mn-lt"/>
              </a:rPr>
              <a:t> Inference using full joint distributions</a:t>
            </a:r>
            <a:endParaRPr lang="en-ZA" sz="3200" b="1" dirty="0">
              <a:latin typeface="+mn-lt"/>
            </a:endParaRPr>
          </a:p>
        </p:txBody>
      </p:sp>
      <p:sp>
        <p:nvSpPr>
          <p:cNvPr id="3" name="Content Placeholder 2">
            <a:extLst>
              <a:ext uri="{FF2B5EF4-FFF2-40B4-BE49-F238E27FC236}">
                <a16:creationId xmlns:a16="http://schemas.microsoft.com/office/drawing/2014/main" id="{91B1C741-3000-4608-9536-2F133E440407}"/>
              </a:ext>
            </a:extLst>
          </p:cNvPr>
          <p:cNvSpPr>
            <a:spLocks noGrp="1"/>
          </p:cNvSpPr>
          <p:nvPr>
            <p:ph idx="1"/>
          </p:nvPr>
        </p:nvSpPr>
        <p:spPr>
          <a:xfrm>
            <a:off x="838200" y="1192696"/>
            <a:ext cx="10515600" cy="5489458"/>
          </a:xfrm>
        </p:spPr>
        <p:txBody>
          <a:bodyPr/>
          <a:lstStyle/>
          <a:p>
            <a:pPr marL="0" indent="0">
              <a:buNone/>
            </a:pPr>
            <a:r>
              <a:rPr lang="en-US" dirty="0"/>
              <a:t>We begin with a simple example:</a:t>
            </a:r>
          </a:p>
          <a:p>
            <a:pPr lvl="1"/>
            <a:r>
              <a:rPr lang="en-US" dirty="0"/>
              <a:t>What is the probability of a </a:t>
            </a:r>
            <a:r>
              <a:rPr lang="en-US" dirty="0">
                <a:solidFill>
                  <a:srgbClr val="FF0000"/>
                </a:solidFill>
              </a:rPr>
              <a:t>cavity</a:t>
            </a:r>
            <a:r>
              <a:rPr lang="en-US" dirty="0"/>
              <a:t> giving a </a:t>
            </a:r>
            <a:r>
              <a:rPr lang="en-US" dirty="0">
                <a:solidFill>
                  <a:srgbClr val="FF0000"/>
                </a:solidFill>
              </a:rPr>
              <a:t>toothache</a:t>
            </a:r>
            <a:r>
              <a:rPr lang="en-US" dirty="0"/>
              <a:t>?</a:t>
            </a:r>
          </a:p>
          <a:p>
            <a:pPr lvl="1"/>
            <a:r>
              <a:rPr lang="en-ZA" dirty="0"/>
              <a:t>What is the probability of a </a:t>
            </a:r>
            <a:r>
              <a:rPr lang="en-ZA" dirty="0">
                <a:solidFill>
                  <a:srgbClr val="FF0000"/>
                </a:solidFill>
              </a:rPr>
              <a:t>cavity</a:t>
            </a:r>
            <a:r>
              <a:rPr lang="en-ZA" dirty="0"/>
              <a:t> given the probe </a:t>
            </a:r>
            <a:r>
              <a:rPr lang="en-ZA" dirty="0">
                <a:solidFill>
                  <a:srgbClr val="FF0000"/>
                </a:solidFill>
              </a:rPr>
              <a:t>catches</a:t>
            </a:r>
            <a:r>
              <a:rPr lang="en-ZA" dirty="0"/>
              <a:t>?</a:t>
            </a:r>
          </a:p>
          <a:p>
            <a:pPr marL="0" indent="0">
              <a:buNone/>
            </a:pPr>
            <a:r>
              <a:rPr lang="en-ZA" dirty="0"/>
              <a:t>Three random variables (R.V’s) each either True or False:</a:t>
            </a:r>
          </a:p>
          <a:p>
            <a:pPr marL="457200" lvl="1" indent="0">
              <a:buNone/>
            </a:pPr>
            <a:r>
              <a:rPr lang="en-ZA" dirty="0">
                <a:solidFill>
                  <a:srgbClr val="FF0000"/>
                </a:solidFill>
              </a:rPr>
              <a:t>Cavity, toothache, catches</a:t>
            </a:r>
          </a:p>
          <a:p>
            <a:pPr marL="0" indent="0">
              <a:buNone/>
            </a:pPr>
            <a:r>
              <a:rPr lang="en-ZA" dirty="0"/>
              <a:t>Start with the joint distribution:</a:t>
            </a:r>
          </a:p>
          <a:p>
            <a:pPr marL="0" indent="0">
              <a:buNone/>
            </a:pPr>
            <a:endParaRPr lang="en-ZA" dirty="0"/>
          </a:p>
          <a:p>
            <a:pPr marL="0" indent="0">
              <a:buNone/>
            </a:pPr>
            <a:endParaRPr lang="en-ZA" dirty="0"/>
          </a:p>
        </p:txBody>
      </p:sp>
      <p:pic>
        <p:nvPicPr>
          <p:cNvPr id="5" name="Picture 4" descr="Table&#10;&#10;Description automatically generated">
            <a:extLst>
              <a:ext uri="{FF2B5EF4-FFF2-40B4-BE49-F238E27FC236}">
                <a16:creationId xmlns:a16="http://schemas.microsoft.com/office/drawing/2014/main" id="{B00A7186-388E-49DF-B9CE-99D4E390027C}"/>
              </a:ext>
            </a:extLst>
          </p:cNvPr>
          <p:cNvPicPr>
            <a:picLocks noChangeAspect="1"/>
          </p:cNvPicPr>
          <p:nvPr/>
        </p:nvPicPr>
        <p:blipFill>
          <a:blip r:embed="rId2"/>
          <a:stretch>
            <a:fillRect/>
          </a:stretch>
        </p:blipFill>
        <p:spPr>
          <a:xfrm>
            <a:off x="3371850" y="3786601"/>
            <a:ext cx="4717073" cy="1878703"/>
          </a:xfrm>
          <a:prstGeom prst="rect">
            <a:avLst/>
          </a:prstGeom>
        </p:spPr>
      </p:pic>
      <p:pic>
        <p:nvPicPr>
          <p:cNvPr id="7" name="Picture 6">
            <a:extLst>
              <a:ext uri="{FF2B5EF4-FFF2-40B4-BE49-F238E27FC236}">
                <a16:creationId xmlns:a16="http://schemas.microsoft.com/office/drawing/2014/main" id="{151D2F37-D563-4AAF-B628-88D18E4A0C73}"/>
              </a:ext>
            </a:extLst>
          </p:cNvPr>
          <p:cNvPicPr>
            <a:picLocks noChangeAspect="1"/>
          </p:cNvPicPr>
          <p:nvPr/>
        </p:nvPicPr>
        <p:blipFill>
          <a:blip r:embed="rId3"/>
          <a:stretch>
            <a:fillRect/>
          </a:stretch>
        </p:blipFill>
        <p:spPr>
          <a:xfrm>
            <a:off x="838200" y="5810250"/>
            <a:ext cx="8685628" cy="871904"/>
          </a:xfrm>
          <a:prstGeom prst="rect">
            <a:avLst/>
          </a:prstGeom>
        </p:spPr>
      </p:pic>
    </p:spTree>
    <p:extLst>
      <p:ext uri="{BB962C8B-B14F-4D97-AF65-F5344CB8AC3E}">
        <p14:creationId xmlns:p14="http://schemas.microsoft.com/office/powerpoint/2010/main" val="2185841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714EF-8FC5-435E-B9B2-6DC3D316BC4D}"/>
              </a:ext>
            </a:extLst>
          </p:cNvPr>
          <p:cNvSpPr>
            <a:spLocks noGrp="1"/>
          </p:cNvSpPr>
          <p:nvPr>
            <p:ph type="title"/>
          </p:nvPr>
        </p:nvSpPr>
        <p:spPr>
          <a:xfrm>
            <a:off x="838200" y="365125"/>
            <a:ext cx="10515600" cy="718087"/>
          </a:xfrm>
        </p:spPr>
        <p:txBody>
          <a:bodyPr>
            <a:normAutofit/>
          </a:bodyPr>
          <a:lstStyle/>
          <a:p>
            <a:r>
              <a:rPr lang="en-US" dirty="0"/>
              <a:t> </a:t>
            </a:r>
            <a:r>
              <a:rPr lang="en-US" sz="3100" b="1" dirty="0">
                <a:latin typeface="+mn-lt"/>
              </a:rPr>
              <a:t>Inference using full joint distributions cont.</a:t>
            </a:r>
            <a:endParaRPr lang="en-ZA" sz="3100" b="1" dirty="0">
              <a:latin typeface="+mn-lt"/>
            </a:endParaRPr>
          </a:p>
        </p:txBody>
      </p:sp>
      <p:pic>
        <p:nvPicPr>
          <p:cNvPr id="5" name="Content Placeholder 4" descr="Table&#10;&#10;Description automatically generated">
            <a:extLst>
              <a:ext uri="{FF2B5EF4-FFF2-40B4-BE49-F238E27FC236}">
                <a16:creationId xmlns:a16="http://schemas.microsoft.com/office/drawing/2014/main" id="{A90C8162-63DD-4F60-A253-A5B9643BB939}"/>
              </a:ext>
            </a:extLst>
          </p:cNvPr>
          <p:cNvPicPr>
            <a:picLocks noGrp="1" noChangeAspect="1"/>
          </p:cNvPicPr>
          <p:nvPr>
            <p:ph idx="1"/>
          </p:nvPr>
        </p:nvPicPr>
        <p:blipFill>
          <a:blip r:embed="rId2"/>
          <a:stretch>
            <a:fillRect/>
          </a:stretch>
        </p:blipFill>
        <p:spPr>
          <a:xfrm>
            <a:off x="973118" y="1547446"/>
            <a:ext cx="9537895" cy="4945429"/>
          </a:xfrm>
        </p:spPr>
      </p:pic>
    </p:spTree>
    <p:extLst>
      <p:ext uri="{BB962C8B-B14F-4D97-AF65-F5344CB8AC3E}">
        <p14:creationId xmlns:p14="http://schemas.microsoft.com/office/powerpoint/2010/main" val="6503472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239A1-BF2C-4517-A5BE-30BBB6EA6EB1}"/>
              </a:ext>
            </a:extLst>
          </p:cNvPr>
          <p:cNvSpPr>
            <a:spLocks noGrp="1"/>
          </p:cNvSpPr>
          <p:nvPr>
            <p:ph type="title"/>
          </p:nvPr>
        </p:nvSpPr>
        <p:spPr/>
        <p:txBody>
          <a:bodyPr/>
          <a:lstStyle/>
          <a:p>
            <a:r>
              <a:rPr lang="en-US" dirty="0"/>
              <a:t> </a:t>
            </a:r>
            <a:r>
              <a:rPr lang="en-US" sz="3200" b="1" dirty="0">
                <a:latin typeface="+mn-lt"/>
              </a:rPr>
              <a:t>Inference using full joint distributions cont.</a:t>
            </a:r>
            <a:endParaRPr lang="en-ZA" sz="3200" b="1" dirty="0">
              <a:latin typeface="+mn-lt"/>
            </a:endParaRPr>
          </a:p>
        </p:txBody>
      </p:sp>
      <p:pic>
        <p:nvPicPr>
          <p:cNvPr id="5" name="Content Placeholder 4" descr="Table&#10;&#10;Description automatically generated">
            <a:extLst>
              <a:ext uri="{FF2B5EF4-FFF2-40B4-BE49-F238E27FC236}">
                <a16:creationId xmlns:a16="http://schemas.microsoft.com/office/drawing/2014/main" id="{7CA1E0EE-635B-4106-8C95-07BF24BDD2CC}"/>
              </a:ext>
            </a:extLst>
          </p:cNvPr>
          <p:cNvPicPr>
            <a:picLocks noGrp="1" noChangeAspect="1"/>
          </p:cNvPicPr>
          <p:nvPr>
            <p:ph idx="1"/>
          </p:nvPr>
        </p:nvPicPr>
        <p:blipFill>
          <a:blip r:embed="rId2"/>
          <a:stretch>
            <a:fillRect/>
          </a:stretch>
        </p:blipFill>
        <p:spPr>
          <a:xfrm>
            <a:off x="1026942" y="1470992"/>
            <a:ext cx="10213144" cy="4732860"/>
          </a:xfrm>
        </p:spPr>
      </p:pic>
    </p:spTree>
    <p:extLst>
      <p:ext uri="{BB962C8B-B14F-4D97-AF65-F5344CB8AC3E}">
        <p14:creationId xmlns:p14="http://schemas.microsoft.com/office/powerpoint/2010/main" val="815680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3E1BB-4588-49F3-93CF-97F867DECEFC}"/>
              </a:ext>
            </a:extLst>
          </p:cNvPr>
          <p:cNvSpPr>
            <a:spLocks noGrp="1"/>
          </p:cNvSpPr>
          <p:nvPr>
            <p:ph type="title"/>
          </p:nvPr>
        </p:nvSpPr>
        <p:spPr>
          <a:xfrm>
            <a:off x="838200" y="365125"/>
            <a:ext cx="10515600" cy="986597"/>
          </a:xfrm>
        </p:spPr>
        <p:txBody>
          <a:bodyPr>
            <a:normAutofit/>
          </a:bodyPr>
          <a:lstStyle/>
          <a:p>
            <a:r>
              <a:rPr lang="en-US" sz="3200" b="1" dirty="0">
                <a:latin typeface="+mn-lt"/>
              </a:rPr>
              <a:t>Inference using full joint distributions cont.</a:t>
            </a:r>
            <a:endParaRPr lang="en-ZA" sz="3200" b="1" dirty="0">
              <a:latin typeface="+mn-lt"/>
            </a:endParaRPr>
          </a:p>
        </p:txBody>
      </p:sp>
      <p:pic>
        <p:nvPicPr>
          <p:cNvPr id="5" name="Content Placeholder 4" descr="Table&#10;&#10;Description automatically generated">
            <a:extLst>
              <a:ext uri="{FF2B5EF4-FFF2-40B4-BE49-F238E27FC236}">
                <a16:creationId xmlns:a16="http://schemas.microsoft.com/office/drawing/2014/main" id="{11FA93CF-24A2-4171-9E8A-21DB7AD72753}"/>
              </a:ext>
            </a:extLst>
          </p:cNvPr>
          <p:cNvPicPr>
            <a:picLocks noGrp="1" noChangeAspect="1"/>
          </p:cNvPicPr>
          <p:nvPr>
            <p:ph idx="1"/>
          </p:nvPr>
        </p:nvPicPr>
        <p:blipFill>
          <a:blip r:embed="rId2"/>
          <a:stretch>
            <a:fillRect/>
          </a:stretch>
        </p:blipFill>
        <p:spPr>
          <a:xfrm>
            <a:off x="838201" y="1444487"/>
            <a:ext cx="9140686" cy="5048388"/>
          </a:xfrm>
        </p:spPr>
      </p:pic>
    </p:spTree>
    <p:extLst>
      <p:ext uri="{BB962C8B-B14F-4D97-AF65-F5344CB8AC3E}">
        <p14:creationId xmlns:p14="http://schemas.microsoft.com/office/powerpoint/2010/main" val="3448249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1CD4A-3A35-4F18-AA6C-521B2EFCDBEF}"/>
              </a:ext>
            </a:extLst>
          </p:cNvPr>
          <p:cNvSpPr>
            <a:spLocks noGrp="1"/>
          </p:cNvSpPr>
          <p:nvPr>
            <p:ph type="title"/>
          </p:nvPr>
        </p:nvSpPr>
        <p:spPr>
          <a:xfrm>
            <a:off x="838200" y="365125"/>
            <a:ext cx="10515600" cy="867327"/>
          </a:xfrm>
        </p:spPr>
        <p:txBody>
          <a:bodyPr>
            <a:normAutofit/>
          </a:bodyPr>
          <a:lstStyle/>
          <a:p>
            <a:pPr algn="ctr"/>
            <a:r>
              <a:rPr lang="en-US" sz="3600" b="1" dirty="0">
                <a:latin typeface="+mn-lt"/>
              </a:rPr>
              <a:t>The importance of independence</a:t>
            </a:r>
            <a:endParaRPr lang="en-ZA" sz="3600" b="1" dirty="0">
              <a:latin typeface="+mn-lt"/>
            </a:endParaRPr>
          </a:p>
        </p:txBody>
      </p:sp>
      <p:sp>
        <p:nvSpPr>
          <p:cNvPr id="3" name="Content Placeholder 2">
            <a:extLst>
              <a:ext uri="{FF2B5EF4-FFF2-40B4-BE49-F238E27FC236}">
                <a16:creationId xmlns:a16="http://schemas.microsoft.com/office/drawing/2014/main" id="{AD118E58-4DBD-4240-A055-621F61BD456A}"/>
              </a:ext>
            </a:extLst>
          </p:cNvPr>
          <p:cNvSpPr>
            <a:spLocks noGrp="1"/>
          </p:cNvSpPr>
          <p:nvPr>
            <p:ph idx="1"/>
          </p:nvPr>
        </p:nvSpPr>
        <p:spPr>
          <a:xfrm>
            <a:off x="838200" y="1325217"/>
            <a:ext cx="10515600" cy="4851746"/>
          </a:xfrm>
        </p:spPr>
        <p:txBody>
          <a:bodyPr/>
          <a:lstStyle/>
          <a:p>
            <a:r>
              <a:rPr lang="en-US" dirty="0"/>
              <a:t>P(Weather, Cavity) is a 4 by 2 matrix of values:</a:t>
            </a:r>
          </a:p>
          <a:p>
            <a:pPr marL="0" indent="0">
              <a:buNone/>
            </a:pPr>
            <a:endParaRPr lang="en-ZA" dirty="0"/>
          </a:p>
        </p:txBody>
      </p:sp>
      <p:pic>
        <p:nvPicPr>
          <p:cNvPr id="5" name="Picture 4" descr="A picture containing text, yellow, orange&#10;&#10;Description automatically generated">
            <a:extLst>
              <a:ext uri="{FF2B5EF4-FFF2-40B4-BE49-F238E27FC236}">
                <a16:creationId xmlns:a16="http://schemas.microsoft.com/office/drawing/2014/main" id="{3F9F12D7-F5C0-425E-A6FE-736515391529}"/>
              </a:ext>
            </a:extLst>
          </p:cNvPr>
          <p:cNvPicPr>
            <a:picLocks noChangeAspect="1"/>
          </p:cNvPicPr>
          <p:nvPr/>
        </p:nvPicPr>
        <p:blipFill>
          <a:blip r:embed="rId2"/>
          <a:stretch>
            <a:fillRect/>
          </a:stretch>
        </p:blipFill>
        <p:spPr>
          <a:xfrm>
            <a:off x="2574389" y="1899138"/>
            <a:ext cx="5416060" cy="1529862"/>
          </a:xfrm>
          <a:prstGeom prst="rect">
            <a:avLst/>
          </a:prstGeom>
        </p:spPr>
      </p:pic>
      <p:sp>
        <p:nvSpPr>
          <p:cNvPr id="7" name="TextBox 6">
            <a:extLst>
              <a:ext uri="{FF2B5EF4-FFF2-40B4-BE49-F238E27FC236}">
                <a16:creationId xmlns:a16="http://schemas.microsoft.com/office/drawing/2014/main" id="{587EEDBC-A652-45FF-981E-ED425BFA248E}"/>
              </a:ext>
            </a:extLst>
          </p:cNvPr>
          <p:cNvSpPr txBox="1"/>
          <p:nvPr/>
        </p:nvSpPr>
        <p:spPr>
          <a:xfrm>
            <a:off x="967409" y="3521765"/>
            <a:ext cx="9952382" cy="2677656"/>
          </a:xfrm>
          <a:prstGeom prst="rect">
            <a:avLst/>
          </a:prstGeom>
          <a:noFill/>
        </p:spPr>
        <p:txBody>
          <a:bodyPr wrap="square">
            <a:spAutoFit/>
          </a:bodyPr>
          <a:lstStyle/>
          <a:p>
            <a:pPr marL="285750" indent="-285750">
              <a:buFont typeface="Arial" panose="020B0604020202020204" pitchFamily="34" charset="0"/>
              <a:buChar char="•"/>
            </a:pPr>
            <a:r>
              <a:rPr lang="en-US" sz="2800" dirty="0"/>
              <a:t>But these are independent (usually):</a:t>
            </a:r>
          </a:p>
          <a:p>
            <a:pPr marL="742950" lvl="1" indent="-285750">
              <a:buFont typeface="Courier New" panose="02070309020205020404" pitchFamily="49" charset="0"/>
              <a:buChar char="o"/>
            </a:pPr>
            <a:r>
              <a:rPr lang="en-US" sz="2800" dirty="0"/>
              <a:t>Recall that if X and Y are independent then:</a:t>
            </a:r>
          </a:p>
          <a:p>
            <a:pPr marL="742950" lvl="1" indent="-285750">
              <a:buFont typeface="Courier New" panose="02070309020205020404" pitchFamily="49" charset="0"/>
              <a:buChar char="o"/>
            </a:pPr>
            <a:r>
              <a:rPr lang="en-US" sz="2800" dirty="0"/>
              <a:t>P(X=</a:t>
            </a:r>
            <a:r>
              <a:rPr lang="en-US" sz="2800" dirty="0" err="1"/>
              <a:t>x,Y</a:t>
            </a:r>
            <a:r>
              <a:rPr lang="en-US" sz="2800" dirty="0"/>
              <a:t>=y) = P(X=x)*P(Y=y)</a:t>
            </a:r>
          </a:p>
          <a:p>
            <a:pPr marL="742950" lvl="1" indent="-285750">
              <a:buFont typeface="Courier New" panose="02070309020205020404" pitchFamily="49" charset="0"/>
              <a:buChar char="o"/>
            </a:pPr>
            <a:endParaRPr lang="en-US" sz="2800" dirty="0"/>
          </a:p>
          <a:p>
            <a:r>
              <a:rPr lang="en-US" sz="2800" dirty="0"/>
              <a:t>Weather is one of &lt;</a:t>
            </a:r>
            <a:r>
              <a:rPr lang="en-US" sz="2800" dirty="0" err="1"/>
              <a:t>sunny,rain,cloudy,snow</a:t>
            </a:r>
            <a:r>
              <a:rPr lang="en-US" sz="2800" dirty="0"/>
              <a:t>&gt;</a:t>
            </a:r>
          </a:p>
          <a:p>
            <a:r>
              <a:rPr lang="en-US" sz="2800" dirty="0"/>
              <a:t>P(Weather) = &lt;0.72, 0.1, 0.08, 0.1&gt; and P(Cavity) = .1</a:t>
            </a:r>
          </a:p>
        </p:txBody>
      </p:sp>
    </p:spTree>
    <p:extLst>
      <p:ext uri="{BB962C8B-B14F-4D97-AF65-F5344CB8AC3E}">
        <p14:creationId xmlns:p14="http://schemas.microsoft.com/office/powerpoint/2010/main" val="6239005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82CB-7F5D-4C3E-AFF8-C1060C28BF65}"/>
              </a:ext>
            </a:extLst>
          </p:cNvPr>
          <p:cNvSpPr>
            <a:spLocks noGrp="1"/>
          </p:cNvSpPr>
          <p:nvPr>
            <p:ph type="title"/>
          </p:nvPr>
        </p:nvSpPr>
        <p:spPr>
          <a:xfrm>
            <a:off x="838200" y="365125"/>
            <a:ext cx="10515600" cy="734805"/>
          </a:xfrm>
        </p:spPr>
        <p:txBody>
          <a:bodyPr>
            <a:normAutofit/>
          </a:bodyPr>
          <a:lstStyle/>
          <a:p>
            <a:r>
              <a:rPr lang="en-ZA" sz="3200" b="1" dirty="0">
                <a:latin typeface="+mn-lt"/>
              </a:rPr>
              <a:t>The importance of independence cont.</a:t>
            </a:r>
          </a:p>
        </p:txBody>
      </p:sp>
      <p:sp>
        <p:nvSpPr>
          <p:cNvPr id="3" name="Content Placeholder 2">
            <a:extLst>
              <a:ext uri="{FF2B5EF4-FFF2-40B4-BE49-F238E27FC236}">
                <a16:creationId xmlns:a16="http://schemas.microsoft.com/office/drawing/2014/main" id="{5A420FC3-4EDF-43D9-8882-9F27F3F9F5FA}"/>
              </a:ext>
            </a:extLst>
          </p:cNvPr>
          <p:cNvSpPr>
            <a:spLocks noGrp="1"/>
          </p:cNvSpPr>
          <p:nvPr>
            <p:ph idx="1"/>
          </p:nvPr>
        </p:nvSpPr>
        <p:spPr>
          <a:xfrm>
            <a:off x="838199" y="1099930"/>
            <a:ext cx="10515600" cy="5169798"/>
          </a:xfrm>
        </p:spPr>
        <p:txBody>
          <a:bodyPr/>
          <a:lstStyle/>
          <a:p>
            <a:pPr marL="0" indent="0">
              <a:buNone/>
            </a:pPr>
            <a:r>
              <a:rPr lang="en-US" sz="2400" dirty="0"/>
              <a:t>If we compute the marginals (sums of rows or columns), we see:</a:t>
            </a:r>
          </a:p>
          <a:p>
            <a:pPr marL="0" indent="0">
              <a:buNone/>
            </a:pPr>
            <a:endParaRPr lang="en-US" dirty="0"/>
          </a:p>
          <a:p>
            <a:pPr marL="0" indent="0">
              <a:buNone/>
            </a:pPr>
            <a:endParaRPr lang="en-ZA" dirty="0"/>
          </a:p>
        </p:txBody>
      </p:sp>
      <p:pic>
        <p:nvPicPr>
          <p:cNvPr id="5" name="Picture 4" descr="A picture containing text, orange, yellow, bright&#10;&#10;Description automatically generated">
            <a:extLst>
              <a:ext uri="{FF2B5EF4-FFF2-40B4-BE49-F238E27FC236}">
                <a16:creationId xmlns:a16="http://schemas.microsoft.com/office/drawing/2014/main" id="{0A2018DA-D019-43D7-A5DC-D0EB9EC7426E}"/>
              </a:ext>
            </a:extLst>
          </p:cNvPr>
          <p:cNvPicPr>
            <a:picLocks noChangeAspect="1"/>
          </p:cNvPicPr>
          <p:nvPr/>
        </p:nvPicPr>
        <p:blipFill>
          <a:blip r:embed="rId2"/>
          <a:stretch>
            <a:fillRect/>
          </a:stretch>
        </p:blipFill>
        <p:spPr>
          <a:xfrm>
            <a:off x="2546252" y="1557337"/>
            <a:ext cx="6879101" cy="1748571"/>
          </a:xfrm>
          <a:prstGeom prst="rect">
            <a:avLst/>
          </a:prstGeom>
        </p:spPr>
      </p:pic>
      <p:sp>
        <p:nvSpPr>
          <p:cNvPr id="7" name="TextBox 6">
            <a:extLst>
              <a:ext uri="{FF2B5EF4-FFF2-40B4-BE49-F238E27FC236}">
                <a16:creationId xmlns:a16="http://schemas.microsoft.com/office/drawing/2014/main" id="{438BF008-9085-46F8-9F9C-53DD7007274A}"/>
              </a:ext>
            </a:extLst>
          </p:cNvPr>
          <p:cNvSpPr txBox="1"/>
          <p:nvPr/>
        </p:nvSpPr>
        <p:spPr>
          <a:xfrm>
            <a:off x="838199" y="3429000"/>
            <a:ext cx="10677940" cy="2677656"/>
          </a:xfrm>
          <a:prstGeom prst="rect">
            <a:avLst/>
          </a:prstGeom>
          <a:noFill/>
        </p:spPr>
        <p:txBody>
          <a:bodyPr wrap="square">
            <a:spAutoFit/>
          </a:bodyPr>
          <a:lstStyle/>
          <a:p>
            <a:r>
              <a:rPr lang="en-US" sz="2400" dirty="0"/>
              <a:t>Each entry is just the product of the marginals (because they’re independent)!</a:t>
            </a:r>
          </a:p>
          <a:p>
            <a:r>
              <a:rPr lang="en-US" sz="2400" dirty="0"/>
              <a:t>So, instead of using 7 numbers, we can represent these by just recording 4  numbers, 3 from Weather and 1 from Cavity:</a:t>
            </a:r>
          </a:p>
          <a:p>
            <a:r>
              <a:rPr lang="en-US" sz="2400" dirty="0"/>
              <a:t>Weather is one of &lt;</a:t>
            </a:r>
            <a:r>
              <a:rPr lang="en-US" sz="2400" dirty="0" err="1"/>
              <a:t>sunny,rain,cloudy,snow</a:t>
            </a:r>
            <a:r>
              <a:rPr lang="en-US" sz="2400" dirty="0"/>
              <a:t>&gt;</a:t>
            </a:r>
          </a:p>
          <a:p>
            <a:r>
              <a:rPr lang="en-US" sz="2400" dirty="0"/>
              <a:t>P(Weather) = &lt;0.72, 0.1, 0.08, (1- Sum of the others)&gt;</a:t>
            </a:r>
          </a:p>
          <a:p>
            <a:r>
              <a:rPr lang="en-US" sz="2400" dirty="0"/>
              <a:t>P(Cavity) = &lt;.1, (1-.1)&gt;</a:t>
            </a:r>
          </a:p>
          <a:p>
            <a:r>
              <a:rPr lang="en-US" sz="2400" dirty="0"/>
              <a:t>This can be much more efficient (more later…)</a:t>
            </a:r>
          </a:p>
        </p:txBody>
      </p:sp>
    </p:spTree>
    <p:extLst>
      <p:ext uri="{BB962C8B-B14F-4D97-AF65-F5344CB8AC3E}">
        <p14:creationId xmlns:p14="http://schemas.microsoft.com/office/powerpoint/2010/main" val="35044747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4C99-C507-474F-B640-5C4FD0CF2D5B}"/>
              </a:ext>
            </a:extLst>
          </p:cNvPr>
          <p:cNvSpPr>
            <a:spLocks noGrp="1"/>
          </p:cNvSpPr>
          <p:nvPr>
            <p:ph type="title"/>
          </p:nvPr>
        </p:nvSpPr>
        <p:spPr>
          <a:xfrm>
            <a:off x="838200" y="365126"/>
            <a:ext cx="10515600" cy="615536"/>
          </a:xfrm>
        </p:spPr>
        <p:txBody>
          <a:bodyPr>
            <a:normAutofit/>
          </a:bodyPr>
          <a:lstStyle/>
          <a:p>
            <a:pPr algn="ctr"/>
            <a:r>
              <a:rPr lang="en-ZA" sz="3200" b="1" dirty="0">
                <a:latin typeface="+mn-lt"/>
              </a:rPr>
              <a:t>Bayes Rule</a:t>
            </a:r>
          </a:p>
        </p:txBody>
      </p:sp>
      <p:sp>
        <p:nvSpPr>
          <p:cNvPr id="3" name="Content Placeholder 2">
            <a:extLst>
              <a:ext uri="{FF2B5EF4-FFF2-40B4-BE49-F238E27FC236}">
                <a16:creationId xmlns:a16="http://schemas.microsoft.com/office/drawing/2014/main" id="{41B1D13A-B8CC-44BC-BA8E-A2021A785859}"/>
              </a:ext>
            </a:extLst>
          </p:cNvPr>
          <p:cNvSpPr>
            <a:spLocks noGrp="1"/>
          </p:cNvSpPr>
          <p:nvPr>
            <p:ph idx="1"/>
          </p:nvPr>
        </p:nvSpPr>
        <p:spPr>
          <a:xfrm>
            <a:off x="838200" y="1139687"/>
            <a:ext cx="10515600" cy="5037276"/>
          </a:xfrm>
        </p:spPr>
        <p:txBody>
          <a:bodyPr/>
          <a:lstStyle/>
          <a:p>
            <a:pPr marL="0" indent="0">
              <a:buNone/>
            </a:pPr>
            <a:r>
              <a:rPr lang="en-US" dirty="0"/>
              <a:t>From product rule P(A^B) = P(A|B)P(B) = P(B|A)P(A), we can  obtain Bayes' rule</a:t>
            </a:r>
          </a:p>
          <a:p>
            <a:pPr marL="0" indent="0">
              <a:buNone/>
            </a:pPr>
            <a:endParaRPr lang="en-ZA" dirty="0"/>
          </a:p>
        </p:txBody>
      </p:sp>
      <p:pic>
        <p:nvPicPr>
          <p:cNvPr id="5" name="Picture 4" descr="Text&#10;&#10;Description automatically generated with low confidence">
            <a:extLst>
              <a:ext uri="{FF2B5EF4-FFF2-40B4-BE49-F238E27FC236}">
                <a16:creationId xmlns:a16="http://schemas.microsoft.com/office/drawing/2014/main" id="{8AB56E14-6E94-4074-8C82-F1ACC212472C}"/>
              </a:ext>
            </a:extLst>
          </p:cNvPr>
          <p:cNvPicPr>
            <a:picLocks noChangeAspect="1"/>
          </p:cNvPicPr>
          <p:nvPr/>
        </p:nvPicPr>
        <p:blipFill>
          <a:blip r:embed="rId2"/>
          <a:stretch>
            <a:fillRect/>
          </a:stretch>
        </p:blipFill>
        <p:spPr>
          <a:xfrm>
            <a:off x="3699803" y="2083133"/>
            <a:ext cx="3953022" cy="1068029"/>
          </a:xfrm>
          <a:prstGeom prst="rect">
            <a:avLst/>
          </a:prstGeom>
        </p:spPr>
      </p:pic>
      <p:sp>
        <p:nvSpPr>
          <p:cNvPr id="7" name="TextBox 6">
            <a:extLst>
              <a:ext uri="{FF2B5EF4-FFF2-40B4-BE49-F238E27FC236}">
                <a16:creationId xmlns:a16="http://schemas.microsoft.com/office/drawing/2014/main" id="{98596DB2-041C-48BE-8DD9-C3779B2624A6}"/>
              </a:ext>
            </a:extLst>
          </p:cNvPr>
          <p:cNvSpPr txBox="1"/>
          <p:nvPr/>
        </p:nvSpPr>
        <p:spPr>
          <a:xfrm>
            <a:off x="906907" y="3151162"/>
            <a:ext cx="9959876" cy="1815882"/>
          </a:xfrm>
          <a:prstGeom prst="rect">
            <a:avLst/>
          </a:prstGeom>
          <a:noFill/>
        </p:spPr>
        <p:txBody>
          <a:bodyPr wrap="square">
            <a:spAutoFit/>
          </a:bodyPr>
          <a:lstStyle/>
          <a:p>
            <a:r>
              <a:rPr lang="en-US" sz="2800" dirty="0"/>
              <a:t>Why is this useful???</a:t>
            </a:r>
          </a:p>
          <a:p>
            <a:r>
              <a:rPr lang="en-US" sz="2800" dirty="0"/>
              <a:t>For assessing diagnostic probability from causal probability:</a:t>
            </a:r>
          </a:p>
          <a:p>
            <a:r>
              <a:rPr lang="en-US" sz="2800" dirty="0"/>
              <a:t>e.g., Cavities as the cause of toothaches  Sleeping late as the cause for missing class  Meningitis as the cause of	a stiff neck</a:t>
            </a:r>
          </a:p>
        </p:txBody>
      </p:sp>
      <p:pic>
        <p:nvPicPr>
          <p:cNvPr id="9" name="Picture 8" descr="Text&#10;&#10;Description automatically generated with medium confidence">
            <a:extLst>
              <a:ext uri="{FF2B5EF4-FFF2-40B4-BE49-F238E27FC236}">
                <a16:creationId xmlns:a16="http://schemas.microsoft.com/office/drawing/2014/main" id="{0BB1505D-BB7E-4F71-8D7A-82DDB2E6026A}"/>
              </a:ext>
            </a:extLst>
          </p:cNvPr>
          <p:cNvPicPr>
            <a:picLocks noChangeAspect="1"/>
          </p:cNvPicPr>
          <p:nvPr/>
        </p:nvPicPr>
        <p:blipFill>
          <a:blip r:embed="rId3"/>
          <a:stretch>
            <a:fillRect/>
          </a:stretch>
        </p:blipFill>
        <p:spPr>
          <a:xfrm>
            <a:off x="2994991" y="5126069"/>
            <a:ext cx="5844209" cy="1050894"/>
          </a:xfrm>
          <a:prstGeom prst="rect">
            <a:avLst/>
          </a:prstGeom>
        </p:spPr>
      </p:pic>
    </p:spTree>
    <p:extLst>
      <p:ext uri="{BB962C8B-B14F-4D97-AF65-F5344CB8AC3E}">
        <p14:creationId xmlns:p14="http://schemas.microsoft.com/office/powerpoint/2010/main" val="1851293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7D6EA-BD32-4A45-B335-6C042372BE86}"/>
              </a:ext>
            </a:extLst>
          </p:cNvPr>
          <p:cNvSpPr>
            <a:spLocks noGrp="1"/>
          </p:cNvSpPr>
          <p:nvPr>
            <p:ph type="title"/>
          </p:nvPr>
        </p:nvSpPr>
        <p:spPr>
          <a:xfrm>
            <a:off x="838200" y="365126"/>
            <a:ext cx="10515600" cy="801066"/>
          </a:xfrm>
        </p:spPr>
        <p:txBody>
          <a:bodyPr>
            <a:normAutofit/>
          </a:bodyPr>
          <a:lstStyle/>
          <a:p>
            <a:r>
              <a:rPr lang="en-ZA" sz="3200" b="1" dirty="0">
                <a:latin typeface="+mn-lt"/>
              </a:rPr>
              <a:t>Bayes Rule: Example</a:t>
            </a:r>
          </a:p>
        </p:txBody>
      </p:sp>
      <p:pic>
        <p:nvPicPr>
          <p:cNvPr id="5" name="Content Placeholder 4" descr="Text, shape&#10;&#10;Description automatically generated with medium confidence">
            <a:extLst>
              <a:ext uri="{FF2B5EF4-FFF2-40B4-BE49-F238E27FC236}">
                <a16:creationId xmlns:a16="http://schemas.microsoft.com/office/drawing/2014/main" id="{69E1093A-7CEE-4CAE-BD95-E87623C177E9}"/>
              </a:ext>
            </a:extLst>
          </p:cNvPr>
          <p:cNvPicPr>
            <a:picLocks noGrp="1" noChangeAspect="1"/>
          </p:cNvPicPr>
          <p:nvPr>
            <p:ph idx="1"/>
          </p:nvPr>
        </p:nvPicPr>
        <p:blipFill>
          <a:blip r:embed="rId2"/>
          <a:stretch>
            <a:fillRect/>
          </a:stretch>
        </p:blipFill>
        <p:spPr>
          <a:xfrm>
            <a:off x="2827606" y="1472026"/>
            <a:ext cx="5936566" cy="905413"/>
          </a:xfrm>
        </p:spPr>
      </p:pic>
      <p:sp>
        <p:nvSpPr>
          <p:cNvPr id="7" name="TextBox 6">
            <a:extLst>
              <a:ext uri="{FF2B5EF4-FFF2-40B4-BE49-F238E27FC236}">
                <a16:creationId xmlns:a16="http://schemas.microsoft.com/office/drawing/2014/main" id="{992CA0A3-1AB8-4488-A063-4E6A256565BE}"/>
              </a:ext>
            </a:extLst>
          </p:cNvPr>
          <p:cNvSpPr txBox="1"/>
          <p:nvPr/>
        </p:nvSpPr>
        <p:spPr>
          <a:xfrm>
            <a:off x="838199" y="2683273"/>
            <a:ext cx="8891037" cy="830997"/>
          </a:xfrm>
          <a:prstGeom prst="rect">
            <a:avLst/>
          </a:prstGeom>
          <a:noFill/>
        </p:spPr>
        <p:txBody>
          <a:bodyPr wrap="square">
            <a:spAutoFit/>
          </a:bodyPr>
          <a:lstStyle/>
          <a:p>
            <a:r>
              <a:rPr lang="en-US" sz="2400" dirty="0"/>
              <a:t>Let M be meningitis, S be stiff neck</a:t>
            </a:r>
          </a:p>
          <a:p>
            <a:r>
              <a:rPr lang="en-US" sz="2400" dirty="0"/>
              <a:t>P(M)=0.0001  P(S)= 0.1  P(S | M) = 0.8</a:t>
            </a:r>
          </a:p>
        </p:txBody>
      </p:sp>
      <p:pic>
        <p:nvPicPr>
          <p:cNvPr id="9" name="Picture 8" descr="Text, shape&#10;&#10;Description automatically generated with medium confidence">
            <a:extLst>
              <a:ext uri="{FF2B5EF4-FFF2-40B4-BE49-F238E27FC236}">
                <a16:creationId xmlns:a16="http://schemas.microsoft.com/office/drawing/2014/main" id="{DCBBCC62-0731-4989-B051-E91A229059D0}"/>
              </a:ext>
            </a:extLst>
          </p:cNvPr>
          <p:cNvPicPr>
            <a:picLocks noChangeAspect="1"/>
          </p:cNvPicPr>
          <p:nvPr/>
        </p:nvPicPr>
        <p:blipFill>
          <a:blip r:embed="rId3"/>
          <a:stretch>
            <a:fillRect/>
          </a:stretch>
        </p:blipFill>
        <p:spPr>
          <a:xfrm>
            <a:off x="2827606" y="3743722"/>
            <a:ext cx="5936566" cy="830997"/>
          </a:xfrm>
          <a:prstGeom prst="rect">
            <a:avLst/>
          </a:prstGeom>
        </p:spPr>
      </p:pic>
      <p:sp>
        <p:nvSpPr>
          <p:cNvPr id="11" name="TextBox 10">
            <a:extLst>
              <a:ext uri="{FF2B5EF4-FFF2-40B4-BE49-F238E27FC236}">
                <a16:creationId xmlns:a16="http://schemas.microsoft.com/office/drawing/2014/main" id="{FDE7D71B-31FC-4B62-B3C3-A71D7C772E1E}"/>
              </a:ext>
            </a:extLst>
          </p:cNvPr>
          <p:cNvSpPr txBox="1"/>
          <p:nvPr/>
        </p:nvSpPr>
        <p:spPr>
          <a:xfrm>
            <a:off x="838199" y="4831078"/>
            <a:ext cx="10797209" cy="461665"/>
          </a:xfrm>
          <a:prstGeom prst="rect">
            <a:avLst/>
          </a:prstGeom>
          <a:noFill/>
        </p:spPr>
        <p:txBody>
          <a:bodyPr wrap="square">
            <a:spAutoFit/>
          </a:bodyPr>
          <a:lstStyle/>
          <a:p>
            <a:r>
              <a:rPr lang="en-US" sz="2400" dirty="0"/>
              <a:t>Note: posterior probability of meningitis still very small!</a:t>
            </a:r>
          </a:p>
        </p:txBody>
      </p:sp>
    </p:spTree>
    <p:extLst>
      <p:ext uri="{BB962C8B-B14F-4D97-AF65-F5344CB8AC3E}">
        <p14:creationId xmlns:p14="http://schemas.microsoft.com/office/powerpoint/2010/main" val="4205948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2EEE6-C5DF-4DAC-B8B8-D609B9C02A6D}"/>
              </a:ext>
            </a:extLst>
          </p:cNvPr>
          <p:cNvSpPr>
            <a:spLocks noGrp="1"/>
          </p:cNvSpPr>
          <p:nvPr>
            <p:ph type="title"/>
          </p:nvPr>
        </p:nvSpPr>
        <p:spPr>
          <a:xfrm>
            <a:off x="838200" y="365125"/>
            <a:ext cx="10515600" cy="695049"/>
          </a:xfrm>
        </p:spPr>
        <p:txBody>
          <a:bodyPr>
            <a:normAutofit/>
          </a:bodyPr>
          <a:lstStyle/>
          <a:p>
            <a:r>
              <a:rPr lang="en-ZA" sz="3200" b="1" dirty="0">
                <a:latin typeface="+mn-lt"/>
              </a:rPr>
              <a:t>Bayes Rule: Another Example</a:t>
            </a:r>
          </a:p>
        </p:txBody>
      </p:sp>
      <p:sp>
        <p:nvSpPr>
          <p:cNvPr id="3" name="Content Placeholder 2">
            <a:extLst>
              <a:ext uri="{FF2B5EF4-FFF2-40B4-BE49-F238E27FC236}">
                <a16:creationId xmlns:a16="http://schemas.microsoft.com/office/drawing/2014/main" id="{78C26D44-5EB5-4AA8-B2EB-ABF8F9FFA827}"/>
              </a:ext>
            </a:extLst>
          </p:cNvPr>
          <p:cNvSpPr>
            <a:spLocks noGrp="1"/>
          </p:cNvSpPr>
          <p:nvPr>
            <p:ph idx="1"/>
          </p:nvPr>
        </p:nvSpPr>
        <p:spPr>
          <a:xfrm>
            <a:off x="838200" y="1325217"/>
            <a:ext cx="10515600" cy="4851746"/>
          </a:xfrm>
        </p:spPr>
        <p:txBody>
          <a:bodyPr/>
          <a:lstStyle/>
          <a:p>
            <a:pPr marL="0" indent="0">
              <a:buNone/>
            </a:pPr>
            <a:r>
              <a:rPr lang="en-US" dirty="0"/>
              <a:t>Let A be AIDS, T be positive test result for AIDS</a:t>
            </a:r>
          </a:p>
          <a:p>
            <a:pPr marL="0" indent="0">
              <a:buNone/>
            </a:pPr>
            <a:r>
              <a:rPr lang="en-US" dirty="0"/>
              <a:t>P(T|A)=0.99 “true positive” rate of test (aka a “hit”)</a:t>
            </a:r>
          </a:p>
          <a:p>
            <a:pPr marL="0" indent="0">
              <a:buNone/>
            </a:pPr>
            <a:r>
              <a:rPr lang="en-US" dirty="0"/>
              <a:t>P(T|~A)= 0.005 “false positive” rate of test (aka a “false alarm”)  P(~T | A) = 1-0.99=.01 “false negative” or “miss”</a:t>
            </a:r>
          </a:p>
          <a:p>
            <a:pPr marL="0" indent="0">
              <a:buNone/>
            </a:pPr>
            <a:r>
              <a:rPr lang="en-US" dirty="0"/>
              <a:t>P(~T|~A) = 0.995 “correct rejection”</a:t>
            </a:r>
          </a:p>
          <a:p>
            <a:pPr marL="0" indent="0">
              <a:buNone/>
            </a:pPr>
            <a:endParaRPr lang="en-US" dirty="0"/>
          </a:p>
          <a:p>
            <a:pPr marL="0" indent="0">
              <a:buNone/>
            </a:pPr>
            <a:r>
              <a:rPr lang="en-US" dirty="0"/>
              <a:t>Seems like a pretty good test, right?</a:t>
            </a:r>
          </a:p>
          <a:p>
            <a:pPr marL="0" indent="0">
              <a:buNone/>
            </a:pPr>
            <a:endParaRPr lang="en-ZA" dirty="0"/>
          </a:p>
        </p:txBody>
      </p:sp>
    </p:spTree>
    <p:extLst>
      <p:ext uri="{BB962C8B-B14F-4D97-AF65-F5344CB8AC3E}">
        <p14:creationId xmlns:p14="http://schemas.microsoft.com/office/powerpoint/2010/main" val="1310970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DD159-285C-4BB4-AE4A-774A0DADE4F2}"/>
              </a:ext>
            </a:extLst>
          </p:cNvPr>
          <p:cNvSpPr>
            <a:spLocks noGrp="1"/>
          </p:cNvSpPr>
          <p:nvPr>
            <p:ph type="title"/>
          </p:nvPr>
        </p:nvSpPr>
        <p:spPr>
          <a:xfrm>
            <a:off x="838200" y="365126"/>
            <a:ext cx="10515600" cy="960092"/>
          </a:xfrm>
        </p:spPr>
        <p:txBody>
          <a:bodyPr>
            <a:normAutofit/>
          </a:bodyPr>
          <a:lstStyle/>
          <a:p>
            <a:r>
              <a:rPr lang="en-ZA" sz="3200" b="1" dirty="0">
                <a:latin typeface="+mn-lt"/>
              </a:rPr>
              <a:t>Bayes Rule: Another Example</a:t>
            </a:r>
          </a:p>
        </p:txBody>
      </p:sp>
      <p:sp>
        <p:nvSpPr>
          <p:cNvPr id="3" name="Content Placeholder 2">
            <a:extLst>
              <a:ext uri="{FF2B5EF4-FFF2-40B4-BE49-F238E27FC236}">
                <a16:creationId xmlns:a16="http://schemas.microsoft.com/office/drawing/2014/main" id="{F5B43100-F602-494D-9CF2-744E4F9C1492}"/>
              </a:ext>
            </a:extLst>
          </p:cNvPr>
          <p:cNvSpPr>
            <a:spLocks noGrp="1"/>
          </p:cNvSpPr>
          <p:nvPr>
            <p:ph idx="1"/>
          </p:nvPr>
        </p:nvSpPr>
        <p:spPr>
          <a:xfrm>
            <a:off x="838200" y="1325218"/>
            <a:ext cx="10515600" cy="4851745"/>
          </a:xfrm>
        </p:spPr>
        <p:txBody>
          <a:bodyPr>
            <a:normAutofit fontScale="55000" lnSpcReduction="20000"/>
          </a:bodyPr>
          <a:lstStyle/>
          <a:p>
            <a:pPr marL="0" indent="0">
              <a:lnSpc>
                <a:spcPct val="120000"/>
              </a:lnSpc>
              <a:buNone/>
            </a:pPr>
            <a:r>
              <a:rPr lang="en-US" sz="3200" dirty="0"/>
              <a:t>Let A be AIDS, T be positive test result for AIDS</a:t>
            </a:r>
          </a:p>
          <a:p>
            <a:pPr marL="0" indent="0">
              <a:lnSpc>
                <a:spcPct val="120000"/>
              </a:lnSpc>
              <a:buNone/>
            </a:pPr>
            <a:r>
              <a:rPr lang="en-US" sz="3200" dirty="0"/>
              <a:t>P(T|A)=0.99 “true positive” rate of test (aka a “hit”)</a:t>
            </a:r>
          </a:p>
          <a:p>
            <a:pPr marL="0" indent="0">
              <a:lnSpc>
                <a:spcPct val="120000"/>
              </a:lnSpc>
              <a:buNone/>
            </a:pPr>
            <a:r>
              <a:rPr lang="en-US" sz="3200" dirty="0"/>
              <a:t>P(T|~A)= 0.005 “false positive” rate of test (aka a “false alarm”)  P(~T | A) = 1-0.99=.01 “false negative” or “miss”</a:t>
            </a:r>
          </a:p>
          <a:p>
            <a:pPr marL="0" indent="0">
              <a:lnSpc>
                <a:spcPct val="120000"/>
              </a:lnSpc>
              <a:buNone/>
            </a:pPr>
            <a:r>
              <a:rPr lang="en-US" sz="3200" dirty="0"/>
              <a:t>P(~T|~A) = 0.995 “correct rejection”</a:t>
            </a:r>
          </a:p>
          <a:p>
            <a:pPr marL="0" indent="0">
              <a:lnSpc>
                <a:spcPct val="120000"/>
              </a:lnSpc>
              <a:buNone/>
            </a:pPr>
            <a:r>
              <a:rPr lang="en-US" sz="3200" dirty="0"/>
              <a:t>Now, suppose you are from a low-risk group, so P(A) = .001, and you get a  positive test result. Should you worry?</a:t>
            </a:r>
          </a:p>
          <a:p>
            <a:pPr marL="0" indent="0">
              <a:lnSpc>
                <a:spcPct val="120000"/>
              </a:lnSpc>
              <a:buNone/>
            </a:pPr>
            <a:r>
              <a:rPr lang="en-US" sz="3200" dirty="0"/>
              <a:t>Let’s compute it using Bayes’ rule: P(A|T) = P(T|A)*P(A)/P(T)  Hmmm. Wait a minute: How do we know P(T)?</a:t>
            </a:r>
          </a:p>
          <a:p>
            <a:pPr marL="0" indent="0">
              <a:lnSpc>
                <a:spcPct val="120000"/>
              </a:lnSpc>
              <a:buNone/>
            </a:pPr>
            <a:r>
              <a:rPr lang="en-US" sz="3200" dirty="0"/>
              <a:t>Recall there are two possibilities: Either you have AIDS or you don’t.  Therefore: P(A|T) + P(~A|T) = 1.</a:t>
            </a:r>
          </a:p>
          <a:p>
            <a:pPr marL="0" indent="0">
              <a:lnSpc>
                <a:spcPct val="120000"/>
              </a:lnSpc>
              <a:buNone/>
            </a:pPr>
            <a:r>
              <a:rPr lang="en-US" sz="3200" dirty="0"/>
              <a:t>P(~A|T) = P(T|~A)*P(~A)/P(T)</a:t>
            </a:r>
          </a:p>
          <a:p>
            <a:pPr marL="0" indent="0">
              <a:lnSpc>
                <a:spcPct val="120000"/>
              </a:lnSpc>
              <a:buNone/>
            </a:pPr>
            <a:r>
              <a:rPr lang="en-US" sz="3200" dirty="0"/>
              <a:t>So, P(A|T) + P(~A|T) = P(T|A)*P(A)/P(T) + P(T|~A)*P(~A)/P(T) = 1</a:t>
            </a:r>
          </a:p>
          <a:p>
            <a:pPr marL="0" indent="0">
              <a:buNone/>
            </a:pPr>
            <a:endParaRPr lang="en-ZA" dirty="0"/>
          </a:p>
        </p:txBody>
      </p:sp>
    </p:spTree>
    <p:extLst>
      <p:ext uri="{BB962C8B-B14F-4D97-AF65-F5344CB8AC3E}">
        <p14:creationId xmlns:p14="http://schemas.microsoft.com/office/powerpoint/2010/main" val="7666755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B2C0-B69A-4E6A-86D5-3E670B2BC89E}"/>
              </a:ext>
            </a:extLst>
          </p:cNvPr>
          <p:cNvSpPr>
            <a:spLocks noGrp="1"/>
          </p:cNvSpPr>
          <p:nvPr>
            <p:ph type="title"/>
          </p:nvPr>
        </p:nvSpPr>
        <p:spPr>
          <a:xfrm>
            <a:off x="838200" y="365125"/>
            <a:ext cx="10515600" cy="1013101"/>
          </a:xfrm>
        </p:spPr>
        <p:txBody>
          <a:bodyPr>
            <a:normAutofit/>
          </a:bodyPr>
          <a:lstStyle/>
          <a:p>
            <a:r>
              <a:rPr lang="en-ZA" sz="3200" b="1" dirty="0">
                <a:latin typeface="+mn-lt"/>
              </a:rPr>
              <a:t>Bayes Rule: Another Example</a:t>
            </a:r>
          </a:p>
        </p:txBody>
      </p:sp>
      <p:sp>
        <p:nvSpPr>
          <p:cNvPr id="3" name="Content Placeholder 2">
            <a:extLst>
              <a:ext uri="{FF2B5EF4-FFF2-40B4-BE49-F238E27FC236}">
                <a16:creationId xmlns:a16="http://schemas.microsoft.com/office/drawing/2014/main" id="{E1B76725-511B-4BD0-B9E8-5F11234EFBBB}"/>
              </a:ext>
            </a:extLst>
          </p:cNvPr>
          <p:cNvSpPr>
            <a:spLocks noGrp="1"/>
          </p:cNvSpPr>
          <p:nvPr>
            <p:ph idx="1"/>
          </p:nvPr>
        </p:nvSpPr>
        <p:spPr>
          <a:xfrm>
            <a:off x="838200" y="1378226"/>
            <a:ext cx="10515600" cy="4798737"/>
          </a:xfrm>
        </p:spPr>
        <p:txBody>
          <a:bodyPr>
            <a:normAutofit fontScale="62500" lnSpcReduction="20000"/>
          </a:bodyPr>
          <a:lstStyle/>
          <a:p>
            <a:pPr marL="0" indent="0">
              <a:lnSpc>
                <a:spcPct val="120000"/>
              </a:lnSpc>
              <a:buNone/>
            </a:pPr>
            <a:r>
              <a:rPr lang="en-US" dirty="0"/>
              <a:t>P(A|T) = P(T|A)*P(A)/P(T)</a:t>
            </a:r>
          </a:p>
          <a:p>
            <a:pPr marL="0" indent="0">
              <a:lnSpc>
                <a:spcPct val="120000"/>
              </a:lnSpc>
              <a:buNone/>
            </a:pPr>
            <a:r>
              <a:rPr lang="en-US" dirty="0"/>
              <a:t>Hmmm. Wait a minute: How do we know P(T)?</a:t>
            </a:r>
          </a:p>
          <a:p>
            <a:pPr marL="0" indent="0">
              <a:lnSpc>
                <a:spcPct val="120000"/>
              </a:lnSpc>
              <a:buNone/>
            </a:pPr>
            <a:r>
              <a:rPr lang="en-US" dirty="0"/>
              <a:t>Recall there are two possibilities: Either you have AIDS or you don’t.  </a:t>
            </a:r>
          </a:p>
          <a:p>
            <a:pPr marL="0" indent="0">
              <a:lnSpc>
                <a:spcPct val="120000"/>
              </a:lnSpc>
              <a:buNone/>
            </a:pPr>
            <a:r>
              <a:rPr lang="en-US" dirty="0"/>
              <a:t>Therefore: </a:t>
            </a:r>
            <a:r>
              <a:rPr lang="en-US" dirty="0">
                <a:highlight>
                  <a:srgbClr val="FFFF00"/>
                </a:highlight>
              </a:rPr>
              <a:t>P(A|T) + P(~A|T) = 1.</a:t>
            </a:r>
          </a:p>
          <a:p>
            <a:pPr marL="0" indent="0">
              <a:lnSpc>
                <a:spcPct val="120000"/>
              </a:lnSpc>
              <a:buNone/>
            </a:pPr>
            <a:r>
              <a:rPr lang="en-US" dirty="0"/>
              <a:t>Now, by Bayes’ rule:</a:t>
            </a:r>
          </a:p>
          <a:p>
            <a:pPr marL="0" indent="0">
              <a:lnSpc>
                <a:spcPct val="120000"/>
              </a:lnSpc>
              <a:buNone/>
            </a:pPr>
            <a:r>
              <a:rPr lang="en-US" dirty="0"/>
              <a:t>P(~A|T) = P(T|~A)*P(~A)/P(T)</a:t>
            </a:r>
          </a:p>
          <a:p>
            <a:pPr marL="0" indent="0">
              <a:lnSpc>
                <a:spcPct val="120000"/>
              </a:lnSpc>
              <a:buNone/>
            </a:pPr>
            <a:r>
              <a:rPr lang="en-US" dirty="0"/>
              <a:t>So,</a:t>
            </a:r>
          </a:p>
          <a:p>
            <a:pPr marL="0" indent="0">
              <a:lnSpc>
                <a:spcPct val="120000"/>
              </a:lnSpc>
              <a:buNone/>
            </a:pPr>
            <a:r>
              <a:rPr lang="en-US" dirty="0"/>
              <a:t>P(A|T) + P(~A|T) = P(T|A)*P(A)/P(T) + P(T|~A)*P(~A)/P(T) = 1</a:t>
            </a:r>
          </a:p>
          <a:p>
            <a:pPr marL="0" indent="0">
              <a:lnSpc>
                <a:spcPct val="120000"/>
              </a:lnSpc>
              <a:buNone/>
            </a:pPr>
            <a:r>
              <a:rPr lang="en-US" dirty="0"/>
              <a:t>P(T|A)*P(A) + P(T|~A)*P(~A) = P(T)</a:t>
            </a:r>
          </a:p>
          <a:p>
            <a:pPr marL="0" indent="0">
              <a:lnSpc>
                <a:spcPct val="120000"/>
              </a:lnSpc>
              <a:buNone/>
            </a:pPr>
            <a:r>
              <a:rPr lang="en-US" dirty="0"/>
              <a:t>The denominator is always the sum of the numerators if they are exhaustive  of the possibilities - a normalizing constant to make the probabilities sum to 1!</a:t>
            </a:r>
          </a:p>
          <a:p>
            <a:pPr marL="0" indent="0">
              <a:lnSpc>
                <a:spcPct val="120000"/>
              </a:lnSpc>
              <a:buNone/>
            </a:pPr>
            <a:r>
              <a:rPr lang="en-US" dirty="0"/>
              <a:t>We can compute the numerators and then normalize afterwards!</a:t>
            </a:r>
          </a:p>
          <a:p>
            <a:pPr marL="0" indent="0">
              <a:buNone/>
            </a:pPr>
            <a:endParaRPr lang="en-ZA" dirty="0"/>
          </a:p>
        </p:txBody>
      </p:sp>
    </p:spTree>
    <p:extLst>
      <p:ext uri="{BB962C8B-B14F-4D97-AF65-F5344CB8AC3E}">
        <p14:creationId xmlns:p14="http://schemas.microsoft.com/office/powerpoint/2010/main" val="2671321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8E9B-F3D3-49C3-ABA8-C58E2B58B708}"/>
              </a:ext>
            </a:extLst>
          </p:cNvPr>
          <p:cNvSpPr>
            <a:spLocks noGrp="1"/>
          </p:cNvSpPr>
          <p:nvPr>
            <p:ph type="title"/>
          </p:nvPr>
        </p:nvSpPr>
        <p:spPr>
          <a:xfrm>
            <a:off x="838200" y="365125"/>
            <a:ext cx="10515600" cy="840823"/>
          </a:xfrm>
        </p:spPr>
        <p:txBody>
          <a:bodyPr>
            <a:normAutofit/>
          </a:bodyPr>
          <a:lstStyle/>
          <a:p>
            <a:pPr algn="ctr"/>
            <a:r>
              <a:rPr lang="en-ZA" sz="3200" b="1" dirty="0">
                <a:latin typeface="+mn-lt"/>
              </a:rPr>
              <a:t>A generalized Bayes Rule</a:t>
            </a:r>
          </a:p>
        </p:txBody>
      </p:sp>
      <p:sp>
        <p:nvSpPr>
          <p:cNvPr id="3" name="Content Placeholder 2">
            <a:extLst>
              <a:ext uri="{FF2B5EF4-FFF2-40B4-BE49-F238E27FC236}">
                <a16:creationId xmlns:a16="http://schemas.microsoft.com/office/drawing/2014/main" id="{F6F46E20-63AD-48EA-995D-F7F1D1065C9E}"/>
              </a:ext>
            </a:extLst>
          </p:cNvPr>
          <p:cNvSpPr>
            <a:spLocks noGrp="1"/>
          </p:cNvSpPr>
          <p:nvPr>
            <p:ph idx="1"/>
          </p:nvPr>
        </p:nvSpPr>
        <p:spPr>
          <a:xfrm>
            <a:off x="827062" y="1802296"/>
            <a:ext cx="10837985" cy="4785485"/>
          </a:xfrm>
        </p:spPr>
        <p:txBody>
          <a:bodyPr/>
          <a:lstStyle/>
          <a:p>
            <a:r>
              <a:rPr lang="en-US" dirty="0"/>
              <a:t>More general version conditionalized on some  background evidence E</a:t>
            </a:r>
          </a:p>
          <a:p>
            <a:pPr marL="0" indent="0">
              <a:buNone/>
            </a:pPr>
            <a:endParaRPr lang="en-ZA" dirty="0"/>
          </a:p>
        </p:txBody>
      </p:sp>
      <p:pic>
        <p:nvPicPr>
          <p:cNvPr id="5" name="Picture 4" descr="Text&#10;&#10;Description automatically generated">
            <a:extLst>
              <a:ext uri="{FF2B5EF4-FFF2-40B4-BE49-F238E27FC236}">
                <a16:creationId xmlns:a16="http://schemas.microsoft.com/office/drawing/2014/main" id="{FFCA9ADF-E47F-48EF-AB6B-C5F01A095836}"/>
              </a:ext>
            </a:extLst>
          </p:cNvPr>
          <p:cNvPicPr>
            <a:picLocks noChangeAspect="1"/>
          </p:cNvPicPr>
          <p:nvPr/>
        </p:nvPicPr>
        <p:blipFill>
          <a:blip r:embed="rId2"/>
          <a:stretch>
            <a:fillRect/>
          </a:stretch>
        </p:blipFill>
        <p:spPr>
          <a:xfrm>
            <a:off x="2841672" y="2847608"/>
            <a:ext cx="6808763" cy="1162783"/>
          </a:xfrm>
          <a:prstGeom prst="rect">
            <a:avLst/>
          </a:prstGeom>
        </p:spPr>
      </p:pic>
    </p:spTree>
    <p:extLst>
      <p:ext uri="{BB962C8B-B14F-4D97-AF65-F5344CB8AC3E}">
        <p14:creationId xmlns:p14="http://schemas.microsoft.com/office/powerpoint/2010/main" val="8467790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CF463-A575-4CB2-8286-52FDBB7958A4}"/>
              </a:ext>
            </a:extLst>
          </p:cNvPr>
          <p:cNvSpPr>
            <a:spLocks noGrp="1"/>
          </p:cNvSpPr>
          <p:nvPr>
            <p:ph type="title"/>
          </p:nvPr>
        </p:nvSpPr>
        <p:spPr>
          <a:xfrm>
            <a:off x="838200" y="365126"/>
            <a:ext cx="10515600" cy="655292"/>
          </a:xfrm>
        </p:spPr>
        <p:txBody>
          <a:bodyPr>
            <a:normAutofit/>
          </a:bodyPr>
          <a:lstStyle/>
          <a:p>
            <a:pPr algn="ctr"/>
            <a:r>
              <a:rPr lang="en-ZA" sz="3200" b="1" dirty="0">
                <a:latin typeface="+mn-lt"/>
              </a:rPr>
              <a:t>Absolute Independence</a:t>
            </a:r>
          </a:p>
        </p:txBody>
      </p:sp>
      <p:sp>
        <p:nvSpPr>
          <p:cNvPr id="3" name="Content Placeholder 2">
            <a:extLst>
              <a:ext uri="{FF2B5EF4-FFF2-40B4-BE49-F238E27FC236}">
                <a16:creationId xmlns:a16="http://schemas.microsoft.com/office/drawing/2014/main" id="{90B444C8-10F3-4067-B886-FA6B284C8823}"/>
              </a:ext>
            </a:extLst>
          </p:cNvPr>
          <p:cNvSpPr>
            <a:spLocks noGrp="1"/>
          </p:cNvSpPr>
          <p:nvPr>
            <p:ph idx="1"/>
          </p:nvPr>
        </p:nvSpPr>
        <p:spPr>
          <a:xfrm>
            <a:off x="838200" y="1404730"/>
            <a:ext cx="10515600" cy="4772233"/>
          </a:xfrm>
        </p:spPr>
        <p:txBody>
          <a:bodyPr>
            <a:normAutofit fontScale="77500" lnSpcReduction="20000"/>
          </a:bodyPr>
          <a:lstStyle/>
          <a:p>
            <a:pPr marL="0" indent="0">
              <a:buNone/>
            </a:pPr>
            <a:r>
              <a:rPr lang="en-US" dirty="0"/>
              <a:t>Two random variables A and B are (absolutely) independent </a:t>
            </a:r>
            <a:r>
              <a:rPr lang="en-US" dirty="0" err="1"/>
              <a:t>iff</a:t>
            </a:r>
            <a:endParaRPr lang="en-US" dirty="0"/>
          </a:p>
          <a:p>
            <a:pPr marL="0" indent="0">
              <a:buNone/>
            </a:pPr>
            <a:r>
              <a:rPr lang="en-US" dirty="0"/>
              <a:t>P(A, B) = P(A)P(B)</a:t>
            </a:r>
          </a:p>
          <a:p>
            <a:pPr marL="0" indent="0">
              <a:buNone/>
            </a:pPr>
            <a:endParaRPr lang="en-US" dirty="0"/>
          </a:p>
          <a:p>
            <a:pPr marL="0" indent="0">
              <a:buNone/>
            </a:pPr>
            <a:r>
              <a:rPr lang="en-US" dirty="0"/>
              <a:t>Using product rule for A &amp; B independent, we can show:</a:t>
            </a:r>
          </a:p>
          <a:p>
            <a:pPr marL="0" indent="0">
              <a:buNone/>
            </a:pPr>
            <a:r>
              <a:rPr lang="en-US" dirty="0"/>
              <a:t>P(A, B) = P(A | B)P(B) = P(A)P(B)</a:t>
            </a:r>
          </a:p>
          <a:p>
            <a:pPr marL="0" indent="0">
              <a:buNone/>
            </a:pPr>
            <a:r>
              <a:rPr lang="en-US" dirty="0"/>
              <a:t>Therefore P(A | B) = P(A)</a:t>
            </a:r>
          </a:p>
          <a:p>
            <a:pPr marL="0" indent="0">
              <a:buNone/>
            </a:pPr>
            <a:endParaRPr lang="en-US" dirty="0"/>
          </a:p>
          <a:p>
            <a:pPr marL="0" indent="0">
              <a:buNone/>
            </a:pPr>
            <a:r>
              <a:rPr lang="en-US" dirty="0"/>
              <a:t>If n Boolean variables are independent, the full joint is:</a:t>
            </a:r>
          </a:p>
          <a:p>
            <a:pPr marL="0" indent="0">
              <a:buNone/>
            </a:pPr>
            <a:r>
              <a:rPr lang="en-US" dirty="0"/>
              <a:t>P(X1, …, </a:t>
            </a:r>
            <a:r>
              <a:rPr lang="en-US" dirty="0" err="1"/>
              <a:t>Xn</a:t>
            </a:r>
            <a:r>
              <a:rPr lang="en-US" dirty="0"/>
              <a:t>) = </a:t>
            </a:r>
            <a:r>
              <a:rPr lang="en-US" dirty="0" err="1"/>
              <a:t>i</a:t>
            </a:r>
            <a:r>
              <a:rPr lang="en-US" dirty="0"/>
              <a:t> P(Xi)</a:t>
            </a:r>
          </a:p>
          <a:p>
            <a:pPr marL="0" indent="0">
              <a:buNone/>
            </a:pPr>
            <a:r>
              <a:rPr lang="en-US" dirty="0"/>
              <a:t>Full joint is generally specified by 2n - 1 numbers, but when independent only n  numbers are needed.</a:t>
            </a:r>
          </a:p>
          <a:p>
            <a:pPr marL="0" indent="0">
              <a:buNone/>
            </a:pPr>
            <a:endParaRPr lang="en-US" dirty="0"/>
          </a:p>
          <a:p>
            <a:pPr marL="0" indent="0">
              <a:buNone/>
            </a:pPr>
            <a:r>
              <a:rPr lang="en-US" dirty="0"/>
              <a:t>Absolute independence is a very strong requirement, seldom met!!</a:t>
            </a:r>
          </a:p>
          <a:p>
            <a:pPr marL="0" indent="0">
              <a:buNone/>
            </a:pPr>
            <a:endParaRPr lang="en-ZA" dirty="0"/>
          </a:p>
        </p:txBody>
      </p:sp>
    </p:spTree>
    <p:extLst>
      <p:ext uri="{BB962C8B-B14F-4D97-AF65-F5344CB8AC3E}">
        <p14:creationId xmlns:p14="http://schemas.microsoft.com/office/powerpoint/2010/main" val="1546371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2718D-A671-424F-B871-476D8BBA9A20}"/>
              </a:ext>
            </a:extLst>
          </p:cNvPr>
          <p:cNvSpPr>
            <a:spLocks noGrp="1"/>
          </p:cNvSpPr>
          <p:nvPr>
            <p:ph type="title"/>
          </p:nvPr>
        </p:nvSpPr>
        <p:spPr>
          <a:xfrm>
            <a:off x="838200" y="365126"/>
            <a:ext cx="10515600" cy="774562"/>
          </a:xfrm>
        </p:spPr>
        <p:txBody>
          <a:bodyPr>
            <a:normAutofit/>
          </a:bodyPr>
          <a:lstStyle/>
          <a:p>
            <a:pPr algn="ctr"/>
            <a:r>
              <a:rPr lang="en-ZA" sz="3200" b="1" dirty="0">
                <a:latin typeface="+mn-lt"/>
              </a:rPr>
              <a:t>Conditional Independence</a:t>
            </a:r>
          </a:p>
        </p:txBody>
      </p:sp>
      <p:sp>
        <p:nvSpPr>
          <p:cNvPr id="3" name="Content Placeholder 2">
            <a:extLst>
              <a:ext uri="{FF2B5EF4-FFF2-40B4-BE49-F238E27FC236}">
                <a16:creationId xmlns:a16="http://schemas.microsoft.com/office/drawing/2014/main" id="{AB912530-1E53-4632-BD23-F8D45A5A4CEB}"/>
              </a:ext>
            </a:extLst>
          </p:cNvPr>
          <p:cNvSpPr>
            <a:spLocks noGrp="1"/>
          </p:cNvSpPr>
          <p:nvPr>
            <p:ph idx="1"/>
          </p:nvPr>
        </p:nvSpPr>
        <p:spPr>
          <a:xfrm>
            <a:off x="838200" y="1364974"/>
            <a:ext cx="10515600" cy="4811989"/>
          </a:xfrm>
        </p:spPr>
        <p:txBody>
          <a:bodyPr>
            <a:normAutofit fontScale="70000" lnSpcReduction="20000"/>
          </a:bodyPr>
          <a:lstStyle/>
          <a:p>
            <a:r>
              <a:rPr lang="en-US" dirty="0"/>
              <a:t>Some evidence may be irrelevant, allowing simplification, e.g.,</a:t>
            </a:r>
          </a:p>
          <a:p>
            <a:endParaRPr lang="en-US" dirty="0"/>
          </a:p>
          <a:p>
            <a:r>
              <a:rPr lang="en-US" dirty="0"/>
              <a:t>P(Cavity | Toothache, </a:t>
            </a:r>
            <a:r>
              <a:rPr lang="en-US" dirty="0" err="1"/>
              <a:t>PadresWin</a:t>
            </a:r>
            <a:r>
              <a:rPr lang="en-US" dirty="0"/>
              <a:t>) = P(Cavity | Toothache) = 0.8</a:t>
            </a:r>
          </a:p>
          <a:p>
            <a:endParaRPr lang="en-US" dirty="0"/>
          </a:p>
          <a:p>
            <a:r>
              <a:rPr lang="en-US" dirty="0"/>
              <a:t>This property is known as Conditional Independence and can be expressed as:  P(X | Y, Z) = P(X | Z)</a:t>
            </a:r>
          </a:p>
          <a:p>
            <a:r>
              <a:rPr lang="en-US" dirty="0"/>
              <a:t>which says that X and Y independent given Z.</a:t>
            </a:r>
          </a:p>
          <a:p>
            <a:pPr marL="0" indent="0">
              <a:buNone/>
            </a:pPr>
            <a:endParaRPr lang="en-US" dirty="0"/>
          </a:p>
          <a:p>
            <a:r>
              <a:rPr lang="en-US" dirty="0"/>
              <a:t>If I have a cavity, the probability that the dentist’s probe catches in it doesn't  depend on whether I have a toothache:</a:t>
            </a:r>
          </a:p>
          <a:p>
            <a:pPr marL="0" indent="0">
              <a:buNone/>
            </a:pPr>
            <a:r>
              <a:rPr lang="en-US" dirty="0"/>
              <a:t>	1. P(Catch | Toothache, Cavity) = P(Catch | Cavity)</a:t>
            </a:r>
          </a:p>
          <a:p>
            <a:pPr lvl="2"/>
            <a:r>
              <a:rPr lang="en-US" dirty="0"/>
              <a:t>i.e., Catch is conditionally independent of Toothache given Cavity</a:t>
            </a:r>
          </a:p>
          <a:p>
            <a:pPr lvl="2"/>
            <a:r>
              <a:rPr lang="en-US" dirty="0"/>
              <a:t>This doesn’t say anything about P(</a:t>
            </a:r>
            <a:r>
              <a:rPr lang="en-US" dirty="0" err="1"/>
              <a:t>Catch|Toothache</a:t>
            </a:r>
            <a:r>
              <a:rPr lang="en-US" dirty="0"/>
              <a:t>)</a:t>
            </a:r>
          </a:p>
          <a:p>
            <a:r>
              <a:rPr lang="en-US" dirty="0"/>
              <a:t>The same independence holds if I haven't got a cavity:</a:t>
            </a:r>
          </a:p>
          <a:p>
            <a:pPr marL="0" indent="0">
              <a:buNone/>
            </a:pPr>
            <a:r>
              <a:rPr lang="en-US" dirty="0"/>
              <a:t>	2. P(Catch | Toothache, ~Cavity) = P(Catch | ~Cavity)</a:t>
            </a:r>
          </a:p>
          <a:p>
            <a:pPr marL="0" indent="0">
              <a:buNone/>
            </a:pPr>
            <a:endParaRPr lang="en-ZA" dirty="0"/>
          </a:p>
        </p:txBody>
      </p:sp>
    </p:spTree>
    <p:extLst>
      <p:ext uri="{BB962C8B-B14F-4D97-AF65-F5344CB8AC3E}">
        <p14:creationId xmlns:p14="http://schemas.microsoft.com/office/powerpoint/2010/main" val="5413083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01E93-0A00-4F58-B108-C742F1997C5E}"/>
              </a:ext>
            </a:extLst>
          </p:cNvPr>
          <p:cNvSpPr>
            <a:spLocks noGrp="1"/>
          </p:cNvSpPr>
          <p:nvPr>
            <p:ph type="title"/>
          </p:nvPr>
        </p:nvSpPr>
        <p:spPr>
          <a:xfrm>
            <a:off x="838200" y="365126"/>
            <a:ext cx="10515600" cy="761310"/>
          </a:xfrm>
        </p:spPr>
        <p:txBody>
          <a:bodyPr>
            <a:normAutofit/>
          </a:bodyPr>
          <a:lstStyle/>
          <a:p>
            <a:r>
              <a:rPr lang="en-ZA" sz="3200" b="1" dirty="0">
                <a:latin typeface="+mn-lt"/>
              </a:rPr>
              <a:t>Conditional independence cont.</a:t>
            </a:r>
          </a:p>
        </p:txBody>
      </p:sp>
      <p:sp>
        <p:nvSpPr>
          <p:cNvPr id="3" name="Content Placeholder 2">
            <a:extLst>
              <a:ext uri="{FF2B5EF4-FFF2-40B4-BE49-F238E27FC236}">
                <a16:creationId xmlns:a16="http://schemas.microsoft.com/office/drawing/2014/main" id="{8E95040D-DBB6-4C6E-8DD5-E70DC8B22D6D}"/>
              </a:ext>
            </a:extLst>
          </p:cNvPr>
          <p:cNvSpPr>
            <a:spLocks noGrp="1"/>
          </p:cNvSpPr>
          <p:nvPr>
            <p:ph idx="1"/>
          </p:nvPr>
        </p:nvSpPr>
        <p:spPr>
          <a:xfrm>
            <a:off x="838200" y="1245704"/>
            <a:ext cx="10515600" cy="4931259"/>
          </a:xfrm>
        </p:spPr>
        <p:txBody>
          <a:bodyPr>
            <a:normAutofit/>
          </a:bodyPr>
          <a:lstStyle/>
          <a:p>
            <a:pPr marL="0" indent="0">
              <a:buNone/>
            </a:pPr>
            <a:r>
              <a:rPr lang="en-ZA" dirty="0"/>
              <a:t>Equivalent statements to</a:t>
            </a:r>
          </a:p>
          <a:p>
            <a:pPr marL="0" indent="0">
              <a:buNone/>
            </a:pPr>
            <a:r>
              <a:rPr lang="en-ZA" dirty="0"/>
              <a:t>	P(Catch | Toothache, Cavity) = P(Catch | Cavity)	( * )</a:t>
            </a:r>
          </a:p>
          <a:p>
            <a:pPr marL="0" indent="0">
              <a:buNone/>
            </a:pPr>
            <a:r>
              <a:rPr lang="en-ZA" dirty="0"/>
              <a:t>a. P(Toothache | Catch, Cavity) = P(Toothache | Cavity)  P(Toothache | 	Catch, Cavity)</a:t>
            </a:r>
          </a:p>
          <a:p>
            <a:pPr marL="457200" lvl="1" indent="0">
              <a:buNone/>
            </a:pPr>
            <a:r>
              <a:rPr lang="en-ZA" dirty="0"/>
              <a:t>= P(Catch | Toothache, Cavity) P(Toothache | Cavity) / P(Catch | Cavity)</a:t>
            </a:r>
          </a:p>
          <a:p>
            <a:pPr marL="457200" lvl="1" indent="0">
              <a:buNone/>
            </a:pPr>
            <a:r>
              <a:rPr lang="en-ZA" dirty="0"/>
              <a:t>= P(Catch | Cavity) P(Toothache | Cavity) / P(Catch | Cavity)	(from *)</a:t>
            </a:r>
          </a:p>
          <a:p>
            <a:pPr marL="457200" lvl="1" indent="0">
              <a:buNone/>
            </a:pPr>
            <a:r>
              <a:rPr lang="en-ZA" dirty="0"/>
              <a:t>= P(</a:t>
            </a:r>
            <a:r>
              <a:rPr lang="en-ZA" dirty="0" err="1"/>
              <a:t>Toothache|Cavity</a:t>
            </a:r>
            <a:r>
              <a:rPr lang="en-ZA" dirty="0"/>
              <a:t>)</a:t>
            </a:r>
          </a:p>
          <a:p>
            <a:pPr marL="0" indent="0">
              <a:buNone/>
            </a:pPr>
            <a:r>
              <a:rPr lang="en-ZA" dirty="0"/>
              <a:t>b. P(</a:t>
            </a:r>
            <a:r>
              <a:rPr lang="en-ZA" dirty="0" err="1"/>
              <a:t>Toothache,Catch|Cavity</a:t>
            </a:r>
            <a:r>
              <a:rPr lang="en-ZA" dirty="0"/>
              <a:t>) = P(</a:t>
            </a:r>
            <a:r>
              <a:rPr lang="en-ZA" dirty="0" err="1"/>
              <a:t>Toothache|Cavity</a:t>
            </a:r>
            <a:r>
              <a:rPr lang="en-ZA" dirty="0"/>
              <a:t>)P(</a:t>
            </a:r>
            <a:r>
              <a:rPr lang="en-ZA" dirty="0" err="1"/>
              <a:t>Catch|Cavity</a:t>
            </a:r>
            <a:r>
              <a:rPr lang="en-ZA" dirty="0"/>
              <a:t>)</a:t>
            </a:r>
          </a:p>
          <a:p>
            <a:pPr marL="0" indent="0">
              <a:buNone/>
            </a:pPr>
            <a:r>
              <a:rPr lang="en-ZA" dirty="0"/>
              <a:t>P(</a:t>
            </a:r>
            <a:r>
              <a:rPr lang="en-ZA" dirty="0" err="1"/>
              <a:t>Toothache,Catch</a:t>
            </a:r>
            <a:r>
              <a:rPr lang="en-ZA" dirty="0"/>
              <a:t> | Cavity)</a:t>
            </a:r>
          </a:p>
          <a:p>
            <a:pPr marL="457200" lvl="1" indent="0">
              <a:buNone/>
            </a:pPr>
            <a:r>
              <a:rPr lang="en-ZA" dirty="0"/>
              <a:t>= P(Toothache | </a:t>
            </a:r>
            <a:r>
              <a:rPr lang="en-ZA" dirty="0" err="1"/>
              <a:t>Catch,Cavity</a:t>
            </a:r>
            <a:r>
              <a:rPr lang="en-ZA" dirty="0"/>
              <a:t>) P(Catch | Cavity) (product rule)</a:t>
            </a:r>
          </a:p>
          <a:p>
            <a:pPr marL="457200" lvl="1" indent="0">
              <a:buNone/>
            </a:pPr>
            <a:r>
              <a:rPr lang="en-ZA" dirty="0"/>
              <a:t>= P(Toothache | Cavity) P(Catch | Cavity)</a:t>
            </a:r>
          </a:p>
          <a:p>
            <a:pPr marL="0" indent="0">
              <a:buNone/>
            </a:pPr>
            <a:endParaRPr lang="en-ZA" dirty="0"/>
          </a:p>
        </p:txBody>
      </p:sp>
    </p:spTree>
    <p:extLst>
      <p:ext uri="{BB962C8B-B14F-4D97-AF65-F5344CB8AC3E}">
        <p14:creationId xmlns:p14="http://schemas.microsoft.com/office/powerpoint/2010/main" val="11418562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188B-67AF-4D20-B93D-7BFFDA12FE2A}"/>
              </a:ext>
            </a:extLst>
          </p:cNvPr>
          <p:cNvSpPr>
            <a:spLocks noGrp="1"/>
          </p:cNvSpPr>
          <p:nvPr>
            <p:ph type="title"/>
          </p:nvPr>
        </p:nvSpPr>
        <p:spPr>
          <a:xfrm>
            <a:off x="838200" y="365126"/>
            <a:ext cx="10515600" cy="933588"/>
          </a:xfrm>
        </p:spPr>
        <p:txBody>
          <a:bodyPr>
            <a:normAutofit/>
          </a:bodyPr>
          <a:lstStyle/>
          <a:p>
            <a:r>
              <a:rPr lang="en-ZA" sz="3200" b="1" dirty="0">
                <a:latin typeface="+mn-lt"/>
              </a:rPr>
              <a:t>Using Conditional Independence</a:t>
            </a:r>
          </a:p>
        </p:txBody>
      </p:sp>
      <p:sp>
        <p:nvSpPr>
          <p:cNvPr id="3" name="Content Placeholder 2">
            <a:extLst>
              <a:ext uri="{FF2B5EF4-FFF2-40B4-BE49-F238E27FC236}">
                <a16:creationId xmlns:a16="http://schemas.microsoft.com/office/drawing/2014/main" id="{B8A28026-1868-45E0-86A1-36549DCCAAA7}"/>
              </a:ext>
            </a:extLst>
          </p:cNvPr>
          <p:cNvSpPr>
            <a:spLocks noGrp="1"/>
          </p:cNvSpPr>
          <p:nvPr>
            <p:ph idx="1"/>
          </p:nvPr>
        </p:nvSpPr>
        <p:spPr>
          <a:xfrm>
            <a:off x="838200" y="1775793"/>
            <a:ext cx="10515600" cy="4878249"/>
          </a:xfrm>
        </p:spPr>
        <p:txBody>
          <a:bodyPr/>
          <a:lstStyle/>
          <a:p>
            <a:pPr marL="0" indent="0">
              <a:lnSpc>
                <a:spcPct val="150000"/>
              </a:lnSpc>
              <a:buNone/>
            </a:pPr>
            <a:r>
              <a:rPr lang="en-US" dirty="0"/>
              <a:t>Full joint distribution can now be written as</a:t>
            </a:r>
          </a:p>
          <a:p>
            <a:pPr marL="0" indent="0">
              <a:lnSpc>
                <a:spcPct val="150000"/>
              </a:lnSpc>
              <a:buNone/>
            </a:pPr>
            <a:r>
              <a:rPr lang="en-US" dirty="0"/>
              <a:t>P(</a:t>
            </a:r>
            <a:r>
              <a:rPr lang="en-US" dirty="0" err="1"/>
              <a:t>Toothache,Catch,Cavity</a:t>
            </a:r>
            <a:r>
              <a:rPr lang="en-US" dirty="0"/>
              <a:t>)</a:t>
            </a:r>
          </a:p>
          <a:p>
            <a:pPr marL="457200" lvl="1" indent="0">
              <a:lnSpc>
                <a:spcPct val="150000"/>
              </a:lnSpc>
              <a:buNone/>
            </a:pPr>
            <a:r>
              <a:rPr lang="en-US" dirty="0"/>
              <a:t>= (</a:t>
            </a:r>
            <a:r>
              <a:rPr lang="en-US" dirty="0" err="1"/>
              <a:t>Toothache,Catch</a:t>
            </a:r>
            <a:r>
              <a:rPr lang="en-US" dirty="0"/>
              <a:t> | Cavity) P(Cavity)</a:t>
            </a:r>
          </a:p>
          <a:p>
            <a:pPr marL="457200" lvl="1" indent="0">
              <a:lnSpc>
                <a:spcPct val="150000"/>
              </a:lnSpc>
              <a:buNone/>
            </a:pPr>
            <a:r>
              <a:rPr lang="en-US" dirty="0"/>
              <a:t>= P(Toothache | Cavity)P(Catch | Cavity)P(Cavity)</a:t>
            </a:r>
          </a:p>
          <a:p>
            <a:pPr marL="0" indent="0">
              <a:lnSpc>
                <a:spcPct val="150000"/>
              </a:lnSpc>
              <a:buNone/>
            </a:pPr>
            <a:r>
              <a:rPr lang="en-US" dirty="0"/>
              <a:t>Specified by 2 + 2 + 1 = 5 independent numbers  Compared to 7 for general joint or 3 for unconditionally independent.</a:t>
            </a:r>
          </a:p>
          <a:p>
            <a:pPr marL="0" indent="0">
              <a:buNone/>
            </a:pPr>
            <a:endParaRPr lang="en-ZA" dirty="0"/>
          </a:p>
        </p:txBody>
      </p:sp>
    </p:spTree>
    <p:extLst>
      <p:ext uri="{BB962C8B-B14F-4D97-AF65-F5344CB8AC3E}">
        <p14:creationId xmlns:p14="http://schemas.microsoft.com/office/powerpoint/2010/main" val="12732056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1710</TotalTime>
  <Words>2888</Words>
  <Application>Microsoft Office PowerPoint</Application>
  <PresentationFormat>Widescreen</PresentationFormat>
  <Paragraphs>237</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Courier New</vt:lpstr>
      <vt:lpstr>Wingdings</vt:lpstr>
      <vt:lpstr>Office Theme</vt:lpstr>
      <vt:lpstr>QUANTIFYING UNCERTAINTY </vt:lpstr>
      <vt:lpstr>This Lecture</vt:lpstr>
      <vt:lpstr>Uncertainty</vt:lpstr>
      <vt:lpstr>Uncertainty cont.</vt:lpstr>
      <vt:lpstr>Uncertainty cont.</vt:lpstr>
      <vt:lpstr>Solution using probability theory:</vt:lpstr>
      <vt:lpstr>Uncertainty and rational decisions</vt:lpstr>
      <vt:lpstr>Rational Approach cont.</vt:lpstr>
      <vt:lpstr>Rational Approach cont.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Probabilities</vt:lpstr>
      <vt:lpstr>Probability basics</vt:lpstr>
      <vt:lpstr>Propositions</vt:lpstr>
      <vt:lpstr>PowerPoint Presentation</vt:lpstr>
      <vt:lpstr>Syntax for propositions</vt:lpstr>
      <vt:lpstr>DOMAINS cont.</vt:lpstr>
      <vt:lpstr>Domain cont.</vt:lpstr>
      <vt:lpstr>Syntax for propositions cont.</vt:lpstr>
      <vt:lpstr>Unconditional probabilities</vt:lpstr>
      <vt:lpstr>PowerPoint Presentation</vt:lpstr>
      <vt:lpstr>Conditional/ Posterior probability </vt:lpstr>
      <vt:lpstr>Conditional Probability cont.</vt:lpstr>
      <vt:lpstr>PowerPoint Presentation</vt:lpstr>
      <vt:lpstr> Inference using full joint distributions</vt:lpstr>
      <vt:lpstr> Inference using full joint distributions cont.</vt:lpstr>
      <vt:lpstr> Inference using full joint distributions cont.</vt:lpstr>
      <vt:lpstr>Inference using full joint distributions cont.</vt:lpstr>
      <vt:lpstr>The importance of independence</vt:lpstr>
      <vt:lpstr>The importance of independence cont.</vt:lpstr>
      <vt:lpstr>Bayes Rule</vt:lpstr>
      <vt:lpstr>Bayes Rule: Example</vt:lpstr>
      <vt:lpstr>Bayes Rule: Another Example</vt:lpstr>
      <vt:lpstr>Bayes Rule: Another Example</vt:lpstr>
      <vt:lpstr>Bayes Rule: Another Example</vt:lpstr>
      <vt:lpstr>A generalized Bayes Rule</vt:lpstr>
      <vt:lpstr>Absolute Independence</vt:lpstr>
      <vt:lpstr>Conditional Independence</vt:lpstr>
      <vt:lpstr>Conditional independence cont.</vt:lpstr>
      <vt:lpstr>Using Conditional Independence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QUANTIFYING UNCERTAINTY </dc:title>
  <dc:creator>Madaniyah Mohamed</dc:creator>
  <cp:lastModifiedBy>Thabiso Matsaba Matsaba</cp:lastModifiedBy>
  <cp:revision>25</cp:revision>
  <dcterms:created xsi:type="dcterms:W3CDTF">2021-08-22T20:14:21Z</dcterms:created>
  <dcterms:modified xsi:type="dcterms:W3CDTF">2021-11-05T19:07:58Z</dcterms:modified>
</cp:coreProperties>
</file>