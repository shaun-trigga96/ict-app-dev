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3" r:id="rId5"/>
    <p:sldId id="261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308" r:id="rId17"/>
    <p:sldId id="275" r:id="rId18"/>
    <p:sldId id="276" r:id="rId19"/>
    <p:sldId id="277" r:id="rId20"/>
    <p:sldId id="285" r:id="rId21"/>
    <p:sldId id="286" r:id="rId22"/>
    <p:sldId id="287" r:id="rId23"/>
    <p:sldId id="278" r:id="rId24"/>
    <p:sldId id="280" r:id="rId25"/>
    <p:sldId id="284" r:id="rId26"/>
    <p:sldId id="288" r:id="rId27"/>
    <p:sldId id="289" r:id="rId28"/>
    <p:sldId id="290" r:id="rId29"/>
    <p:sldId id="291" r:id="rId30"/>
    <p:sldId id="292" r:id="rId31"/>
    <p:sldId id="293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97EC5E-FCC8-41F0-90D2-F52D7C37BE5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F6414C-B24A-47B7-BE4E-5A27A5DC2954}">
      <dgm:prSet/>
      <dgm:spPr/>
      <dgm:t>
        <a:bodyPr/>
        <a:lstStyle/>
        <a:p>
          <a:r>
            <a:rPr lang="en-ZA"/>
            <a:t>Logical inference creates new sentences that logically follow from a set of sentences (KB).</a:t>
          </a:r>
          <a:endParaRPr lang="en-US"/>
        </a:p>
      </dgm:t>
    </dgm:pt>
    <dgm:pt modelId="{5F62E180-98C5-4484-A675-7D7C3D95D9E8}" type="parTrans" cxnId="{63B13849-378E-4FBB-958D-93717DCAFB88}">
      <dgm:prSet/>
      <dgm:spPr/>
      <dgm:t>
        <a:bodyPr/>
        <a:lstStyle/>
        <a:p>
          <a:endParaRPr lang="en-US"/>
        </a:p>
      </dgm:t>
    </dgm:pt>
    <dgm:pt modelId="{3282AB7F-A9D9-4155-86F2-E799C233DEDF}" type="sibTrans" cxnId="{63B13849-378E-4FBB-958D-93717DCAFB88}">
      <dgm:prSet/>
      <dgm:spPr/>
      <dgm:t>
        <a:bodyPr/>
        <a:lstStyle/>
        <a:p>
          <a:endParaRPr lang="en-US"/>
        </a:p>
      </dgm:t>
    </dgm:pt>
    <dgm:pt modelId="{0D178B9B-E51C-4570-AEC8-5BF34277E746}">
      <dgm:prSet/>
      <dgm:spPr/>
      <dgm:t>
        <a:bodyPr/>
        <a:lstStyle/>
        <a:p>
          <a:r>
            <a:rPr lang="en-ZA" dirty="0"/>
            <a:t>An inference rule </a:t>
          </a:r>
          <a:r>
            <a:rPr lang="en-ZA" dirty="0">
              <a:highlight>
                <a:srgbClr val="FFFF00"/>
              </a:highlight>
            </a:rPr>
            <a:t>is sound </a:t>
          </a:r>
          <a:r>
            <a:rPr lang="en-ZA" dirty="0"/>
            <a:t>if every sentence it produces when operating on a KB logically follows from the KB.</a:t>
          </a:r>
          <a:endParaRPr lang="en-US" dirty="0"/>
        </a:p>
      </dgm:t>
    </dgm:pt>
    <dgm:pt modelId="{85B88997-79E3-41EC-B8C5-86E04E2257CD}" type="parTrans" cxnId="{8D4ACDB1-33F8-405A-9D37-DE8F3E7F6C5A}">
      <dgm:prSet/>
      <dgm:spPr/>
      <dgm:t>
        <a:bodyPr/>
        <a:lstStyle/>
        <a:p>
          <a:endParaRPr lang="en-US"/>
        </a:p>
      </dgm:t>
    </dgm:pt>
    <dgm:pt modelId="{85F4966F-2F85-4429-86A9-ED0310D8B271}" type="sibTrans" cxnId="{8D4ACDB1-33F8-405A-9D37-DE8F3E7F6C5A}">
      <dgm:prSet/>
      <dgm:spPr/>
      <dgm:t>
        <a:bodyPr/>
        <a:lstStyle/>
        <a:p>
          <a:endParaRPr lang="en-US"/>
        </a:p>
      </dgm:t>
    </dgm:pt>
    <dgm:pt modelId="{51DF630A-EF11-45CA-8229-705F422AFB3B}">
      <dgm:prSet/>
      <dgm:spPr/>
      <dgm:t>
        <a:bodyPr/>
        <a:lstStyle/>
        <a:p>
          <a:r>
            <a:rPr lang="en-ZA"/>
            <a:t>i.e., inference rule creates no contradictions.</a:t>
          </a:r>
          <a:endParaRPr lang="en-US"/>
        </a:p>
      </dgm:t>
    </dgm:pt>
    <dgm:pt modelId="{340790C1-8313-44A4-B963-F20922ABA6E1}" type="parTrans" cxnId="{9ADF8B25-A276-4D9A-991B-FEE69243B640}">
      <dgm:prSet/>
      <dgm:spPr/>
      <dgm:t>
        <a:bodyPr/>
        <a:lstStyle/>
        <a:p>
          <a:endParaRPr lang="en-US"/>
        </a:p>
      </dgm:t>
    </dgm:pt>
    <dgm:pt modelId="{3C5E55CA-A85A-4E9B-9E59-5FA23E609D89}" type="sibTrans" cxnId="{9ADF8B25-A276-4D9A-991B-FEE69243B640}">
      <dgm:prSet/>
      <dgm:spPr/>
      <dgm:t>
        <a:bodyPr/>
        <a:lstStyle/>
        <a:p>
          <a:endParaRPr lang="en-US"/>
        </a:p>
      </dgm:t>
    </dgm:pt>
    <dgm:pt modelId="{ED0073EE-488D-4372-80FF-1221B6CA389A}">
      <dgm:prSet/>
      <dgm:spPr/>
      <dgm:t>
        <a:bodyPr/>
        <a:lstStyle/>
        <a:p>
          <a:r>
            <a:rPr lang="en-ZA" dirty="0"/>
            <a:t>An inference rule is </a:t>
          </a:r>
          <a:r>
            <a:rPr lang="en-ZA" dirty="0">
              <a:highlight>
                <a:srgbClr val="FFFF00"/>
              </a:highlight>
            </a:rPr>
            <a:t>complete</a:t>
          </a:r>
          <a:r>
            <a:rPr lang="en-ZA" dirty="0"/>
            <a:t> if it can produce every expression that logically follows from (is entailed by) the K.</a:t>
          </a:r>
          <a:endParaRPr lang="en-US" dirty="0"/>
        </a:p>
      </dgm:t>
    </dgm:pt>
    <dgm:pt modelId="{BA69FBEE-351B-4040-8762-F9DA8E5D57DB}" type="parTrans" cxnId="{6792E7B3-B39C-4F05-A059-B8B47BC84FAF}">
      <dgm:prSet/>
      <dgm:spPr/>
      <dgm:t>
        <a:bodyPr/>
        <a:lstStyle/>
        <a:p>
          <a:endParaRPr lang="en-US"/>
        </a:p>
      </dgm:t>
    </dgm:pt>
    <dgm:pt modelId="{37390DA4-15D8-4778-B16F-ABB5F35B6EDD}" type="sibTrans" cxnId="{6792E7B3-B39C-4F05-A059-B8B47BC84FAF}">
      <dgm:prSet/>
      <dgm:spPr/>
      <dgm:t>
        <a:bodyPr/>
        <a:lstStyle/>
        <a:p>
          <a:endParaRPr lang="en-US"/>
        </a:p>
      </dgm:t>
    </dgm:pt>
    <dgm:pt modelId="{9158463D-BD1F-4FAE-A8B9-F7918D0BB862}">
      <dgm:prSet/>
      <dgm:spPr/>
      <dgm:t>
        <a:bodyPr/>
        <a:lstStyle/>
        <a:p>
          <a:r>
            <a:rPr lang="en-ZA"/>
            <a:t>Note analogy to complete search algorithms.</a:t>
          </a:r>
          <a:endParaRPr lang="en-US"/>
        </a:p>
      </dgm:t>
    </dgm:pt>
    <dgm:pt modelId="{16FB2D75-ABBE-487E-B3B3-F6B5ED2EBD02}" type="parTrans" cxnId="{DC130F78-FB86-4789-9705-15FD37974574}">
      <dgm:prSet/>
      <dgm:spPr/>
      <dgm:t>
        <a:bodyPr/>
        <a:lstStyle/>
        <a:p>
          <a:endParaRPr lang="en-US"/>
        </a:p>
      </dgm:t>
    </dgm:pt>
    <dgm:pt modelId="{1FE95E06-5EAA-4FBD-AF4C-97A24282FE5E}" type="sibTrans" cxnId="{DC130F78-FB86-4789-9705-15FD37974574}">
      <dgm:prSet/>
      <dgm:spPr/>
      <dgm:t>
        <a:bodyPr/>
        <a:lstStyle/>
        <a:p>
          <a:endParaRPr lang="en-US"/>
        </a:p>
      </dgm:t>
    </dgm:pt>
    <dgm:pt modelId="{318FA3A8-C607-4992-8E12-F3371FC7875C}" type="pres">
      <dgm:prSet presAssocID="{FA97EC5E-FCC8-41F0-90D2-F52D7C37BE53}" presName="Name0" presStyleCnt="0">
        <dgm:presLayoutVars>
          <dgm:dir/>
          <dgm:animLvl val="lvl"/>
          <dgm:resizeHandles val="exact"/>
        </dgm:presLayoutVars>
      </dgm:prSet>
      <dgm:spPr/>
    </dgm:pt>
    <dgm:pt modelId="{004021F3-AB00-47F7-AC49-065948EDE062}" type="pres">
      <dgm:prSet presAssocID="{F1F6414C-B24A-47B7-BE4E-5A27A5DC2954}" presName="linNode" presStyleCnt="0"/>
      <dgm:spPr/>
    </dgm:pt>
    <dgm:pt modelId="{6DBB4615-D505-4A57-94F2-57DD39E9494B}" type="pres">
      <dgm:prSet presAssocID="{F1F6414C-B24A-47B7-BE4E-5A27A5DC295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34B6D25-E2CD-4664-89C3-B56ED5851BDE}" type="pres">
      <dgm:prSet presAssocID="{3282AB7F-A9D9-4155-86F2-E799C233DEDF}" presName="sp" presStyleCnt="0"/>
      <dgm:spPr/>
    </dgm:pt>
    <dgm:pt modelId="{CB399162-4A29-431F-9353-59F4A4591F07}" type="pres">
      <dgm:prSet presAssocID="{0D178B9B-E51C-4570-AEC8-5BF34277E746}" presName="linNode" presStyleCnt="0"/>
      <dgm:spPr/>
    </dgm:pt>
    <dgm:pt modelId="{18F4DCBB-44C4-49AE-9C11-0686C1412026}" type="pres">
      <dgm:prSet presAssocID="{0D178B9B-E51C-4570-AEC8-5BF34277E74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003F2FB-E654-4C17-BEB3-00216A59103C}" type="pres">
      <dgm:prSet presAssocID="{0D178B9B-E51C-4570-AEC8-5BF34277E746}" presName="descendantText" presStyleLbl="alignAccFollowNode1" presStyleIdx="0" presStyleCnt="2">
        <dgm:presLayoutVars>
          <dgm:bulletEnabled val="1"/>
        </dgm:presLayoutVars>
      </dgm:prSet>
      <dgm:spPr/>
    </dgm:pt>
    <dgm:pt modelId="{2E0B0E20-7112-4A2A-B99F-1796C3D98250}" type="pres">
      <dgm:prSet presAssocID="{85F4966F-2F85-4429-86A9-ED0310D8B271}" presName="sp" presStyleCnt="0"/>
      <dgm:spPr/>
    </dgm:pt>
    <dgm:pt modelId="{26209545-B638-4301-BEF6-2EF2E78906DA}" type="pres">
      <dgm:prSet presAssocID="{ED0073EE-488D-4372-80FF-1221B6CA389A}" presName="linNode" presStyleCnt="0"/>
      <dgm:spPr/>
    </dgm:pt>
    <dgm:pt modelId="{8C909200-EB84-49B3-9E09-E8AE7BF1F37B}" type="pres">
      <dgm:prSet presAssocID="{ED0073EE-488D-4372-80FF-1221B6CA389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4FB9D6D-C0D8-4025-AE64-4442B9AE6DD4}" type="pres">
      <dgm:prSet presAssocID="{ED0073EE-488D-4372-80FF-1221B6CA389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9ADF8B25-A276-4D9A-991B-FEE69243B640}" srcId="{0D178B9B-E51C-4570-AEC8-5BF34277E746}" destId="{51DF630A-EF11-45CA-8229-705F422AFB3B}" srcOrd="0" destOrd="0" parTransId="{340790C1-8313-44A4-B963-F20922ABA6E1}" sibTransId="{3C5E55CA-A85A-4E9B-9E59-5FA23E609D89}"/>
    <dgm:cxn modelId="{EC0A7827-0E25-4BD8-ABE4-4D21C31426C0}" type="presOf" srcId="{ED0073EE-488D-4372-80FF-1221B6CA389A}" destId="{8C909200-EB84-49B3-9E09-E8AE7BF1F37B}" srcOrd="0" destOrd="0" presId="urn:microsoft.com/office/officeart/2005/8/layout/vList5"/>
    <dgm:cxn modelId="{63B13849-378E-4FBB-958D-93717DCAFB88}" srcId="{FA97EC5E-FCC8-41F0-90D2-F52D7C37BE53}" destId="{F1F6414C-B24A-47B7-BE4E-5A27A5DC2954}" srcOrd="0" destOrd="0" parTransId="{5F62E180-98C5-4484-A675-7D7C3D95D9E8}" sibTransId="{3282AB7F-A9D9-4155-86F2-E799C233DEDF}"/>
    <dgm:cxn modelId="{F9EBFE6D-2090-4DD7-9C66-D973D315E1BB}" type="presOf" srcId="{F1F6414C-B24A-47B7-BE4E-5A27A5DC2954}" destId="{6DBB4615-D505-4A57-94F2-57DD39E9494B}" srcOrd="0" destOrd="0" presId="urn:microsoft.com/office/officeart/2005/8/layout/vList5"/>
    <dgm:cxn modelId="{DC130F78-FB86-4789-9705-15FD37974574}" srcId="{ED0073EE-488D-4372-80FF-1221B6CA389A}" destId="{9158463D-BD1F-4FAE-A8B9-F7918D0BB862}" srcOrd="0" destOrd="0" parTransId="{16FB2D75-ABBE-487E-B3B3-F6B5ED2EBD02}" sibTransId="{1FE95E06-5EAA-4FBD-AF4C-97A24282FE5E}"/>
    <dgm:cxn modelId="{F3BE767A-E0BF-4982-8D69-D69033DFED84}" type="presOf" srcId="{51DF630A-EF11-45CA-8229-705F422AFB3B}" destId="{7003F2FB-E654-4C17-BEB3-00216A59103C}" srcOrd="0" destOrd="0" presId="urn:microsoft.com/office/officeart/2005/8/layout/vList5"/>
    <dgm:cxn modelId="{F14A3897-1288-4FB5-8504-1497CDC53225}" type="presOf" srcId="{9158463D-BD1F-4FAE-A8B9-F7918D0BB862}" destId="{54FB9D6D-C0D8-4025-AE64-4442B9AE6DD4}" srcOrd="0" destOrd="0" presId="urn:microsoft.com/office/officeart/2005/8/layout/vList5"/>
    <dgm:cxn modelId="{1DD3989E-47A5-43F9-A2FE-61BC6626A9F7}" type="presOf" srcId="{FA97EC5E-FCC8-41F0-90D2-F52D7C37BE53}" destId="{318FA3A8-C607-4992-8E12-F3371FC7875C}" srcOrd="0" destOrd="0" presId="urn:microsoft.com/office/officeart/2005/8/layout/vList5"/>
    <dgm:cxn modelId="{8D4ACDB1-33F8-405A-9D37-DE8F3E7F6C5A}" srcId="{FA97EC5E-FCC8-41F0-90D2-F52D7C37BE53}" destId="{0D178B9B-E51C-4570-AEC8-5BF34277E746}" srcOrd="1" destOrd="0" parTransId="{85B88997-79E3-41EC-B8C5-86E04E2257CD}" sibTransId="{85F4966F-2F85-4429-86A9-ED0310D8B271}"/>
    <dgm:cxn modelId="{6792E7B3-B39C-4F05-A059-B8B47BC84FAF}" srcId="{FA97EC5E-FCC8-41F0-90D2-F52D7C37BE53}" destId="{ED0073EE-488D-4372-80FF-1221B6CA389A}" srcOrd="2" destOrd="0" parTransId="{BA69FBEE-351B-4040-8762-F9DA8E5D57DB}" sibTransId="{37390DA4-15D8-4778-B16F-ABB5F35B6EDD}"/>
    <dgm:cxn modelId="{6F845AC2-EC99-494C-819F-330C09FC7A74}" type="presOf" srcId="{0D178B9B-E51C-4570-AEC8-5BF34277E746}" destId="{18F4DCBB-44C4-49AE-9C11-0686C1412026}" srcOrd="0" destOrd="0" presId="urn:microsoft.com/office/officeart/2005/8/layout/vList5"/>
    <dgm:cxn modelId="{B29FD22E-3CBA-46F6-9F66-6560FC1A7526}" type="presParOf" srcId="{318FA3A8-C607-4992-8E12-F3371FC7875C}" destId="{004021F3-AB00-47F7-AC49-065948EDE062}" srcOrd="0" destOrd="0" presId="urn:microsoft.com/office/officeart/2005/8/layout/vList5"/>
    <dgm:cxn modelId="{35151168-ADF5-4D5E-A6BA-7D3331326A85}" type="presParOf" srcId="{004021F3-AB00-47F7-AC49-065948EDE062}" destId="{6DBB4615-D505-4A57-94F2-57DD39E9494B}" srcOrd="0" destOrd="0" presId="urn:microsoft.com/office/officeart/2005/8/layout/vList5"/>
    <dgm:cxn modelId="{6E68AB36-B7C7-4540-8995-4AF314422B2F}" type="presParOf" srcId="{318FA3A8-C607-4992-8E12-F3371FC7875C}" destId="{E34B6D25-E2CD-4664-89C3-B56ED5851BDE}" srcOrd="1" destOrd="0" presId="urn:microsoft.com/office/officeart/2005/8/layout/vList5"/>
    <dgm:cxn modelId="{403A931B-8867-4CBF-BD6D-55447F347014}" type="presParOf" srcId="{318FA3A8-C607-4992-8E12-F3371FC7875C}" destId="{CB399162-4A29-431F-9353-59F4A4591F07}" srcOrd="2" destOrd="0" presId="urn:microsoft.com/office/officeart/2005/8/layout/vList5"/>
    <dgm:cxn modelId="{31215406-7F76-45D1-9ED6-A60B5D1E2F3C}" type="presParOf" srcId="{CB399162-4A29-431F-9353-59F4A4591F07}" destId="{18F4DCBB-44C4-49AE-9C11-0686C1412026}" srcOrd="0" destOrd="0" presId="urn:microsoft.com/office/officeart/2005/8/layout/vList5"/>
    <dgm:cxn modelId="{1CB3257D-AF24-4631-9382-98E0ABD7F2E0}" type="presParOf" srcId="{CB399162-4A29-431F-9353-59F4A4591F07}" destId="{7003F2FB-E654-4C17-BEB3-00216A59103C}" srcOrd="1" destOrd="0" presId="urn:microsoft.com/office/officeart/2005/8/layout/vList5"/>
    <dgm:cxn modelId="{1D3D3528-D134-44A4-ABC4-B4422102602A}" type="presParOf" srcId="{318FA3A8-C607-4992-8E12-F3371FC7875C}" destId="{2E0B0E20-7112-4A2A-B99F-1796C3D98250}" srcOrd="3" destOrd="0" presId="urn:microsoft.com/office/officeart/2005/8/layout/vList5"/>
    <dgm:cxn modelId="{E41AB88D-C5EC-405C-8C96-D29201C13A55}" type="presParOf" srcId="{318FA3A8-C607-4992-8E12-F3371FC7875C}" destId="{26209545-B638-4301-BEF6-2EF2E78906DA}" srcOrd="4" destOrd="0" presId="urn:microsoft.com/office/officeart/2005/8/layout/vList5"/>
    <dgm:cxn modelId="{F9ED27FD-6713-4CF5-8A75-4F7D93CC1E9C}" type="presParOf" srcId="{26209545-B638-4301-BEF6-2EF2E78906DA}" destId="{8C909200-EB84-49B3-9E09-E8AE7BF1F37B}" srcOrd="0" destOrd="0" presId="urn:microsoft.com/office/officeart/2005/8/layout/vList5"/>
    <dgm:cxn modelId="{6AE74F61-CA62-4129-8827-CF76E126C43A}" type="presParOf" srcId="{26209545-B638-4301-BEF6-2EF2E78906DA}" destId="{54FB9D6D-C0D8-4025-AE64-4442B9AE6DD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5FE748-0793-47AE-8279-1EFD346D6FC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9DB7B7-CE20-4988-B56C-07016037A9EB}">
      <dgm:prSet/>
      <dgm:spPr/>
      <dgm:t>
        <a:bodyPr/>
        <a:lstStyle/>
        <a:p>
          <a:r>
            <a:rPr lang="en-US"/>
            <a:t>The Wumpus world is an example used to illustrate the worth of a knowledge-based agent and to represent knowledge representation. </a:t>
          </a:r>
        </a:p>
      </dgm:t>
    </dgm:pt>
    <dgm:pt modelId="{62B4660E-5B7C-4DCD-888B-1FAFFC0AFB23}" type="parTrans" cxnId="{ABC4F4A7-C35E-48C3-91A0-DE93416D47A3}">
      <dgm:prSet/>
      <dgm:spPr/>
      <dgm:t>
        <a:bodyPr/>
        <a:lstStyle/>
        <a:p>
          <a:endParaRPr lang="en-US"/>
        </a:p>
      </dgm:t>
    </dgm:pt>
    <dgm:pt modelId="{6207D356-F8D5-44F8-ACA8-6451E6BE0996}" type="sibTrans" cxnId="{ABC4F4A7-C35E-48C3-91A0-DE93416D47A3}">
      <dgm:prSet/>
      <dgm:spPr/>
      <dgm:t>
        <a:bodyPr/>
        <a:lstStyle/>
        <a:p>
          <a:endParaRPr lang="en-US"/>
        </a:p>
      </dgm:t>
    </dgm:pt>
    <dgm:pt modelId="{7E34789C-A728-4BEF-95F7-C54E2F98B7E8}">
      <dgm:prSet/>
      <dgm:spPr/>
      <dgm:t>
        <a:bodyPr/>
        <a:lstStyle/>
        <a:p>
          <a:r>
            <a:rPr lang="en-US"/>
            <a:t>It was inspired by a video game Hunt the Wumpus by Gregory Yob in 1973.</a:t>
          </a:r>
        </a:p>
      </dgm:t>
    </dgm:pt>
    <dgm:pt modelId="{2FCB4EBC-5D90-4047-B82A-5869C8CE9E5D}" type="parTrans" cxnId="{395EB40B-C944-4090-98A0-B5D9B184AED8}">
      <dgm:prSet/>
      <dgm:spPr/>
      <dgm:t>
        <a:bodyPr/>
        <a:lstStyle/>
        <a:p>
          <a:endParaRPr lang="en-US"/>
        </a:p>
      </dgm:t>
    </dgm:pt>
    <dgm:pt modelId="{C1882C94-8D9F-4A1D-AEBE-560E55362568}" type="sibTrans" cxnId="{395EB40B-C944-4090-98A0-B5D9B184AED8}">
      <dgm:prSet/>
      <dgm:spPr/>
      <dgm:t>
        <a:bodyPr/>
        <a:lstStyle/>
        <a:p>
          <a:endParaRPr lang="en-US"/>
        </a:p>
      </dgm:t>
    </dgm:pt>
    <dgm:pt modelId="{115678FA-B15A-4CBC-A264-75D0EAAEBFEF}" type="pres">
      <dgm:prSet presAssocID="{135FE748-0793-47AE-8279-1EFD346D6FC2}" presName="vert0" presStyleCnt="0">
        <dgm:presLayoutVars>
          <dgm:dir/>
          <dgm:animOne val="branch"/>
          <dgm:animLvl val="lvl"/>
        </dgm:presLayoutVars>
      </dgm:prSet>
      <dgm:spPr/>
    </dgm:pt>
    <dgm:pt modelId="{33E73677-87F3-40EE-8DB3-741081BA0C1A}" type="pres">
      <dgm:prSet presAssocID="{FE9DB7B7-CE20-4988-B56C-07016037A9EB}" presName="thickLine" presStyleLbl="alignNode1" presStyleIdx="0" presStyleCnt="2"/>
      <dgm:spPr/>
    </dgm:pt>
    <dgm:pt modelId="{BEC17DEE-D08E-4082-859E-10B5455E873A}" type="pres">
      <dgm:prSet presAssocID="{FE9DB7B7-CE20-4988-B56C-07016037A9EB}" presName="horz1" presStyleCnt="0"/>
      <dgm:spPr/>
    </dgm:pt>
    <dgm:pt modelId="{707DEA72-DE61-4425-B03F-343A13026A42}" type="pres">
      <dgm:prSet presAssocID="{FE9DB7B7-CE20-4988-B56C-07016037A9EB}" presName="tx1" presStyleLbl="revTx" presStyleIdx="0" presStyleCnt="2"/>
      <dgm:spPr/>
    </dgm:pt>
    <dgm:pt modelId="{E15F3819-EB9A-4033-924D-407B8C628DD4}" type="pres">
      <dgm:prSet presAssocID="{FE9DB7B7-CE20-4988-B56C-07016037A9EB}" presName="vert1" presStyleCnt="0"/>
      <dgm:spPr/>
    </dgm:pt>
    <dgm:pt modelId="{F2DD6D27-C69E-4831-B785-AE8D1B63A17C}" type="pres">
      <dgm:prSet presAssocID="{7E34789C-A728-4BEF-95F7-C54E2F98B7E8}" presName="thickLine" presStyleLbl="alignNode1" presStyleIdx="1" presStyleCnt="2"/>
      <dgm:spPr/>
    </dgm:pt>
    <dgm:pt modelId="{4E731DA9-5339-4837-9D28-63F58AA1ADC6}" type="pres">
      <dgm:prSet presAssocID="{7E34789C-A728-4BEF-95F7-C54E2F98B7E8}" presName="horz1" presStyleCnt="0"/>
      <dgm:spPr/>
    </dgm:pt>
    <dgm:pt modelId="{90CE6847-4157-4176-9974-17510807B804}" type="pres">
      <dgm:prSet presAssocID="{7E34789C-A728-4BEF-95F7-C54E2F98B7E8}" presName="tx1" presStyleLbl="revTx" presStyleIdx="1" presStyleCnt="2"/>
      <dgm:spPr/>
    </dgm:pt>
    <dgm:pt modelId="{45C00DB1-9684-481A-A0CC-7B57799E571F}" type="pres">
      <dgm:prSet presAssocID="{7E34789C-A728-4BEF-95F7-C54E2F98B7E8}" presName="vert1" presStyleCnt="0"/>
      <dgm:spPr/>
    </dgm:pt>
  </dgm:ptLst>
  <dgm:cxnLst>
    <dgm:cxn modelId="{395EB40B-C944-4090-98A0-B5D9B184AED8}" srcId="{135FE748-0793-47AE-8279-1EFD346D6FC2}" destId="{7E34789C-A728-4BEF-95F7-C54E2F98B7E8}" srcOrd="1" destOrd="0" parTransId="{2FCB4EBC-5D90-4047-B82A-5869C8CE9E5D}" sibTransId="{C1882C94-8D9F-4A1D-AEBE-560E55362568}"/>
    <dgm:cxn modelId="{7A5BE564-5138-475E-A56A-189468FA2833}" type="presOf" srcId="{FE9DB7B7-CE20-4988-B56C-07016037A9EB}" destId="{707DEA72-DE61-4425-B03F-343A13026A42}" srcOrd="0" destOrd="0" presId="urn:microsoft.com/office/officeart/2008/layout/LinedList"/>
    <dgm:cxn modelId="{ABC4F4A7-C35E-48C3-91A0-DE93416D47A3}" srcId="{135FE748-0793-47AE-8279-1EFD346D6FC2}" destId="{FE9DB7B7-CE20-4988-B56C-07016037A9EB}" srcOrd="0" destOrd="0" parTransId="{62B4660E-5B7C-4DCD-888B-1FAFFC0AFB23}" sibTransId="{6207D356-F8D5-44F8-ACA8-6451E6BE0996}"/>
    <dgm:cxn modelId="{A20C6AC1-8357-4AD4-BB8D-644907524D44}" type="presOf" srcId="{7E34789C-A728-4BEF-95F7-C54E2F98B7E8}" destId="{90CE6847-4157-4176-9974-17510807B804}" srcOrd="0" destOrd="0" presId="urn:microsoft.com/office/officeart/2008/layout/LinedList"/>
    <dgm:cxn modelId="{DA62F8DE-AEBD-4835-B98C-6D4D2BA4409F}" type="presOf" srcId="{135FE748-0793-47AE-8279-1EFD346D6FC2}" destId="{115678FA-B15A-4CBC-A264-75D0EAAEBFEF}" srcOrd="0" destOrd="0" presId="urn:microsoft.com/office/officeart/2008/layout/LinedList"/>
    <dgm:cxn modelId="{AB975661-D02E-4554-A4DE-7995E4020568}" type="presParOf" srcId="{115678FA-B15A-4CBC-A264-75D0EAAEBFEF}" destId="{33E73677-87F3-40EE-8DB3-741081BA0C1A}" srcOrd="0" destOrd="0" presId="urn:microsoft.com/office/officeart/2008/layout/LinedList"/>
    <dgm:cxn modelId="{A2B5E4B8-E08E-4A5A-B67F-1223EED4C73B}" type="presParOf" srcId="{115678FA-B15A-4CBC-A264-75D0EAAEBFEF}" destId="{BEC17DEE-D08E-4082-859E-10B5455E873A}" srcOrd="1" destOrd="0" presId="urn:microsoft.com/office/officeart/2008/layout/LinedList"/>
    <dgm:cxn modelId="{8D74614E-EADE-4263-83CF-D97A7462C510}" type="presParOf" srcId="{BEC17DEE-D08E-4082-859E-10B5455E873A}" destId="{707DEA72-DE61-4425-B03F-343A13026A42}" srcOrd="0" destOrd="0" presId="urn:microsoft.com/office/officeart/2008/layout/LinedList"/>
    <dgm:cxn modelId="{DEB861E1-82AE-41EE-8415-86BC58715A24}" type="presParOf" srcId="{BEC17DEE-D08E-4082-859E-10B5455E873A}" destId="{E15F3819-EB9A-4033-924D-407B8C628DD4}" srcOrd="1" destOrd="0" presId="urn:microsoft.com/office/officeart/2008/layout/LinedList"/>
    <dgm:cxn modelId="{3B7D2619-519F-404A-9291-4BA34067FC0E}" type="presParOf" srcId="{115678FA-B15A-4CBC-A264-75D0EAAEBFEF}" destId="{F2DD6D27-C69E-4831-B785-AE8D1B63A17C}" srcOrd="2" destOrd="0" presId="urn:microsoft.com/office/officeart/2008/layout/LinedList"/>
    <dgm:cxn modelId="{83F2FDCC-393E-4B9F-9858-E0D0FB41B43A}" type="presParOf" srcId="{115678FA-B15A-4CBC-A264-75D0EAAEBFEF}" destId="{4E731DA9-5339-4837-9D28-63F58AA1ADC6}" srcOrd="3" destOrd="0" presId="urn:microsoft.com/office/officeart/2008/layout/LinedList"/>
    <dgm:cxn modelId="{6A17E2AE-DC96-476C-A013-72FD545873EE}" type="presParOf" srcId="{4E731DA9-5339-4837-9D28-63F58AA1ADC6}" destId="{90CE6847-4157-4176-9974-17510807B804}" srcOrd="0" destOrd="0" presId="urn:microsoft.com/office/officeart/2008/layout/LinedList"/>
    <dgm:cxn modelId="{0673600B-FD8C-4902-A0FE-A038D6F515E8}" type="presParOf" srcId="{4E731DA9-5339-4837-9D28-63F58AA1ADC6}" destId="{45C00DB1-9684-481A-A0CC-7B57799E57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B4615-D505-4A57-94F2-57DD39E9494B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/>
            <a:t>Logical inference creates new sentences that logically follow from a set of sentences (KB).</a:t>
          </a:r>
          <a:endParaRPr lang="en-US" sz="2100" kern="1200"/>
        </a:p>
      </dsp:txBody>
      <dsp:txXfrm>
        <a:off x="68454" y="70578"/>
        <a:ext cx="3648708" cy="1265378"/>
      </dsp:txXfrm>
    </dsp:sp>
    <dsp:sp modelId="{7003F2FB-E654-4C17-BEB3-00216A59103C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3100" kern="1200"/>
            <a:t>i.e., inference rule creates no contradictions.</a:t>
          </a:r>
          <a:endParaRPr lang="en-US" sz="3100" kern="1200"/>
        </a:p>
      </dsp:txBody>
      <dsp:txXfrm rot="-5400000">
        <a:off x="3785616" y="1669517"/>
        <a:ext cx="6675221" cy="1012303"/>
      </dsp:txXfrm>
    </dsp:sp>
    <dsp:sp modelId="{18F4DCBB-44C4-49AE-9C11-0686C1412026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 dirty="0"/>
            <a:t>An inference rule </a:t>
          </a:r>
          <a:r>
            <a:rPr lang="en-ZA" sz="2100" kern="1200" dirty="0">
              <a:highlight>
                <a:srgbClr val="FFFF00"/>
              </a:highlight>
            </a:rPr>
            <a:t>is sound </a:t>
          </a:r>
          <a:r>
            <a:rPr lang="en-ZA" sz="2100" kern="1200" dirty="0"/>
            <a:t>if every sentence it produces when operating on a KB logically follows from the KB.</a:t>
          </a:r>
          <a:endParaRPr lang="en-US" sz="2100" kern="1200" dirty="0"/>
        </a:p>
      </dsp:txBody>
      <dsp:txXfrm>
        <a:off x="68454" y="1542979"/>
        <a:ext cx="3648708" cy="1265378"/>
      </dsp:txXfrm>
    </dsp:sp>
    <dsp:sp modelId="{54FB9D6D-C0D8-4025-AE64-4442B9AE6DD4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3100" kern="1200"/>
            <a:t>Note analogy to complete search algorithms.</a:t>
          </a:r>
          <a:endParaRPr lang="en-US" sz="3100" kern="1200"/>
        </a:p>
      </dsp:txBody>
      <dsp:txXfrm rot="-5400000">
        <a:off x="3785616" y="3141918"/>
        <a:ext cx="6675221" cy="1012303"/>
      </dsp:txXfrm>
    </dsp:sp>
    <dsp:sp modelId="{8C909200-EB84-49B3-9E09-E8AE7BF1F37B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 dirty="0"/>
            <a:t>An inference rule is </a:t>
          </a:r>
          <a:r>
            <a:rPr lang="en-ZA" sz="2100" kern="1200" dirty="0">
              <a:highlight>
                <a:srgbClr val="FFFF00"/>
              </a:highlight>
            </a:rPr>
            <a:t>complete</a:t>
          </a:r>
          <a:r>
            <a:rPr lang="en-ZA" sz="2100" kern="1200" dirty="0"/>
            <a:t> if it can produce every expression that logically follows from (is entailed by) the K.</a:t>
          </a:r>
          <a:endParaRPr lang="en-US" sz="2100" kern="1200" dirty="0"/>
        </a:p>
      </dsp:txBody>
      <dsp:txXfrm>
        <a:off x="68454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73677-87F3-40EE-8DB3-741081BA0C1A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DEA72-DE61-4425-B03F-343A13026A42}">
      <dsp:nvSpPr>
        <dsp:cNvPr id="0" name=""/>
        <dsp:cNvSpPr/>
      </dsp:nvSpPr>
      <dsp:spPr>
        <a:xfrm>
          <a:off x="0" y="0"/>
          <a:ext cx="6492875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The Wumpus world is an example used to illustrate the worth of a knowledge-based agent and to represent knowledge representation. </a:t>
          </a:r>
        </a:p>
      </dsp:txBody>
      <dsp:txXfrm>
        <a:off x="0" y="0"/>
        <a:ext cx="6492875" cy="2552700"/>
      </dsp:txXfrm>
    </dsp:sp>
    <dsp:sp modelId="{F2DD6D27-C69E-4831-B785-AE8D1B63A17C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E6847-4157-4176-9974-17510807B804}">
      <dsp:nvSpPr>
        <dsp:cNvPr id="0" name=""/>
        <dsp:cNvSpPr/>
      </dsp:nvSpPr>
      <dsp:spPr>
        <a:xfrm>
          <a:off x="0" y="2552700"/>
          <a:ext cx="6492875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It was inspired by a video game Hunt the Wumpus by Gregory Yob in 1973.</a:t>
          </a:r>
        </a:p>
      </dsp:txBody>
      <dsp:txXfrm>
        <a:off x="0" y="2552700"/>
        <a:ext cx="6492875" cy="2552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6C73-34CF-4E96-B645-0D4A69BD5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55517-8D09-4A65-A220-A07552844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29426-E3D2-4491-A9C9-CFF502B5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35D60-9F77-4C45-A4B8-0AAC4E5E5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760D0-FD39-4496-887D-76F7AA92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2413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821F-732D-4502-B89C-1AAD241B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89EDA-6257-47BD-9B34-423FAAE21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1ED49-CB9E-476C-9F41-389E6FC3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1069E-76B5-4D89-A0A7-A55F84D29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A1679-9297-46CD-BEF0-8AE46383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410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CBE8-5D18-4588-A9BC-41C96B90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040B2-9AF4-40D8-93D6-A7BF92028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EBC82-16E7-46F2-B587-EDBF63FE6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96DB9-76E8-4655-8665-CCFC0DA7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C45E5-3699-44DF-B2FF-8B78A286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965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F6D6-462C-48BE-A102-50744647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F731-78BC-4244-B538-E947B742F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30EA7-28D6-45DC-902B-6ED58162B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B6F2E-B4D1-480C-A150-7033244B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7F2B4-50CA-4EDA-A579-146E87B0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2CFA2-4373-433E-A60B-390EFA66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246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510A-A416-413F-9F68-E6842096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A0F81-BBB2-45EE-A25B-7E4F14177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9B528-6FE7-4BBB-BE35-EF46A0350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759A6-14A3-42AA-B333-0806B8D5A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F9ECB4-D81E-4887-947C-03B167EFF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47318-EAE2-4C1D-8C46-894915AB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67C86-F6A1-4F25-AFCF-35A57649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34EEA-FF84-4503-99DF-B25920DB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741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CD7F-6C72-4982-A4C4-429A42D2C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E9287-33A2-4D5D-B3AA-D7FA8533A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71023-0EE6-455B-B46E-C0FCFE143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CE52A-BF33-40E2-8A58-3F346D2C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59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39263-3B64-457D-8ADC-10370880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462B6B-994F-4BEF-9979-11FF1FD8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F64AF-9C37-49F1-8714-444AB3B88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505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1516-A8F5-4F09-87CD-E673DF77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B29CF-3D12-41DC-A044-29D999375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BAE46-8309-4E43-86D3-9C3C7BAAB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D9E58-9B7A-4996-9CDC-AF606FBFD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48DBD-CA10-41E9-87D6-23C617EA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00005-C43F-4E20-A20F-E23F1AE67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12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3F357-D061-45F3-A77F-9BFFDA61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2ADF9-A729-482B-AC9E-7A6CCDD62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93FFD-B115-45E4-B4C8-147ADD381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03C7A-E791-4A9E-8256-F6B23004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258C0-7995-435F-8383-304AD9D14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18398-09E4-4929-B9C1-3363B44E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0844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DAD6-CAD7-4F67-9E55-6E4294B7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170D4-0BA6-427D-AA2A-EC18A006B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B4C55-D324-4E8A-902A-650FE0DF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56980-7B09-4EAD-BAF4-4680F384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52244-574A-498B-9580-C4050483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590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74AC1-D931-4879-957C-366C26483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9506C-1704-4C06-9963-2EF1F7D4C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EB847-4D93-485D-986E-2FDD83657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9D31-687D-468E-94CC-5E1CA31B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2306C-4184-400F-8A15-26ABD1AE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9910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88A0A8-6EF3-45DC-9648-9B6C0A5D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3558D-4831-4D5A-A623-0677E8D60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0E547-2298-4450-8142-D0DD66F76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57256-EA1F-478C-9BF5-70F062185ABB}" type="datetimeFigureOut">
              <a:rPr lang="en-ZA" smtClean="0"/>
              <a:t>2021/08/19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58C75-6570-4846-9D2D-6F02FA782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D996A-1CAC-406D-BD68-4271802DB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1F369-BA6B-48D2-82A3-3812CCFA678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496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7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E8A85-FDB1-4B2B-8CD3-75C6B14FF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br>
              <a:rPr lang="en-US" sz="3800">
                <a:solidFill>
                  <a:schemeClr val="bg1"/>
                </a:solidFill>
              </a:rPr>
            </a:br>
            <a:r>
              <a:rPr lang="en-US" sz="3800">
                <a:solidFill>
                  <a:schemeClr val="bg1"/>
                </a:solidFill>
              </a:rPr>
              <a:t>Knowledge, Reasoning &amp; Planning</a:t>
            </a:r>
            <a:br>
              <a:rPr lang="en-US" sz="3800">
                <a:solidFill>
                  <a:schemeClr val="bg1"/>
                </a:solidFill>
              </a:rPr>
            </a:br>
            <a:r>
              <a:rPr lang="en-US" sz="3800">
                <a:solidFill>
                  <a:schemeClr val="bg1"/>
                </a:solidFill>
              </a:rPr>
              <a:t>Logical Agents cont.</a:t>
            </a:r>
            <a:br>
              <a:rPr lang="en-US" sz="3800">
                <a:solidFill>
                  <a:schemeClr val="bg1"/>
                </a:solidFill>
              </a:rPr>
            </a:br>
            <a:endParaRPr lang="en-ZA" sz="3800">
              <a:solidFill>
                <a:schemeClr val="bg1"/>
              </a:solidFill>
            </a:endParaRPr>
          </a:p>
        </p:txBody>
      </p:sp>
      <p:cxnSp>
        <p:nvCxnSpPr>
          <p:cNvPr id="86" name="Straight Connector 8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F614-19FA-4E4E-A844-AB2F3F368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endParaRPr lang="en-US" sz="2000" strike="sngStrik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trike="sngStrike" dirty="0">
                <a:solidFill>
                  <a:schemeClr val="bg1"/>
                </a:solidFill>
              </a:rPr>
              <a:t>Knowledge based agents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The Wumpus World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strike="sngStrike" dirty="0">
                <a:solidFill>
                  <a:schemeClr val="bg1"/>
                </a:solidFill>
              </a:rPr>
              <a:t>Knowledge representation techniques</a:t>
            </a:r>
          </a:p>
          <a:p>
            <a:pPr marL="0" indent="0">
              <a:buNone/>
            </a:pPr>
            <a:endParaRPr lang="en-US" strike="sngStrik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Logic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Propositional Logic</a:t>
            </a:r>
            <a:b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</a:br>
            <a:endParaRPr lang="en-ZA" dirty="0">
              <a:solidFill>
                <a:schemeClr val="bg1"/>
              </a:solidFill>
              <a:highlight>
                <a:srgbClr val="8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2444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9FC618-46EB-424D-B4CE-C9BE4B489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End of Previous slides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C53830-1C44-490A-B2FB-C68ED886E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863" y="2478769"/>
            <a:ext cx="4996068" cy="40988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5E2638-5093-48B9-92FD-D6C88260F582}"/>
              </a:ext>
            </a:extLst>
          </p:cNvPr>
          <p:cNvSpPr/>
          <p:nvPr/>
        </p:nvSpPr>
        <p:spPr>
          <a:xfrm>
            <a:off x="5177932" y="2478770"/>
            <a:ext cx="606324" cy="7171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40DFD-5E8F-4374-97F5-FAF248C2A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626" y="2596836"/>
            <a:ext cx="4955510" cy="345940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7C363E6-91DE-4378-9F18-4624CE5BF017}"/>
              </a:ext>
            </a:extLst>
          </p:cNvPr>
          <p:cNvSpPr/>
          <p:nvPr/>
        </p:nvSpPr>
        <p:spPr>
          <a:xfrm>
            <a:off x="11079882" y="2532871"/>
            <a:ext cx="606323" cy="6089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747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566F6-CFD0-4119-964C-3B92E61A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LOGIC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63B2F1-CABB-4664-A213-D7B63E1B7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4881" y="643466"/>
            <a:ext cx="6719698" cy="55687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6D47DC-4505-48D9-BBF5-28B4554F1A5C}"/>
              </a:ext>
            </a:extLst>
          </p:cNvPr>
          <p:cNvSpPr/>
          <p:nvPr/>
        </p:nvSpPr>
        <p:spPr>
          <a:xfrm>
            <a:off x="10637885" y="643466"/>
            <a:ext cx="836693" cy="9305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478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99161-DB43-4B4A-AFB6-8EA53ADBF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Basic Concepts of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B8BFB-40CA-43E8-BD02-FBB82350F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7" y="2071179"/>
            <a:ext cx="10060846" cy="4123780"/>
          </a:xfrm>
        </p:spPr>
        <p:txBody>
          <a:bodyPr anchor="ctr">
            <a:noAutofit/>
          </a:bodyPr>
          <a:lstStyle/>
          <a:p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Syntax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Formal structure of sentences</a:t>
            </a:r>
          </a:p>
          <a:p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Semantics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Truth of sentences based on models</a:t>
            </a:r>
          </a:p>
          <a:p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Entailment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Necessary truth of one sentence given another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Entailment means that one thing follows from another: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	KB ╞ α</a:t>
            </a:r>
          </a:p>
          <a:p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Inference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Deriving sentences from other sentences</a:t>
            </a:r>
          </a:p>
          <a:p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Soundness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Derivations produce only entailed sentences</a:t>
            </a:r>
          </a:p>
          <a:p>
            <a:r>
              <a:rPr lang="en-US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Completeness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Derivations can produce all entailed sentences</a:t>
            </a:r>
            <a:endParaRPr lang="en-Z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90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A0041E-AC8D-42C8-A203-D7FB5726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 b="1">
                <a:solidFill>
                  <a:schemeClr val="tx1">
                    <a:lumMod val="85000"/>
                    <a:lumOff val="15000"/>
                  </a:schemeClr>
                </a:solidFill>
              </a:rPr>
              <a:t>TYPES OF LOGIC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7213E3-9F99-4F42-A931-F2A85C9FB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6" y="1125415"/>
            <a:ext cx="9737290" cy="4626382"/>
          </a:xfrm>
        </p:spPr>
        <p:txBody>
          <a:bodyPr anchor="ctr">
            <a:normAutofit/>
          </a:bodyPr>
          <a:lstStyle/>
          <a:p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mathematics there are different kinds of logics</a:t>
            </a:r>
          </a:p>
          <a:p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Some of these according to order of their generality are: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Prepositional logic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First order logic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Second order logic and more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DD63D2-1E8B-49AB-9709-83D34792EEC7}"/>
              </a:ext>
            </a:extLst>
          </p:cNvPr>
          <p:cNvSpPr/>
          <p:nvPr/>
        </p:nvSpPr>
        <p:spPr>
          <a:xfrm>
            <a:off x="10482774" y="1289713"/>
            <a:ext cx="686974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2881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2E441-3527-448C-A0CD-2D8C1C60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>
                <a:solidFill>
                  <a:schemeClr val="tx1">
                    <a:lumMod val="85000"/>
                    <a:lumOff val="15000"/>
                  </a:schemeClr>
                </a:solidFill>
              </a:rPr>
              <a:t>Propositional Logic (Boolean)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9E4BAA-5DC9-474F-B0E1-ABF293A6B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738" y="1997612"/>
            <a:ext cx="10621107" cy="3973283"/>
          </a:xfrm>
        </p:spPr>
        <p:txBody>
          <a:bodyPr anchor="ctr">
            <a:normAutofit fontScale="92500" lnSpcReduction="10000"/>
          </a:bodyPr>
          <a:lstStyle/>
          <a:p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Prepositions are </a:t>
            </a:r>
            <a:r>
              <a:rPr lang="en-ZA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statements</a:t>
            </a:r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that are either true or false but not at both any time.</a:t>
            </a:r>
          </a:p>
          <a:p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statement is a sentence which is either true or false.</a:t>
            </a:r>
          </a:p>
          <a:p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 uses declarative sentences only</a:t>
            </a:r>
          </a:p>
          <a:p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 does not involve quantifiers - 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(∃x)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(read as “there is an individual, call it x, such that it is true of x that …”) and 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(∀y)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(read as “for every individual, call it y, it is true of y that …”).</a:t>
            </a:r>
            <a:endParaRPr lang="en-ZA" sz="3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Z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Not all sentences are statement (interrogative, imperative and exclamatory.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65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94B17-92F5-49E1-B7F9-8FEA1429C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Propositional Logic 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C7E3D-D1B7-4873-AB8F-835E8C988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88" y="1955409"/>
            <a:ext cx="10508566" cy="4353951"/>
          </a:xfrm>
        </p:spPr>
        <p:txBody>
          <a:bodyPr anchor="ctr">
            <a:normAutofit/>
          </a:bodyPr>
          <a:lstStyle/>
          <a:p>
            <a:r>
              <a:rPr lang="en-ZA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Propositions can be conditional or unconditional.</a:t>
            </a:r>
          </a:p>
          <a:p>
            <a:r>
              <a:rPr lang="en-ZA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Socrates is mortal (unconditional)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If winter is severe, students will not succeed (conditional)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All are the same if their colour is black (conditional)</a:t>
            </a:r>
          </a:p>
          <a:p>
            <a:r>
              <a:rPr lang="en-ZA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prepositional logic, symbols represent the whole preposition.</a:t>
            </a:r>
          </a:p>
          <a:p>
            <a:r>
              <a:rPr lang="en-ZA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 = Socrates is mortal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 = Winter is severe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   = Students will not succeed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86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3CE95-AFC6-4EAE-9E32-B51E8D22C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8"/>
            <a:ext cx="9392421" cy="1026406"/>
          </a:xfrm>
        </p:spPr>
        <p:txBody>
          <a:bodyPr>
            <a:normAutofit/>
          </a:bodyPr>
          <a:lstStyle/>
          <a:p>
            <a:r>
              <a:rPr lang="en-ZA" dirty="0">
                <a:latin typeface="+mn-lt"/>
              </a:rPr>
              <a:t>Propositional Logic 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A47FD-9F52-48A7-B2DA-928F77AE0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198362"/>
            <a:ext cx="5505157" cy="3917773"/>
          </a:xfrm>
        </p:spPr>
        <p:txBody>
          <a:bodyPr>
            <a:normAutofit/>
          </a:bodyPr>
          <a:lstStyle/>
          <a:p>
            <a:r>
              <a:rPr lang="en-ZA" sz="2400" dirty="0"/>
              <a:t>Propositions can be combined using Boolean connectives to generate new proposition with complex meaning,</a:t>
            </a:r>
          </a:p>
          <a:p>
            <a:r>
              <a:rPr lang="en-ZA" sz="2400" dirty="0"/>
              <a:t>Symbols involved in PL: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ZA" dirty="0"/>
              <a:t>Logical constants (TRUE and FALSE)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ZA" dirty="0"/>
              <a:t>Proposition symbols (also called atomic symbols) like M, W, 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ZA" dirty="0"/>
              <a:t>Logical connectives:</a:t>
            </a:r>
          </a:p>
          <a:p>
            <a:pPr marL="457200" lvl="1" indent="0">
              <a:buNone/>
            </a:pPr>
            <a:endParaRPr lang="en-ZA" sz="2000" dirty="0"/>
          </a:p>
          <a:p>
            <a:pPr marL="0" indent="0">
              <a:buNone/>
            </a:pPr>
            <a:endParaRPr lang="en-ZA" sz="20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9426F10C-23FD-461C-8F4E-BB57D8DF9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72529"/>
            <a:ext cx="5670176" cy="431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88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A9837-17F2-4BFC-B83F-CDDDEB43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Prepositional Logic 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A2A76-D733-47AD-AFF5-B4B35A51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6" y="1737360"/>
            <a:ext cx="9096977" cy="4571999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ZA" sz="2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RULES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ZA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Logical constants and propositional symbols are sentences by themselves.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ZA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Wrapping parenthesis around a sentence yield a sentence like     (P v R).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ZA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Literal are atomic symbols or negated atomic symbols.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ZA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Complex sentence can be formed by combining simpler sentences with logical connectors.</a:t>
            </a:r>
          </a:p>
          <a:p>
            <a:pPr marL="0" indent="0">
              <a:buNone/>
            </a:pPr>
            <a:endParaRPr lang="en-ZA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14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260A8-662A-4CE7-BEF6-9FB48B8A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PL Connector Priority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BB37-85C1-42A7-A34E-E61D65B7D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559" y="1406769"/>
            <a:ext cx="8722454" cy="434502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Priority of logical connectors from </a:t>
            </a:r>
            <a:r>
              <a:rPr lang="en-ZA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HIGHEST</a:t>
            </a: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 </a:t>
            </a:r>
            <a:r>
              <a:rPr lang="en-ZA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LOWEST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Parenthesis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Negation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Conjunction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Disjunction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Implication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Bi-implications</a:t>
            </a:r>
          </a:p>
          <a:p>
            <a:pPr marL="0" indent="0">
              <a:buNone/>
            </a:pPr>
            <a:endParaRPr lang="en-ZA" sz="20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00FF"/>
              </a:highlight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1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4B7A5-16F9-41A5-87F1-F5013614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ZA" dirty="0"/>
              <a:t>Types of sentences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D413671-C87D-4F62-AE95-8AC5F0BFA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64" y="2194102"/>
            <a:ext cx="4416376" cy="3908586"/>
          </a:xfrm>
        </p:spPr>
        <p:txBody>
          <a:bodyPr>
            <a:normAutofit/>
          </a:bodyPr>
          <a:lstStyle/>
          <a:p>
            <a:r>
              <a:rPr lang="en-ZA" sz="2400" b="1" dirty="0"/>
              <a:t>Valid (tautology)</a:t>
            </a:r>
          </a:p>
          <a:p>
            <a:pPr marL="0" indent="0">
              <a:buNone/>
            </a:pPr>
            <a:r>
              <a:rPr lang="en-US" sz="2000" dirty="0"/>
              <a:t>Statement that is always true. An expression involving logical variables that is true in all cases is a tautology. We use the number 1 to symbolize a tautology.</a:t>
            </a:r>
          </a:p>
          <a:p>
            <a:pPr marL="914400" lvl="2" indent="0">
              <a:buNone/>
            </a:pPr>
            <a:r>
              <a:rPr lang="en-ZA" sz="1800" dirty="0"/>
              <a:t>Examples:</a:t>
            </a:r>
          </a:p>
          <a:p>
            <a:pPr marL="1428750" lvl="2" indent="-514350">
              <a:buAutoNum type="arabicPeriod"/>
            </a:pPr>
            <a:r>
              <a:rPr lang="en-ZA" sz="1800" dirty="0"/>
              <a:t>I will either get paid or not get paid</a:t>
            </a:r>
          </a:p>
          <a:p>
            <a:pPr marL="1428750" lvl="2" indent="-514350">
              <a:buAutoNum type="arabicPeriod"/>
            </a:pPr>
            <a:r>
              <a:rPr lang="en-ZA" sz="1800" dirty="0"/>
              <a:t>(¬(p ∧ q)) ↔ (¬p ∨ ¬q)</a:t>
            </a:r>
          </a:p>
          <a:p>
            <a:pPr marL="1428750" lvl="2" indent="-514350">
              <a:buAutoNum type="arabicPeriod"/>
            </a:pPr>
            <a:r>
              <a:rPr lang="en-ZA" sz="1800" dirty="0"/>
              <a:t>p ∨ ¬p</a:t>
            </a:r>
          </a:p>
          <a:p>
            <a:pPr marL="914400" lvl="2" indent="0">
              <a:buNone/>
            </a:pPr>
            <a:endParaRPr lang="en-ZA" sz="17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3B8182-4473-4530-AEAF-6958B31CB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741" y="1771288"/>
            <a:ext cx="6184857" cy="333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5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983C-7A5B-4FAB-B47C-5C5929A8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ZA" dirty="0"/>
              <a:t>Types of sentences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25C5A-A2C3-4582-8D14-ED87170B0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704"/>
            <a:ext cx="10515600" cy="4931259"/>
          </a:xfrm>
        </p:spPr>
        <p:txBody>
          <a:bodyPr>
            <a:normAutofit fontScale="92500" lnSpcReduction="10000"/>
          </a:bodyPr>
          <a:lstStyle/>
          <a:p>
            <a:endParaRPr lang="en-US" b="1" dirty="0"/>
          </a:p>
          <a:p>
            <a:r>
              <a:rPr lang="en-US" b="1" dirty="0"/>
              <a:t>Invalid (contradiction)</a:t>
            </a:r>
          </a:p>
          <a:p>
            <a:pPr marL="0" indent="0">
              <a:buNone/>
            </a:pPr>
            <a:r>
              <a:rPr lang="en-US" dirty="0"/>
              <a:t>An expression involving logical variables that is false in all cases is a contradiction. We use the number 0 to symbolize a contradiction.</a:t>
            </a:r>
          </a:p>
          <a:p>
            <a:pPr lvl="1"/>
            <a:r>
              <a:rPr lang="en-US" dirty="0"/>
              <a:t>The following are contradictions:</a:t>
            </a:r>
          </a:p>
          <a:p>
            <a:pPr marL="457200" lvl="1" indent="0">
              <a:buNone/>
            </a:pPr>
            <a:r>
              <a:rPr lang="en-US" dirty="0"/>
              <a:t>    (a) p ∧ ¬p</a:t>
            </a:r>
          </a:p>
          <a:p>
            <a:pPr marL="457200" lvl="1" indent="0">
              <a:buNone/>
            </a:pPr>
            <a:r>
              <a:rPr lang="en-US" dirty="0"/>
              <a:t>    (b) (p ∨ q) ∧ (¬p) ∧ (¬q)</a:t>
            </a:r>
          </a:p>
          <a:p>
            <a:r>
              <a:rPr lang="en-US" b="1" dirty="0"/>
              <a:t>Satisfiable (neither valid nor invalid)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 formula is valid if it is true for all values of its terms.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Satisfiability refers to the existence of a combination of values to make the expression true.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So,  in short, a proposition is satisfiable if there is at least one true result in its truth table, valid if all values it returns in the truth table are true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18312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F55318-D5B4-44AE-9E24-E1957DA17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73" y="643467"/>
            <a:ext cx="9237823" cy="5571066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79C3D1-C402-44C9-9FC7-524E586AAFAC}"/>
              </a:ext>
            </a:extLst>
          </p:cNvPr>
          <p:cNvSpPr/>
          <p:nvPr/>
        </p:nvSpPr>
        <p:spPr>
          <a:xfrm>
            <a:off x="9467559" y="643467"/>
            <a:ext cx="914400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864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0BB521-7CAD-483E-8B59-81845574D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41" y="643468"/>
            <a:ext cx="9369083" cy="5571066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E80F5-1260-4521-85D2-4105950E8A13}"/>
              </a:ext>
            </a:extLst>
          </p:cNvPr>
          <p:cNvSpPr/>
          <p:nvPr/>
        </p:nvSpPr>
        <p:spPr>
          <a:xfrm>
            <a:off x="9294096" y="524175"/>
            <a:ext cx="1101928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0030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12C697-E897-4124-AB54-539E4186D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929" y="1378226"/>
            <a:ext cx="8658971" cy="4545495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9DA4C0-1F61-485E-8C99-8408F1FB6B12}"/>
              </a:ext>
            </a:extLst>
          </p:cNvPr>
          <p:cNvSpPr/>
          <p:nvPr/>
        </p:nvSpPr>
        <p:spPr>
          <a:xfrm>
            <a:off x="9569700" y="643467"/>
            <a:ext cx="914400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FC7E7-767D-484B-A330-8C4069A8564C}"/>
              </a:ext>
            </a:extLst>
          </p:cNvPr>
          <p:cNvSpPr/>
          <p:nvPr/>
        </p:nvSpPr>
        <p:spPr>
          <a:xfrm>
            <a:off x="9451246" y="1557867"/>
            <a:ext cx="914400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7744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A21CA-ECA6-485B-A279-4367A038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>
                <a:solidFill>
                  <a:schemeClr val="tx1">
                    <a:lumMod val="85000"/>
                    <a:lumOff val="15000"/>
                  </a:schemeClr>
                </a:solidFill>
              </a:rPr>
              <a:t>Rule of Inference in PL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E000-9D68-407F-A627-764726D7E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6" y="2110154"/>
            <a:ext cx="9385598" cy="4199205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are a set of already identified sound inference rules</a:t>
            </a:r>
          </a:p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These are:</a:t>
            </a:r>
          </a:p>
          <a:p>
            <a:pPr marL="971550" marR="0" lvl="1" indent="-514350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ZA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Modes Ponens or Implication elimination</a:t>
            </a:r>
          </a:p>
          <a:p>
            <a:pPr marL="971550" marR="0" lvl="1" indent="-514350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ZA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Elimination</a:t>
            </a:r>
          </a:p>
          <a:p>
            <a:pPr marL="971550" marR="0" lvl="1" indent="-514350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ZA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Introduction</a:t>
            </a:r>
          </a:p>
          <a:p>
            <a:pPr marL="971550" marR="0" lvl="1" indent="-514350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ZA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 Introduction</a:t>
            </a:r>
          </a:p>
          <a:p>
            <a:pPr marL="971550" marR="0" lvl="1" indent="-514350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ZA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Double negation elimination</a:t>
            </a:r>
          </a:p>
          <a:p>
            <a:pPr marL="971550" marR="0" lvl="1" indent="-514350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ZA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 resolution</a:t>
            </a:r>
          </a:p>
          <a:p>
            <a:pPr marL="971550" marR="0" lvl="1" indent="-514350" defTabSz="914400" rtl="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ZA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Resolution</a:t>
            </a:r>
          </a:p>
          <a:p>
            <a:endParaRPr lang="en-ZA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8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7C6BF9-0812-42C2-A19A-C061346F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Normal Form of Logical Expressions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A8093E8-C61D-451F-9FBA-81840F445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6" y="2138289"/>
            <a:ext cx="9366505" cy="3613507"/>
          </a:xfrm>
        </p:spPr>
        <p:txBody>
          <a:bodyPr anchor="ctr">
            <a:normAutofit/>
          </a:bodyPr>
          <a:lstStyle/>
          <a:p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There are different standard forms of expressing PL statements.</a:t>
            </a:r>
          </a:p>
          <a:p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Some inference procedure require their knowledge base to be in one of the normal forms to infer from it.</a:t>
            </a:r>
          </a:p>
          <a:p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Hence, we need to convert that logical expression which are the source of knowledge into the appropriate forms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77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8D3A47B-9A50-4BF3-B9FA-B5031DD15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504" y="1266092"/>
            <a:ext cx="8553199" cy="53580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3C59B12-E6E6-4F71-9B5B-A545CABE0167}"/>
              </a:ext>
            </a:extLst>
          </p:cNvPr>
          <p:cNvSpPr/>
          <p:nvPr/>
        </p:nvSpPr>
        <p:spPr>
          <a:xfrm>
            <a:off x="9453489" y="1266092"/>
            <a:ext cx="1083213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3937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F18E2D-4F79-43F0-A1BE-B31430331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711" y="802994"/>
            <a:ext cx="8696564" cy="461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33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57C855-34D0-4DB2-8F5D-886CB32019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049" b="568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88394-3748-4D71-A2F4-78B502D8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b="1" dirty="0"/>
              <a:t>Inference Rules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47C1B26-1EBE-4597-B310-281E6D7D19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8169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733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9209D1-5EEC-46E9-A4D6-C9146B64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ZA" dirty="0">
                <a:latin typeface="+mn-lt"/>
              </a:rPr>
              <a:t>Sound rules of inferences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F758C-25ED-40CA-AA2E-B3093579D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02" y="2194102"/>
            <a:ext cx="4010305" cy="1913664"/>
          </a:xfrm>
        </p:spPr>
        <p:txBody>
          <a:bodyPr>
            <a:normAutofit/>
          </a:bodyPr>
          <a:lstStyle/>
          <a:p>
            <a:r>
              <a:rPr lang="en-ZA" sz="2400" dirty="0"/>
              <a:t>Here are some examples of sound rules of inference</a:t>
            </a:r>
          </a:p>
          <a:p>
            <a:r>
              <a:rPr lang="en-ZA" sz="2400" dirty="0"/>
              <a:t>Each can be shown to be sound using a truth table</a:t>
            </a:r>
          </a:p>
          <a:p>
            <a:pPr marL="0" indent="0">
              <a:buNone/>
            </a:pPr>
            <a:endParaRPr lang="en-ZA" sz="2000" dirty="0"/>
          </a:p>
        </p:txBody>
      </p:sp>
      <p:pic>
        <p:nvPicPr>
          <p:cNvPr id="9" name="Picture 8" descr="Text, letter&#10;&#10;Description automatically generated">
            <a:extLst>
              <a:ext uri="{FF2B5EF4-FFF2-40B4-BE49-F238E27FC236}">
                <a16:creationId xmlns:a16="http://schemas.microsoft.com/office/drawing/2014/main" id="{A5A8B8EB-29B7-4782-ACE0-571DAA5D5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879003"/>
            <a:ext cx="6155141" cy="312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28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0442-4515-469A-80F7-651B6401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6900"/>
          </a:xfrm>
        </p:spPr>
        <p:txBody>
          <a:bodyPr/>
          <a:lstStyle/>
          <a:p>
            <a:r>
              <a:rPr lang="en-ZA" dirty="0">
                <a:latin typeface="+mn-lt"/>
              </a:rPr>
              <a:t>Soundness of Modus ponens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2587E7FD-B22F-479F-8BB0-86F4171E3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8760" y="1964568"/>
            <a:ext cx="5953125" cy="3190875"/>
          </a:xfrm>
        </p:spPr>
      </p:pic>
    </p:spTree>
    <p:extLst>
      <p:ext uri="{BB962C8B-B14F-4D97-AF65-F5344CB8AC3E}">
        <p14:creationId xmlns:p14="http://schemas.microsoft.com/office/powerpoint/2010/main" val="674880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9EC125-D14B-42EB-BE7B-A449E7542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554" y="643468"/>
            <a:ext cx="7230794" cy="55710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CA595F-EAF3-4A7E-85B0-4ED152F5707A}"/>
              </a:ext>
            </a:extLst>
          </p:cNvPr>
          <p:cNvSpPr/>
          <p:nvPr/>
        </p:nvSpPr>
        <p:spPr>
          <a:xfrm>
            <a:off x="9439014" y="643466"/>
            <a:ext cx="914400" cy="80102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9099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CE4E07-56C4-4A10-8FC2-5F7D7B77AFC7}"/>
              </a:ext>
            </a:extLst>
          </p:cNvPr>
          <p:cNvSpPr/>
          <p:nvPr/>
        </p:nvSpPr>
        <p:spPr>
          <a:xfrm>
            <a:off x="9594574" y="503583"/>
            <a:ext cx="914400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21B30C3B-0C96-4A54-9209-80AF0E51B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1" y="828674"/>
            <a:ext cx="8258143" cy="537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07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F55EAC-550A-4BDD-9099-3F20B8FA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4F5A5F-493F-49AE-89B6-D5AF5EBC8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724001 w 12192000"/>
              <a:gd name="connsiteY0" fmla="*/ 434021 h 6858000"/>
              <a:gd name="connsiteX1" fmla="*/ 6471155 w 12192000"/>
              <a:gd name="connsiteY1" fmla="*/ 434599 h 6858000"/>
              <a:gd name="connsiteX2" fmla="*/ 5384913 w 12192000"/>
              <a:gd name="connsiteY2" fmla="*/ 497971 h 6858000"/>
              <a:gd name="connsiteX3" fmla="*/ 4818280 w 12192000"/>
              <a:gd name="connsiteY3" fmla="*/ 541802 h 6858000"/>
              <a:gd name="connsiteX4" fmla="*/ 3965428 w 12192000"/>
              <a:gd name="connsiteY4" fmla="*/ 675942 h 6858000"/>
              <a:gd name="connsiteX5" fmla="*/ 3699528 w 12192000"/>
              <a:gd name="connsiteY5" fmla="*/ 770472 h 6858000"/>
              <a:gd name="connsiteX6" fmla="*/ 3438854 w 12192000"/>
              <a:gd name="connsiteY6" fmla="*/ 834899 h 6858000"/>
              <a:gd name="connsiteX7" fmla="*/ 3367443 w 12192000"/>
              <a:gd name="connsiteY7" fmla="*/ 893518 h 6858000"/>
              <a:gd name="connsiteX8" fmla="*/ 3467301 w 12192000"/>
              <a:gd name="connsiteY8" fmla="*/ 953722 h 6858000"/>
              <a:gd name="connsiteX9" fmla="*/ 3889955 w 12192000"/>
              <a:gd name="connsiteY9" fmla="*/ 977486 h 6858000"/>
              <a:gd name="connsiteX10" fmla="*/ 3502135 w 12192000"/>
              <a:gd name="connsiteY10" fmla="*/ 1054062 h 6858000"/>
              <a:gd name="connsiteX11" fmla="*/ 4072832 w 12192000"/>
              <a:gd name="connsiteY11" fmla="*/ 1017622 h 6858000"/>
              <a:gd name="connsiteX12" fmla="*/ 4244099 w 12192000"/>
              <a:gd name="connsiteY12" fmla="*/ 1030825 h 6858000"/>
              <a:gd name="connsiteX13" fmla="*/ 4095475 w 12192000"/>
              <a:gd name="connsiteY13" fmla="*/ 1092084 h 6858000"/>
              <a:gd name="connsiteX14" fmla="*/ 3327386 w 12192000"/>
              <a:gd name="connsiteY14" fmla="*/ 1215660 h 6858000"/>
              <a:gd name="connsiteX15" fmla="*/ 3254813 w 12192000"/>
              <a:gd name="connsiteY15" fmla="*/ 1226749 h 6858000"/>
              <a:gd name="connsiteX16" fmla="*/ 2776427 w 12192000"/>
              <a:gd name="connsiteY16" fmla="*/ 1401552 h 6858000"/>
              <a:gd name="connsiteX17" fmla="*/ 3063226 w 12192000"/>
              <a:gd name="connsiteY17" fmla="*/ 1384124 h 6858000"/>
              <a:gd name="connsiteX18" fmla="*/ 2754945 w 12192000"/>
              <a:gd name="connsiteY18" fmla="*/ 1495025 h 6858000"/>
              <a:gd name="connsiteX19" fmla="*/ 2381061 w 12192000"/>
              <a:gd name="connsiteY19" fmla="*/ 1619658 h 6858000"/>
              <a:gd name="connsiteX20" fmla="*/ 2008336 w 12192000"/>
              <a:gd name="connsiteY20" fmla="*/ 1814527 h 6858000"/>
              <a:gd name="connsiteX21" fmla="*/ 1740695 w 12192000"/>
              <a:gd name="connsiteY21" fmla="*/ 1914337 h 6858000"/>
              <a:gd name="connsiteX22" fmla="*/ 1787720 w 12192000"/>
              <a:gd name="connsiteY22" fmla="*/ 1991970 h 6858000"/>
              <a:gd name="connsiteX23" fmla="*/ 1754048 w 12192000"/>
              <a:gd name="connsiteY23" fmla="*/ 2078049 h 6858000"/>
              <a:gd name="connsiteX24" fmla="*/ 2228951 w 12192000"/>
              <a:gd name="connsiteY24" fmla="*/ 1996721 h 6858000"/>
              <a:gd name="connsiteX25" fmla="*/ 2054781 w 12192000"/>
              <a:gd name="connsiteY25" fmla="*/ 2053228 h 6858000"/>
              <a:gd name="connsiteX26" fmla="*/ 1985693 w 12192000"/>
              <a:gd name="connsiteY26" fmla="*/ 2109207 h 6858000"/>
              <a:gd name="connsiteX27" fmla="*/ 2061168 w 12192000"/>
              <a:gd name="connsiteY27" fmla="*/ 2130859 h 6858000"/>
              <a:gd name="connsiteX28" fmla="*/ 2388026 w 12192000"/>
              <a:gd name="connsiteY28" fmla="*/ 2184726 h 6858000"/>
              <a:gd name="connsiteX29" fmla="*/ 1560719 w 12192000"/>
              <a:gd name="connsiteY29" fmla="*/ 2384876 h 6858000"/>
              <a:gd name="connsiteX30" fmla="*/ 1679734 w 12192000"/>
              <a:gd name="connsiteY30" fmla="*/ 2400191 h 6858000"/>
              <a:gd name="connsiteX31" fmla="*/ 2882089 w 12192000"/>
              <a:gd name="connsiteY31" fmla="*/ 2383292 h 6858000"/>
              <a:gd name="connsiteX32" fmla="*/ 3116638 w 12192000"/>
              <a:gd name="connsiteY32" fmla="*/ 2359528 h 6858000"/>
              <a:gd name="connsiteX33" fmla="*/ 2897765 w 12192000"/>
              <a:gd name="connsiteY33" fmla="*/ 2758243 h 6858000"/>
              <a:gd name="connsiteX34" fmla="*/ 2981367 w 12192000"/>
              <a:gd name="connsiteY34" fmla="*/ 2829008 h 6858000"/>
              <a:gd name="connsiteX35" fmla="*/ 2682955 w 12192000"/>
              <a:gd name="connsiteY35" fmla="*/ 2846436 h 6858000"/>
              <a:gd name="connsiteX36" fmla="*/ 2099485 w 12192000"/>
              <a:gd name="connsiteY36" fmla="*/ 3066653 h 6858000"/>
              <a:gd name="connsiteX37" fmla="*/ 1807460 w 12192000"/>
              <a:gd name="connsiteY37" fmla="*/ 3454808 h 6858000"/>
              <a:gd name="connsiteX38" fmla="*/ 1921251 w 12192000"/>
              <a:gd name="connsiteY38" fmla="*/ 3540889 h 6858000"/>
              <a:gd name="connsiteX39" fmla="*/ 1453313 w 12192000"/>
              <a:gd name="connsiteY39" fmla="*/ 3637002 h 6858000"/>
              <a:gd name="connsiteX40" fmla="*/ 1686122 w 12192000"/>
              <a:gd name="connsiteY40" fmla="*/ 3667634 h 6858000"/>
              <a:gd name="connsiteX41" fmla="*/ 1513692 w 12192000"/>
              <a:gd name="connsiteY41" fmla="*/ 3725196 h 6858000"/>
              <a:gd name="connsiteX42" fmla="*/ 1369711 w 12192000"/>
              <a:gd name="connsiteY42" fmla="*/ 3826063 h 6858000"/>
              <a:gd name="connsiteX43" fmla="*/ 2051298 w 12192000"/>
              <a:gd name="connsiteY43" fmla="*/ 3754242 h 6858000"/>
              <a:gd name="connsiteX44" fmla="*/ 2245207 w 12192000"/>
              <a:gd name="connsiteY44" fmla="*/ 3797018 h 6858000"/>
              <a:gd name="connsiteX45" fmla="*/ 2353192 w 12192000"/>
              <a:gd name="connsiteY45" fmla="*/ 3796489 h 6858000"/>
              <a:gd name="connsiteX46" fmla="*/ 2490207 w 12192000"/>
              <a:gd name="connsiteY46" fmla="*/ 3801242 h 6858000"/>
              <a:gd name="connsiteX47" fmla="*/ 2375835 w 12192000"/>
              <a:gd name="connsiteY47" fmla="*/ 3839794 h 6858000"/>
              <a:gd name="connsiteX48" fmla="*/ 2522138 w 12192000"/>
              <a:gd name="connsiteY48" fmla="*/ 4009841 h 6858000"/>
              <a:gd name="connsiteX49" fmla="*/ 1998466 w 12192000"/>
              <a:gd name="connsiteY49" fmla="*/ 4130778 h 6858000"/>
              <a:gd name="connsiteX50" fmla="*/ 2114580 w 12192000"/>
              <a:gd name="connsiteY50" fmla="*/ 4154543 h 6858000"/>
              <a:gd name="connsiteX51" fmla="*/ 2177862 w 12192000"/>
              <a:gd name="connsiteY51" fmla="*/ 4189925 h 6858000"/>
              <a:gd name="connsiteX52" fmla="*/ 1868419 w 12192000"/>
              <a:gd name="connsiteY52" fmla="*/ 4382153 h 6858000"/>
              <a:gd name="connsiteX53" fmla="*/ 2279460 w 12192000"/>
              <a:gd name="connsiteY53" fmla="*/ 4356805 h 6858000"/>
              <a:gd name="connsiteX54" fmla="*/ 2029817 w 12192000"/>
              <a:gd name="connsiteY54" fmla="*/ 4468235 h 6858000"/>
              <a:gd name="connsiteX55" fmla="*/ 1560137 w 12192000"/>
              <a:gd name="connsiteY55" fmla="*/ 4730172 h 6858000"/>
              <a:gd name="connsiteX56" fmla="*/ 1956664 w 12192000"/>
              <a:gd name="connsiteY56" fmla="*/ 4820477 h 6858000"/>
              <a:gd name="connsiteX57" fmla="*/ 3268168 w 12192000"/>
              <a:gd name="connsiteY57" fmla="*/ 4852692 h 6858000"/>
              <a:gd name="connsiteX58" fmla="*/ 2807197 w 12192000"/>
              <a:gd name="connsiteY58" fmla="*/ 4939300 h 6858000"/>
              <a:gd name="connsiteX59" fmla="*/ 2721272 w 12192000"/>
              <a:gd name="connsiteY59" fmla="*/ 4970458 h 6858000"/>
              <a:gd name="connsiteX60" fmla="*/ 2802552 w 12192000"/>
              <a:gd name="connsiteY60" fmla="*/ 5014291 h 6858000"/>
              <a:gd name="connsiteX61" fmla="*/ 2537812 w 12192000"/>
              <a:gd name="connsiteY61" fmla="*/ 5053898 h 6858000"/>
              <a:gd name="connsiteX62" fmla="*/ 2569744 w 12192000"/>
              <a:gd name="connsiteY62" fmla="*/ 5153182 h 6858000"/>
              <a:gd name="connsiteX63" fmla="*/ 1987436 w 12192000"/>
              <a:gd name="connsiteY63" fmla="*/ 5334320 h 6858000"/>
              <a:gd name="connsiteX64" fmla="*/ 1972921 w 12192000"/>
              <a:gd name="connsiteY64" fmla="*/ 5382376 h 6858000"/>
              <a:gd name="connsiteX65" fmla="*/ 2341001 w 12192000"/>
              <a:gd name="connsiteY65" fmla="*/ 5360725 h 6858000"/>
              <a:gd name="connsiteX66" fmla="*/ 2710822 w 12192000"/>
              <a:gd name="connsiteY66" fmla="*/ 5418816 h 6858000"/>
              <a:gd name="connsiteX67" fmla="*/ 2833903 w 12192000"/>
              <a:gd name="connsiteY67" fmla="*/ 5413007 h 6858000"/>
              <a:gd name="connsiteX68" fmla="*/ 3011556 w 12192000"/>
              <a:gd name="connsiteY68" fmla="*/ 5399276 h 6858000"/>
              <a:gd name="connsiteX69" fmla="*/ 3254233 w 12192000"/>
              <a:gd name="connsiteY69" fmla="*/ 5439412 h 6858000"/>
              <a:gd name="connsiteX70" fmla="*/ 2792101 w 12192000"/>
              <a:gd name="connsiteY70" fmla="*/ 5471625 h 6858000"/>
              <a:gd name="connsiteX71" fmla="*/ 2977303 w 12192000"/>
              <a:gd name="connsiteY71" fmla="*/ 5539751 h 6858000"/>
              <a:gd name="connsiteX72" fmla="*/ 3656566 w 12192000"/>
              <a:gd name="connsiteY72" fmla="*/ 5678642 h 6858000"/>
              <a:gd name="connsiteX73" fmla="*/ 4858340 w 12192000"/>
              <a:gd name="connsiteY73" fmla="*/ 5969625 h 6858000"/>
              <a:gd name="connsiteX74" fmla="*/ 5296668 w 12192000"/>
              <a:gd name="connsiteY74" fmla="*/ 6043559 h 6858000"/>
              <a:gd name="connsiteX75" fmla="*/ 5456323 w 12192000"/>
              <a:gd name="connsiteY75" fmla="*/ 6042502 h 6858000"/>
              <a:gd name="connsiteX76" fmla="*/ 5267058 w 12192000"/>
              <a:gd name="connsiteY76" fmla="*/ 6100066 h 6858000"/>
              <a:gd name="connsiteX77" fmla="*/ 7095266 w 12192000"/>
              <a:gd name="connsiteY77" fmla="*/ 6287541 h 6858000"/>
              <a:gd name="connsiteX78" fmla="*/ 9707235 w 12192000"/>
              <a:gd name="connsiteY78" fmla="*/ 5994446 h 6858000"/>
              <a:gd name="connsiteX79" fmla="*/ 10083442 w 12192000"/>
              <a:gd name="connsiteY79" fmla="*/ 5678642 h 6858000"/>
              <a:gd name="connsiteX80" fmla="*/ 10338892 w 12192000"/>
              <a:gd name="connsiteY80" fmla="*/ 4650957 h 6858000"/>
              <a:gd name="connsiteX81" fmla="*/ 10628013 w 12192000"/>
              <a:gd name="connsiteY81" fmla="*/ 4411198 h 6858000"/>
              <a:gd name="connsiteX82" fmla="*/ 10802766 w 12192000"/>
              <a:gd name="connsiteY82" fmla="*/ 4258050 h 6858000"/>
              <a:gd name="connsiteX83" fmla="*/ 10614662 w 12192000"/>
              <a:gd name="connsiteY83" fmla="*/ 4150318 h 6858000"/>
              <a:gd name="connsiteX84" fmla="*/ 10681427 w 12192000"/>
              <a:gd name="connsiteY84" fmla="*/ 4054203 h 6858000"/>
              <a:gd name="connsiteX85" fmla="*/ 10520029 w 12192000"/>
              <a:gd name="connsiteY85" fmla="*/ 3804411 h 6858000"/>
              <a:gd name="connsiteX86" fmla="*/ 10568798 w 12192000"/>
              <a:gd name="connsiteY86" fmla="*/ 3466426 h 6858000"/>
              <a:gd name="connsiteX87" fmla="*/ 10499709 w 12192000"/>
              <a:gd name="connsiteY87" fmla="*/ 3166465 h 6858000"/>
              <a:gd name="connsiteX88" fmla="*/ 10489840 w 12192000"/>
              <a:gd name="connsiteY88" fmla="*/ 2546475 h 6858000"/>
              <a:gd name="connsiteX89" fmla="*/ 10584471 w 12192000"/>
              <a:gd name="connsiteY89" fmla="*/ 2512148 h 6858000"/>
              <a:gd name="connsiteX90" fmla="*/ 10695942 w 12192000"/>
              <a:gd name="connsiteY90" fmla="*/ 2358471 h 6858000"/>
              <a:gd name="connsiteX91" fmla="*/ 10732516 w 12192000"/>
              <a:gd name="connsiteY91" fmla="*/ 2287706 h 6858000"/>
              <a:gd name="connsiteX92" fmla="*/ 10731357 w 12192000"/>
              <a:gd name="connsiteY92" fmla="*/ 2137725 h 6858000"/>
              <a:gd name="connsiteX93" fmla="*/ 10678525 w 12192000"/>
              <a:gd name="connsiteY93" fmla="*/ 2070656 h 6858000"/>
              <a:gd name="connsiteX94" fmla="*/ 10735999 w 12192000"/>
              <a:gd name="connsiteY94" fmla="*/ 1956587 h 6858000"/>
              <a:gd name="connsiteX95" fmla="*/ 10824246 w 12192000"/>
              <a:gd name="connsiteY95" fmla="*/ 1862584 h 6858000"/>
              <a:gd name="connsiteX96" fmla="*/ 10773156 w 12192000"/>
              <a:gd name="connsiteY96" fmla="*/ 1768054 h 6858000"/>
              <a:gd name="connsiteX97" fmla="*/ 10716261 w 12192000"/>
              <a:gd name="connsiteY97" fmla="*/ 1678278 h 6858000"/>
              <a:gd name="connsiteX98" fmla="*/ 10554864 w 12192000"/>
              <a:gd name="connsiteY98" fmla="*/ 1477599 h 6858000"/>
              <a:gd name="connsiteX99" fmla="*/ 10267483 w 12192000"/>
              <a:gd name="connsiteY99" fmla="*/ 1324977 h 6858000"/>
              <a:gd name="connsiteX100" fmla="*/ 9913337 w 12192000"/>
              <a:gd name="connsiteY100" fmla="*/ 1202458 h 6858000"/>
              <a:gd name="connsiteX101" fmla="*/ 10024805 w 12192000"/>
              <a:gd name="connsiteY101" fmla="*/ 1124827 h 6858000"/>
              <a:gd name="connsiteX102" fmla="*/ 9411726 w 12192000"/>
              <a:gd name="connsiteY102" fmla="*/ 980655 h 6858000"/>
              <a:gd name="connsiteX103" fmla="*/ 9930753 w 12192000"/>
              <a:gd name="connsiteY103" fmla="*/ 901968 h 6858000"/>
              <a:gd name="connsiteX104" fmla="*/ 9894178 w 12192000"/>
              <a:gd name="connsiteY104" fmla="*/ 871339 h 6858000"/>
              <a:gd name="connsiteX105" fmla="*/ 9858182 w 12192000"/>
              <a:gd name="connsiteY105" fmla="*/ 839125 h 6858000"/>
              <a:gd name="connsiteX106" fmla="*/ 10131050 w 12192000"/>
              <a:gd name="connsiteY106" fmla="*/ 792652 h 6858000"/>
              <a:gd name="connsiteX107" fmla="*/ 10006808 w 12192000"/>
              <a:gd name="connsiteY107" fmla="*/ 731920 h 6858000"/>
              <a:gd name="connsiteX108" fmla="*/ 10233809 w 12192000"/>
              <a:gd name="connsiteY108" fmla="*/ 710268 h 6858000"/>
              <a:gd name="connsiteX109" fmla="*/ 10267483 w 12192000"/>
              <a:gd name="connsiteY109" fmla="*/ 628940 h 6858000"/>
              <a:gd name="connsiteX110" fmla="*/ 10136275 w 12192000"/>
              <a:gd name="connsiteY110" fmla="*/ 589333 h 6858000"/>
              <a:gd name="connsiteX111" fmla="*/ 9131312 w 12192000"/>
              <a:gd name="connsiteY111" fmla="*/ 480544 h 6858000"/>
              <a:gd name="connsiteX112" fmla="*/ 7479600 w 12192000"/>
              <a:gd name="connsiteY112" fmla="*/ 454667 h 6858000"/>
              <a:gd name="connsiteX113" fmla="*/ 6724001 w 12192000"/>
              <a:gd name="connsiteY113" fmla="*/ 434021 h 6858000"/>
              <a:gd name="connsiteX114" fmla="*/ 0 w 12192000"/>
              <a:gd name="connsiteY114" fmla="*/ 0 h 6858000"/>
              <a:gd name="connsiteX115" fmla="*/ 12192000 w 12192000"/>
              <a:gd name="connsiteY115" fmla="*/ 0 h 6858000"/>
              <a:gd name="connsiteX116" fmla="*/ 12192000 w 12192000"/>
              <a:gd name="connsiteY116" fmla="*/ 6858000 h 6858000"/>
              <a:gd name="connsiteX117" fmla="*/ 0 w 12192000"/>
              <a:gd name="connsiteY1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192000" h="6858000">
                <a:moveTo>
                  <a:pt x="6724001" y="434021"/>
                </a:moveTo>
                <a:cubicBezTo>
                  <a:pt x="6639882" y="433113"/>
                  <a:pt x="6555627" y="433147"/>
                  <a:pt x="6471155" y="434599"/>
                </a:cubicBezTo>
                <a:cubicBezTo>
                  <a:pt x="6109461" y="440937"/>
                  <a:pt x="5748349" y="439351"/>
                  <a:pt x="5384913" y="497971"/>
                </a:cubicBezTo>
                <a:cubicBezTo>
                  <a:pt x="5199132" y="528072"/>
                  <a:pt x="5005803" y="518038"/>
                  <a:pt x="4818280" y="541802"/>
                </a:cubicBezTo>
                <a:cubicBezTo>
                  <a:pt x="4532641" y="578242"/>
                  <a:pt x="4247003" y="621019"/>
                  <a:pt x="3965428" y="675942"/>
                </a:cubicBezTo>
                <a:cubicBezTo>
                  <a:pt x="3877181" y="693369"/>
                  <a:pt x="3768034" y="703930"/>
                  <a:pt x="3699528" y="770472"/>
                </a:cubicBezTo>
                <a:cubicBezTo>
                  <a:pt x="3590961" y="728224"/>
                  <a:pt x="3523617" y="807966"/>
                  <a:pt x="3438854" y="834899"/>
                </a:cubicBezTo>
                <a:cubicBezTo>
                  <a:pt x="3405761" y="845462"/>
                  <a:pt x="3362218" y="860248"/>
                  <a:pt x="3367443" y="893518"/>
                </a:cubicBezTo>
                <a:cubicBezTo>
                  <a:pt x="3372089" y="935238"/>
                  <a:pt x="3420855" y="962172"/>
                  <a:pt x="3467301" y="953722"/>
                </a:cubicBezTo>
                <a:cubicBezTo>
                  <a:pt x="3611863" y="927317"/>
                  <a:pt x="3741328" y="986464"/>
                  <a:pt x="3889955" y="977486"/>
                </a:cubicBezTo>
                <a:cubicBezTo>
                  <a:pt x="3760488" y="1002836"/>
                  <a:pt x="3631601" y="1028713"/>
                  <a:pt x="3502135" y="1054062"/>
                </a:cubicBezTo>
                <a:cubicBezTo>
                  <a:pt x="3694303" y="1074129"/>
                  <a:pt x="3883568" y="1038218"/>
                  <a:pt x="4072832" y="1017622"/>
                </a:cubicBezTo>
                <a:cubicBezTo>
                  <a:pt x="4133792" y="1011285"/>
                  <a:pt x="4228424" y="962699"/>
                  <a:pt x="4244099" y="1030825"/>
                </a:cubicBezTo>
                <a:cubicBezTo>
                  <a:pt x="4254550" y="1076242"/>
                  <a:pt x="4152951" y="1079410"/>
                  <a:pt x="4095475" y="1092084"/>
                </a:cubicBezTo>
                <a:cubicBezTo>
                  <a:pt x="3841766" y="1146479"/>
                  <a:pt x="3583994" y="1178165"/>
                  <a:pt x="3327386" y="1215660"/>
                </a:cubicBezTo>
                <a:cubicBezTo>
                  <a:pt x="3303001" y="1219357"/>
                  <a:pt x="3271070" y="1216188"/>
                  <a:pt x="3254813" y="1226749"/>
                </a:cubicBezTo>
                <a:cubicBezTo>
                  <a:pt x="3123605" y="1311774"/>
                  <a:pt x="2957563" y="1339765"/>
                  <a:pt x="2776427" y="1401552"/>
                </a:cubicBezTo>
                <a:cubicBezTo>
                  <a:pt x="2890798" y="1430598"/>
                  <a:pt x="2968012" y="1370921"/>
                  <a:pt x="3063226" y="1384124"/>
                </a:cubicBezTo>
                <a:cubicBezTo>
                  <a:pt x="2966272" y="1448024"/>
                  <a:pt x="2853641" y="1460171"/>
                  <a:pt x="2754945" y="1495025"/>
                </a:cubicBezTo>
                <a:cubicBezTo>
                  <a:pt x="2684117" y="1519846"/>
                  <a:pt x="2421119" y="1597477"/>
                  <a:pt x="2381061" y="1619658"/>
                </a:cubicBezTo>
                <a:cubicBezTo>
                  <a:pt x="2260302" y="1688311"/>
                  <a:pt x="2107033" y="1720525"/>
                  <a:pt x="2008336" y="1814527"/>
                </a:cubicBezTo>
                <a:cubicBezTo>
                  <a:pt x="1938668" y="1880540"/>
                  <a:pt x="1822554" y="1868393"/>
                  <a:pt x="1740695" y="1914337"/>
                </a:cubicBezTo>
                <a:cubicBezTo>
                  <a:pt x="1711667" y="1957642"/>
                  <a:pt x="1767982" y="1968733"/>
                  <a:pt x="1787720" y="1991970"/>
                </a:cubicBezTo>
                <a:cubicBezTo>
                  <a:pt x="1813846" y="2023126"/>
                  <a:pt x="1767401" y="2040555"/>
                  <a:pt x="1754048" y="2078049"/>
                </a:cubicBezTo>
                <a:cubicBezTo>
                  <a:pt x="1907898" y="2035802"/>
                  <a:pt x="2054781" y="2010981"/>
                  <a:pt x="2228951" y="1996721"/>
                </a:cubicBezTo>
                <a:cubicBezTo>
                  <a:pt x="2171475" y="2057452"/>
                  <a:pt x="2101807" y="2031048"/>
                  <a:pt x="2054781" y="2053228"/>
                </a:cubicBezTo>
                <a:cubicBezTo>
                  <a:pt x="2024011" y="2067487"/>
                  <a:pt x="1976984" y="2073824"/>
                  <a:pt x="1985693" y="2109207"/>
                </a:cubicBezTo>
                <a:cubicBezTo>
                  <a:pt x="1992660" y="2137196"/>
                  <a:pt x="2032140" y="2133500"/>
                  <a:pt x="2061168" y="2130859"/>
                </a:cubicBezTo>
                <a:cubicBezTo>
                  <a:pt x="2172636" y="2120825"/>
                  <a:pt x="2281202" y="2117656"/>
                  <a:pt x="2388026" y="2184726"/>
                </a:cubicBezTo>
                <a:cubicBezTo>
                  <a:pt x="2116321" y="2282425"/>
                  <a:pt x="1803977" y="2241233"/>
                  <a:pt x="1560719" y="2384876"/>
                </a:cubicBezTo>
                <a:cubicBezTo>
                  <a:pt x="1594973" y="2429237"/>
                  <a:pt x="1643739" y="2405472"/>
                  <a:pt x="1679734" y="2400191"/>
                </a:cubicBezTo>
                <a:cubicBezTo>
                  <a:pt x="1916026" y="2364279"/>
                  <a:pt x="2760170" y="2428180"/>
                  <a:pt x="2882089" y="2383292"/>
                </a:cubicBezTo>
                <a:cubicBezTo>
                  <a:pt x="2956983" y="2355830"/>
                  <a:pt x="3035941" y="2342628"/>
                  <a:pt x="3116638" y="2359528"/>
                </a:cubicBezTo>
                <a:cubicBezTo>
                  <a:pt x="3194434" y="2375898"/>
                  <a:pt x="3174696" y="2605622"/>
                  <a:pt x="2897765" y="2758243"/>
                </a:cubicBezTo>
                <a:cubicBezTo>
                  <a:pt x="2858286" y="2779895"/>
                  <a:pt x="3034779" y="2811053"/>
                  <a:pt x="2981367" y="2829008"/>
                </a:cubicBezTo>
                <a:cubicBezTo>
                  <a:pt x="2939566" y="2843267"/>
                  <a:pt x="2734626" y="2835346"/>
                  <a:pt x="2682955" y="2846436"/>
                </a:cubicBezTo>
                <a:cubicBezTo>
                  <a:pt x="2662635" y="2851188"/>
                  <a:pt x="2040267" y="3029159"/>
                  <a:pt x="2099485" y="3066653"/>
                </a:cubicBezTo>
                <a:cubicBezTo>
                  <a:pt x="2276558" y="3179139"/>
                  <a:pt x="2869897" y="3385098"/>
                  <a:pt x="1807460" y="3454808"/>
                </a:cubicBezTo>
                <a:cubicBezTo>
                  <a:pt x="1841132" y="3495472"/>
                  <a:pt x="1934024" y="3469596"/>
                  <a:pt x="1921251" y="3540889"/>
                </a:cubicBezTo>
                <a:cubicBezTo>
                  <a:pt x="1780173" y="3579440"/>
                  <a:pt x="1617035" y="3577328"/>
                  <a:pt x="1453313" y="3637002"/>
                </a:cubicBezTo>
                <a:cubicBezTo>
                  <a:pt x="1527047" y="3680307"/>
                  <a:pt x="1611808" y="3653902"/>
                  <a:pt x="1686122" y="3667634"/>
                </a:cubicBezTo>
                <a:cubicBezTo>
                  <a:pt x="1644320" y="3722027"/>
                  <a:pt x="1572330" y="3713578"/>
                  <a:pt x="1513692" y="3725196"/>
                </a:cubicBezTo>
                <a:cubicBezTo>
                  <a:pt x="1459700" y="3736286"/>
                  <a:pt x="1345329" y="3830816"/>
                  <a:pt x="1369711" y="3826063"/>
                </a:cubicBezTo>
                <a:cubicBezTo>
                  <a:pt x="1595553" y="3783815"/>
                  <a:pt x="1824877" y="3795434"/>
                  <a:pt x="2051298" y="3754242"/>
                </a:cubicBezTo>
                <a:cubicBezTo>
                  <a:pt x="2126192" y="3740511"/>
                  <a:pt x="2210955" y="3714106"/>
                  <a:pt x="2245207" y="3797018"/>
                </a:cubicBezTo>
                <a:cubicBezTo>
                  <a:pt x="2255659" y="3821310"/>
                  <a:pt x="2248109" y="3829232"/>
                  <a:pt x="2353192" y="3796489"/>
                </a:cubicBezTo>
                <a:cubicBezTo>
                  <a:pt x="2394414" y="3783815"/>
                  <a:pt x="2448988" y="3770085"/>
                  <a:pt x="2490207" y="3801242"/>
                </a:cubicBezTo>
                <a:cubicBezTo>
                  <a:pt x="2464082" y="3840321"/>
                  <a:pt x="2413572" y="3828703"/>
                  <a:pt x="2375835" y="3839794"/>
                </a:cubicBezTo>
                <a:cubicBezTo>
                  <a:pt x="2275978" y="3868311"/>
                  <a:pt x="2619094" y="3977100"/>
                  <a:pt x="2522138" y="4009841"/>
                </a:cubicBezTo>
                <a:cubicBezTo>
                  <a:pt x="2323584" y="4076912"/>
                  <a:pt x="2199343" y="4057372"/>
                  <a:pt x="1998466" y="4130778"/>
                </a:cubicBezTo>
                <a:cubicBezTo>
                  <a:pt x="2066973" y="4129192"/>
                  <a:pt x="2046072" y="4154543"/>
                  <a:pt x="2114580" y="4154543"/>
                </a:cubicBezTo>
                <a:cubicBezTo>
                  <a:pt x="2145350" y="4154543"/>
                  <a:pt x="2177862" y="4160878"/>
                  <a:pt x="2177862" y="4189925"/>
                </a:cubicBezTo>
                <a:cubicBezTo>
                  <a:pt x="2177862" y="4217385"/>
                  <a:pt x="1817330" y="4367895"/>
                  <a:pt x="1868419" y="4382153"/>
                </a:cubicBezTo>
                <a:cubicBezTo>
                  <a:pt x="2007755" y="4420704"/>
                  <a:pt x="2365385" y="4302410"/>
                  <a:pt x="2279460" y="4356805"/>
                </a:cubicBezTo>
                <a:cubicBezTo>
                  <a:pt x="2148834" y="4439716"/>
                  <a:pt x="2129094" y="4456088"/>
                  <a:pt x="2029817" y="4468235"/>
                </a:cubicBezTo>
                <a:cubicBezTo>
                  <a:pt x="1944474" y="4478796"/>
                  <a:pt x="1644320" y="4710633"/>
                  <a:pt x="1560137" y="4730172"/>
                </a:cubicBezTo>
                <a:cubicBezTo>
                  <a:pt x="1485825" y="4747072"/>
                  <a:pt x="1774947" y="4800410"/>
                  <a:pt x="1956664" y="4820477"/>
                </a:cubicBezTo>
                <a:cubicBezTo>
                  <a:pt x="2130256" y="4840017"/>
                  <a:pt x="3101544" y="4789319"/>
                  <a:pt x="3268168" y="4852692"/>
                </a:cubicBezTo>
                <a:cubicBezTo>
                  <a:pt x="3111993" y="4878041"/>
                  <a:pt x="2970336" y="4953030"/>
                  <a:pt x="2807197" y="4939300"/>
                </a:cubicBezTo>
                <a:cubicBezTo>
                  <a:pt x="2773524" y="4936660"/>
                  <a:pt x="2724756" y="4930323"/>
                  <a:pt x="2721272" y="4970458"/>
                </a:cubicBezTo>
                <a:cubicBezTo>
                  <a:pt x="2718369" y="5005313"/>
                  <a:pt x="2788038" y="4981548"/>
                  <a:pt x="2802552" y="5014291"/>
                </a:cubicBezTo>
                <a:cubicBezTo>
                  <a:pt x="2719531" y="5060235"/>
                  <a:pt x="2621415" y="5018515"/>
                  <a:pt x="2537812" y="5053898"/>
                </a:cubicBezTo>
                <a:cubicBezTo>
                  <a:pt x="2491948" y="5099314"/>
                  <a:pt x="2589483" y="5107236"/>
                  <a:pt x="2569744" y="5153182"/>
                </a:cubicBezTo>
                <a:cubicBezTo>
                  <a:pt x="2301522" y="5193845"/>
                  <a:pt x="2252174" y="5268836"/>
                  <a:pt x="1987436" y="5334320"/>
                </a:cubicBezTo>
                <a:cubicBezTo>
                  <a:pt x="1971179" y="5338545"/>
                  <a:pt x="1958407" y="5352274"/>
                  <a:pt x="1972921" y="5382376"/>
                </a:cubicBezTo>
                <a:cubicBezTo>
                  <a:pt x="2087874" y="5396107"/>
                  <a:pt x="2215599" y="5373399"/>
                  <a:pt x="2341001" y="5360725"/>
                </a:cubicBezTo>
                <a:cubicBezTo>
                  <a:pt x="2537812" y="5340129"/>
                  <a:pt x="2533748" y="5339072"/>
                  <a:pt x="2710822" y="5418816"/>
                </a:cubicBezTo>
                <a:cubicBezTo>
                  <a:pt x="2743914" y="5433602"/>
                  <a:pt x="2801390" y="5438355"/>
                  <a:pt x="2833903" y="5413007"/>
                </a:cubicBezTo>
                <a:cubicBezTo>
                  <a:pt x="2896604" y="5364422"/>
                  <a:pt x="2950016" y="5368646"/>
                  <a:pt x="3011556" y="5399276"/>
                </a:cubicBezTo>
                <a:cubicBezTo>
                  <a:pt x="3077160" y="5432547"/>
                  <a:pt x="3171793" y="5391882"/>
                  <a:pt x="3254233" y="5439412"/>
                </a:cubicBezTo>
                <a:cubicBezTo>
                  <a:pt x="3099802" y="5473739"/>
                  <a:pt x="2957563" y="5473739"/>
                  <a:pt x="2792101" y="5471625"/>
                </a:cubicBezTo>
                <a:cubicBezTo>
                  <a:pt x="2846095" y="5537639"/>
                  <a:pt x="2914601" y="5536582"/>
                  <a:pt x="2977303" y="5539751"/>
                </a:cubicBezTo>
                <a:cubicBezTo>
                  <a:pt x="3214174" y="5551898"/>
                  <a:pt x="3601411" y="5660686"/>
                  <a:pt x="3656566" y="5678642"/>
                </a:cubicBezTo>
                <a:cubicBezTo>
                  <a:pt x="4280675" y="5879847"/>
                  <a:pt x="4178497" y="5898332"/>
                  <a:pt x="4858340" y="5969625"/>
                </a:cubicBezTo>
                <a:cubicBezTo>
                  <a:pt x="5261253" y="6011873"/>
                  <a:pt x="4887368" y="6032469"/>
                  <a:pt x="5296668" y="6043559"/>
                </a:cubicBezTo>
                <a:cubicBezTo>
                  <a:pt x="5349500" y="6045143"/>
                  <a:pt x="5402911" y="6044087"/>
                  <a:pt x="5456323" y="6042502"/>
                </a:cubicBezTo>
                <a:cubicBezTo>
                  <a:pt x="5368077" y="6073134"/>
                  <a:pt x="5267058" y="6100066"/>
                  <a:pt x="5267058" y="6100066"/>
                </a:cubicBezTo>
                <a:cubicBezTo>
                  <a:pt x="5267058" y="6100066"/>
                  <a:pt x="5318728" y="6208854"/>
                  <a:pt x="7095266" y="6287541"/>
                </a:cubicBezTo>
                <a:cubicBezTo>
                  <a:pt x="7422124" y="6302329"/>
                  <a:pt x="9563254" y="6024548"/>
                  <a:pt x="9707235" y="5994446"/>
                </a:cubicBezTo>
                <a:cubicBezTo>
                  <a:pt x="9844249" y="5966984"/>
                  <a:pt x="10002164" y="5671247"/>
                  <a:pt x="10083442" y="5678642"/>
                </a:cubicBezTo>
                <a:cubicBezTo>
                  <a:pt x="10103183" y="5653293"/>
                  <a:pt x="10283158" y="5139979"/>
                  <a:pt x="10338892" y="4650957"/>
                </a:cubicBezTo>
                <a:cubicBezTo>
                  <a:pt x="10448618" y="4580718"/>
                  <a:pt x="10551960" y="4503088"/>
                  <a:pt x="10628013" y="4411198"/>
                </a:cubicBezTo>
                <a:cubicBezTo>
                  <a:pt x="10675040" y="4354692"/>
                  <a:pt x="10718003" y="4298185"/>
                  <a:pt x="10802766" y="4258050"/>
                </a:cubicBezTo>
                <a:cubicBezTo>
                  <a:pt x="10755739" y="4203128"/>
                  <a:pt x="10675040" y="4190453"/>
                  <a:pt x="10614662" y="4150318"/>
                </a:cubicBezTo>
                <a:cubicBezTo>
                  <a:pt x="10610017" y="4117046"/>
                  <a:pt x="10705811" y="4127081"/>
                  <a:pt x="10681427" y="4054203"/>
                </a:cubicBezTo>
                <a:cubicBezTo>
                  <a:pt x="10648335" y="3957032"/>
                  <a:pt x="10684328" y="3846131"/>
                  <a:pt x="10520029" y="3804411"/>
                </a:cubicBezTo>
                <a:cubicBezTo>
                  <a:pt x="10476485" y="3709881"/>
                  <a:pt x="10464294" y="3558845"/>
                  <a:pt x="10568798" y="3466426"/>
                </a:cubicBezTo>
                <a:cubicBezTo>
                  <a:pt x="10724388" y="3328592"/>
                  <a:pt x="10699424" y="3240927"/>
                  <a:pt x="10499709" y="3166465"/>
                </a:cubicBezTo>
                <a:cubicBezTo>
                  <a:pt x="10474164" y="3156958"/>
                  <a:pt x="10501452" y="2570768"/>
                  <a:pt x="10489840" y="2546475"/>
                </a:cubicBezTo>
                <a:cubicBezTo>
                  <a:pt x="10508418" y="2513205"/>
                  <a:pt x="10551960" y="2521126"/>
                  <a:pt x="10584471" y="2512148"/>
                </a:cubicBezTo>
                <a:cubicBezTo>
                  <a:pt x="10726711" y="2474125"/>
                  <a:pt x="10731357" y="2474125"/>
                  <a:pt x="10695942" y="2358471"/>
                </a:cubicBezTo>
                <a:cubicBezTo>
                  <a:pt x="10685490" y="2323616"/>
                  <a:pt x="10709874" y="2309357"/>
                  <a:pt x="10732516" y="2287706"/>
                </a:cubicBezTo>
                <a:cubicBezTo>
                  <a:pt x="10817280" y="2206905"/>
                  <a:pt x="10817860" y="2205850"/>
                  <a:pt x="10731357" y="2137725"/>
                </a:cubicBezTo>
                <a:cubicBezTo>
                  <a:pt x="10706391" y="2118185"/>
                  <a:pt x="10689555" y="2097061"/>
                  <a:pt x="10678525" y="2070656"/>
                </a:cubicBezTo>
                <a:cubicBezTo>
                  <a:pt x="10658203" y="2022599"/>
                  <a:pt x="10658784" y="1982463"/>
                  <a:pt x="10735999" y="1956587"/>
                </a:cubicBezTo>
                <a:cubicBezTo>
                  <a:pt x="10789993" y="1938104"/>
                  <a:pt x="10820762" y="1916978"/>
                  <a:pt x="10824246" y="1862584"/>
                </a:cubicBezTo>
                <a:cubicBezTo>
                  <a:pt x="10826570" y="1817166"/>
                  <a:pt x="10832955" y="1787594"/>
                  <a:pt x="10773156" y="1768054"/>
                </a:cubicBezTo>
                <a:cubicBezTo>
                  <a:pt x="10724969" y="1752211"/>
                  <a:pt x="10711036" y="1718412"/>
                  <a:pt x="10716261" y="1678278"/>
                </a:cubicBezTo>
                <a:cubicBezTo>
                  <a:pt x="10728452" y="1580050"/>
                  <a:pt x="10662849" y="1522487"/>
                  <a:pt x="10554864" y="1477599"/>
                </a:cubicBezTo>
                <a:cubicBezTo>
                  <a:pt x="10452101" y="1434822"/>
                  <a:pt x="10362116" y="1377259"/>
                  <a:pt x="10267483" y="1324977"/>
                </a:cubicBezTo>
                <a:cubicBezTo>
                  <a:pt x="10162399" y="1266887"/>
                  <a:pt x="10040481" y="1232031"/>
                  <a:pt x="9913337" y="1202458"/>
                </a:cubicBezTo>
                <a:cubicBezTo>
                  <a:pt x="9936561" y="1160210"/>
                  <a:pt x="10016678" y="1183974"/>
                  <a:pt x="10024805" y="1124827"/>
                </a:cubicBezTo>
                <a:cubicBezTo>
                  <a:pt x="9826251" y="1074658"/>
                  <a:pt x="9636408" y="999139"/>
                  <a:pt x="9411726" y="980655"/>
                </a:cubicBezTo>
                <a:cubicBezTo>
                  <a:pt x="9593444" y="990161"/>
                  <a:pt x="9758326" y="922036"/>
                  <a:pt x="9930753" y="901968"/>
                </a:cubicBezTo>
                <a:cubicBezTo>
                  <a:pt x="9947008" y="868698"/>
                  <a:pt x="9909273" y="877147"/>
                  <a:pt x="9894178" y="871339"/>
                </a:cubicBezTo>
                <a:cubicBezTo>
                  <a:pt x="9879083" y="865001"/>
                  <a:pt x="9860506" y="862889"/>
                  <a:pt x="9858182" y="839125"/>
                </a:cubicBezTo>
                <a:cubicBezTo>
                  <a:pt x="9941205" y="804798"/>
                  <a:pt x="10045126" y="827506"/>
                  <a:pt x="10131050" y="792652"/>
                </a:cubicBezTo>
                <a:cubicBezTo>
                  <a:pt x="10111891" y="741954"/>
                  <a:pt x="10037578" y="772583"/>
                  <a:pt x="10006808" y="731920"/>
                </a:cubicBezTo>
                <a:cubicBezTo>
                  <a:pt x="10086927" y="724526"/>
                  <a:pt x="10161239" y="721357"/>
                  <a:pt x="10233809" y="710268"/>
                </a:cubicBezTo>
                <a:cubicBezTo>
                  <a:pt x="10290705" y="701818"/>
                  <a:pt x="10306380" y="658513"/>
                  <a:pt x="10267483" y="628940"/>
                </a:cubicBezTo>
                <a:cubicBezTo>
                  <a:pt x="10232648" y="602536"/>
                  <a:pt x="10181559" y="600422"/>
                  <a:pt x="10136275" y="589333"/>
                </a:cubicBezTo>
                <a:cubicBezTo>
                  <a:pt x="9813479" y="512230"/>
                  <a:pt x="9474428" y="487409"/>
                  <a:pt x="9131312" y="480544"/>
                </a:cubicBezTo>
                <a:cubicBezTo>
                  <a:pt x="8580936" y="469453"/>
                  <a:pt x="8028817" y="469982"/>
                  <a:pt x="7479600" y="454667"/>
                </a:cubicBezTo>
                <a:cubicBezTo>
                  <a:pt x="7227489" y="447934"/>
                  <a:pt x="6976357" y="436744"/>
                  <a:pt x="6724001" y="4340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9B3BF5A1-928B-4C3F-82F8-5DCE3E184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529" y="829994"/>
            <a:ext cx="9186203" cy="572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4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CD369-534E-439E-8B9C-800A906A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2B8F-A740-4005-BBDE-C3B035900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661183"/>
            <a:ext cx="8426823" cy="81740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DF706B35-D72A-4E10-AC58-4C8A662B8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68" y="1861925"/>
            <a:ext cx="9380943" cy="450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50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C19A92E3-B15E-436A-9A60-85335F991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29" y="643467"/>
            <a:ext cx="8432671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5911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4A2540-7679-4664-9120-4C012352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504" y="643467"/>
            <a:ext cx="8764213" cy="57151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A83722-E6F0-42DC-A454-5259037BEF28}"/>
              </a:ext>
            </a:extLst>
          </p:cNvPr>
          <p:cNvSpPr/>
          <p:nvPr/>
        </p:nvSpPr>
        <p:spPr>
          <a:xfrm>
            <a:off x="10098258" y="499404"/>
            <a:ext cx="914400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5377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265A8D-BDBF-4C17-B2AA-D50FE4B1F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08" y="748568"/>
            <a:ext cx="7568419" cy="56588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A28017-94AC-4F72-88D8-A5C6D3206241}"/>
              </a:ext>
            </a:extLst>
          </p:cNvPr>
          <p:cNvSpPr/>
          <p:nvPr/>
        </p:nvSpPr>
        <p:spPr>
          <a:xfrm>
            <a:off x="9409044" y="543339"/>
            <a:ext cx="914400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7111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05AEC3-F13F-425F-A4F6-CDA9F4FAD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88" y="643468"/>
            <a:ext cx="7311677" cy="508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97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8733D2-AE36-4C02-A58C-2176641B1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908" y="643468"/>
            <a:ext cx="700571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31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CA9F37-0455-427A-B04F-2E40145C1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8" y="1715822"/>
            <a:ext cx="5452533" cy="34263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EFBFD5-B4FF-4876-8C3E-B1ED02906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715822"/>
            <a:ext cx="5291667" cy="342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79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664E23E2-7440-4E36-A67B-0F88C5F7E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B06949AE-010D-4C18-8AED-7872085A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5E5C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86C944-5481-4230-BCFC-DDBC95A30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1364879"/>
            <a:ext cx="5129784" cy="4142301"/>
          </a:xfrm>
          <a:prstGeom prst="rect">
            <a:avLst/>
          </a:prstGeom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FE54AADB-50C7-4293-94C0-27361A32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5E5C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C88DE-B258-4E29-993A-418C57BE1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34" y="1761820"/>
            <a:ext cx="5129784" cy="333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412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C40F19-8883-4333-B104-7B5CE649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r>
              <a:rPr lang="en-ZA" sz="4000">
                <a:solidFill>
                  <a:srgbClr val="FFFFFF"/>
                </a:solidFill>
                <a:latin typeface="+mn-lt"/>
              </a:rPr>
              <a:t>Wompus World in AI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A3D9DE5-506D-4595-924D-75DF08523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088411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1958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626A4-47D1-44FF-B967-4E3247471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ZA" sz="5000"/>
              <a:t>Wompus World cont.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DAE0D-71AB-48C0-A274-AE08AD7D1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Following is a sample diagram for representing the Wumpus world. It is showing some rooms with Pits, one room with Wumpus and one agent at (1, 1) square location of the world.</a:t>
            </a:r>
          </a:p>
          <a:p>
            <a:r>
              <a:rPr lang="en-US" sz="2200"/>
              <a:t>Note that Wumpus is STATIC and cannot move, the Agent</a:t>
            </a:r>
          </a:p>
          <a:p>
            <a:endParaRPr lang="en-ZA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757A4-B876-4E42-9596-43758C958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43543"/>
            <a:ext cx="5458968" cy="33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549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0AC7AD-1CF9-4027-8074-213FC7B6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ZA" dirty="0" err="1"/>
              <a:t>Wompus</a:t>
            </a:r>
            <a:r>
              <a:rPr lang="en-ZA" dirty="0"/>
              <a:t> World cont.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07F9F8-39B1-4825-A1E7-69D431D7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69" y="2198362"/>
            <a:ext cx="6696221" cy="3917773"/>
          </a:xfrm>
        </p:spPr>
        <p:txBody>
          <a:bodyPr>
            <a:normAutofit lnSpcReduction="10000"/>
          </a:bodyPr>
          <a:lstStyle/>
          <a:p>
            <a:r>
              <a:rPr lang="en-ZA" sz="2000" dirty="0">
                <a:highlight>
                  <a:srgbClr val="00FFFF"/>
                </a:highlight>
              </a:rPr>
              <a:t>Goal</a:t>
            </a:r>
            <a:r>
              <a:rPr lang="en-ZA" sz="2000" dirty="0"/>
              <a:t>: Agent wants to move to the square which holds Gold, grab it and come back to the original square and release it there</a:t>
            </a:r>
          </a:p>
          <a:p>
            <a:r>
              <a:rPr lang="en-ZA" sz="2000" dirty="0"/>
              <a:t>Initially the agent can be at any square.</a:t>
            </a:r>
          </a:p>
          <a:p>
            <a:r>
              <a:rPr lang="en-ZA" sz="2000" dirty="0">
                <a:highlight>
                  <a:srgbClr val="00FFFF"/>
                </a:highlight>
              </a:rPr>
              <a:t>Environment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Square adjacent to Wumpus are smelly (stench)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Square adjacent to pit are breezy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Glitter if gold is in the same square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Shooting kills Wumpus if agent is facing it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Shooting uses up the only arrow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Grabbing picks up gold if in same square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2000" dirty="0"/>
              <a:t>Releasing drops the gold in same square</a:t>
            </a:r>
          </a:p>
          <a:p>
            <a:pPr marL="0" indent="0">
              <a:buNone/>
            </a:pPr>
            <a:endParaRPr lang="en-ZA" sz="17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DCDEDE-D76D-4A31-8FF9-7A683FB5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74" y="2584420"/>
            <a:ext cx="4094198" cy="2956903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46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57F87-BD75-47E7-9CD3-562AE0F0C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PEAS Description of Wumpus World: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7E62A03-CF57-431C-95E5-7175894C5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197" y="1983545"/>
            <a:ext cx="9959926" cy="444539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explain the Wumpus world we have given PEAS description as below:</a:t>
            </a:r>
          </a:p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Performance measure: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+1000 reward points if the agent comes out of the cave with the gold.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-1000 points penalty for being eaten by the Wumpus or falling into the pit.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-1 for each action, and -10 for using an arrow.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game ends if either agent dies or came out of the cave.</a:t>
            </a:r>
          </a:p>
          <a:p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Environment: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4*4 grid of rooms.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agent initially in room square [1, 1], facing toward the right.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Location of Wumpus and gold are chosen randomly except the first square [1,1].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Each square of the cave can be a pit with probability 0.2 except the first square.</a:t>
            </a:r>
          </a:p>
          <a:p>
            <a:endParaRPr lang="en-ZA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84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78282-328B-4BBA-9148-681ED8BD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60" y="249701"/>
            <a:ext cx="9543405" cy="735037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PEAS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BCA9F-71D0-4CB3-919A-CA64DC0F3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040" y="2572184"/>
            <a:ext cx="11467617" cy="2295238"/>
          </a:xfrm>
        </p:spPr>
        <p:txBody>
          <a:bodyPr anchor="ctr"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7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Actuators: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Left turn,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Right turn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Move forward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Grab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Release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Shoot.</a:t>
            </a:r>
          </a:p>
          <a:p>
            <a:pPr>
              <a:lnSpc>
                <a:spcPct val="120000"/>
              </a:lnSpc>
            </a:pPr>
            <a:r>
              <a:rPr lang="en-US" sz="7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Sensors: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agent will perceive the stench if he is in the room adjacent to the Wumpus. (Not diagonally).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agent will perceive breeze if he is in the room directly adjacent to the Pit.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agent will perceive the glitter in the room where the gold is present.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agent will perceive the bump if he walks into a wall.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When the Wumpus is shot, it emits a horrible scream which can be perceived anywhere in the cave.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These percepts can be represented as five element list, in which we will have different indicators for each sensor.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 if agent perceives stench, breeze, but no glitter, no bump, and no scream then it can be represented as:</a:t>
            </a:r>
          </a:p>
          <a:p>
            <a:pPr lvl="1">
              <a:lnSpc>
                <a:spcPct val="120000"/>
              </a:lnSpc>
            </a:pPr>
            <a:r>
              <a:rPr lang="en-US" sz="6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[Stench, Breeze, None, None, None].</a:t>
            </a:r>
          </a:p>
          <a:p>
            <a:endParaRPr lang="en-ZA" sz="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693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F8D68-C2BA-49E0-BAD8-B21287BF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ZA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Wumpus World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03F5-0758-43EC-8AFF-C86669C48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535" y="1737361"/>
            <a:ext cx="9737906" cy="4014436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Partially observable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The Wumpus world is partially observable because the agent can only perceive the close environment such as an adjacent room.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Deterministic: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It is deterministic, as the result and outcome of the world are already known.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Sequential: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The order is important, so it is sequential.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Static: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It is static as Wumpus, and Pits are not moving.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Discrete: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environment is discrete.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One agent: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environment is a single agent as we have one agent only and Wumpus is not considered as an agent.</a:t>
            </a:r>
          </a:p>
          <a:p>
            <a:endParaRPr lang="en-ZA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38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DCE42F-E7AA-4858-88CD-291E943B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ZA" dirty="0"/>
              <a:t>Exploring the Wumpus world: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475D9-AF7D-4B4B-A009-CED80380C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936" y="2443993"/>
            <a:ext cx="4925379" cy="39447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Now we will explore the Wumpus world and will determine how the agent will find its goal by applying logical reasoning.</a:t>
            </a:r>
          </a:p>
          <a:p>
            <a:r>
              <a:rPr lang="en-US" sz="2000" b="1" dirty="0"/>
              <a:t>Agent's First step: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Initially, the agent is in the first room or on the square [1,1], and we already know that this room is safe for the agent, so to represent on the below diagram (a) that room is safe we will add symbol OK. Symbol A is used to represent agent, symbol B for the breeze, G for Glitter or gold, V for the visited room, P for pits, W for Wumpus.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At Room [1,1] agent does not feel any breeze or any Stench which means the adjacent squares are also OK</a:t>
            </a:r>
            <a:r>
              <a:rPr lang="en-US" sz="14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BDDE9-8513-4F4C-8882-6472F05F6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3" y="469275"/>
            <a:ext cx="5841606" cy="36384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719C9B-431C-4559-A2F9-0E4213A9E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267" y="4400171"/>
            <a:ext cx="3290798" cy="198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82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1DD1F-5B35-4FD6-BFCF-B35FEAF8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ZA" dirty="0">
                <a:latin typeface="+mn-lt"/>
              </a:rPr>
              <a:t>Agent's second Step: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27F44-65DE-4B93-BF0C-A2F88C7DA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505" y="1940440"/>
            <a:ext cx="5401325" cy="4162247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Now agent needs to move forward, so it will either move to [1, 2], or [2,1]. Let's suppose agent moves to the room [2, 1], at this room agent perceives some breeze which means Pit is around this room. The pit can be in [3, 1], or [2,2], so we will add symbol P? to say that, is this Pit room?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Now agent will stop and think and will not make any harmful move. The agent will go back to the [1, 1] room. The room [1,1], and [2,1] are visited by the agent, so we will use symbol V to represent the visited squares.</a:t>
            </a:r>
          </a:p>
          <a:p>
            <a:endParaRPr lang="en-ZA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AB9A1-3360-4A2C-89C6-278C09DD2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594" y="3240396"/>
            <a:ext cx="5875606" cy="3570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4FB48D-82BF-4842-9333-0EF8EF20C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173" y="244020"/>
            <a:ext cx="3816098" cy="245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99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345CA-87DA-4470-B400-83CB107C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ZA" dirty="0">
                <a:latin typeface="+mn-lt"/>
              </a:rPr>
              <a:t>Agent's third step</a:t>
            </a:r>
            <a:r>
              <a:rPr lang="en-ZA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6F5B0-10A4-4D4A-9CC6-63B083528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52" y="2194102"/>
            <a:ext cx="5988148" cy="4054298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At the third step, now agent will move to the room [1,2] which is OK.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In the room [1,2] agent perceives a stench which means there must be a Wumpus nearby.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But Wumpus cannot be in the room [1,1] as by rules of the game, and not in [2,2] (Agent had not detected any stench when he was at [2,1]).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Therefore, agent infers that Wumpus is in the room [1,3], and in current state, there is no breeze which means in [2,2] there is no Pit and no Wumpus.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So, it is safe, and we will mark it OK, and the agent moves further in [2,2].</a:t>
            </a:r>
          </a:p>
          <a:p>
            <a:endParaRPr lang="en-US" sz="1700" dirty="0"/>
          </a:p>
          <a:p>
            <a:endParaRPr lang="en-ZA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7886C-DB57-4E40-8785-B0DF69813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52" y="2772041"/>
            <a:ext cx="5880296" cy="3959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985325-E8E7-424D-9DBE-1FA66ADA5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1" y="207391"/>
            <a:ext cx="4088074" cy="256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18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7B3F4-F68D-4D54-A2FD-F638666F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ZA" dirty="0">
                <a:latin typeface="+mn-lt"/>
              </a:rPr>
              <a:t>Agent's fourth step: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48584-F267-4554-B4D4-2268DC786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07" y="2419185"/>
            <a:ext cx="5082701" cy="22090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At room [2,2], here no stench and no breezes present so let's suppose agent decides to move to [2,3]. At room [2,3] agent perceives glitter, so it should grab the gold and climb out of the cave.</a:t>
            </a:r>
            <a:endParaRPr lang="en-Z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4665E-244F-43E6-93F0-B0DBF15DD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104" y="2143175"/>
            <a:ext cx="5273570" cy="348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4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2509</TotalTime>
  <Words>1870</Words>
  <Application>Microsoft Office PowerPoint</Application>
  <PresentationFormat>Widescreen</PresentationFormat>
  <Paragraphs>175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Wingdings</vt:lpstr>
      <vt:lpstr>Office Theme</vt:lpstr>
      <vt:lpstr> Knowledge, Reasoning &amp; Planning Logical Agents cont. </vt:lpstr>
      <vt:lpstr>End of Previous slides</vt:lpstr>
      <vt:lpstr>LOGIC</vt:lpstr>
      <vt:lpstr>Basic Concepts of Logic</vt:lpstr>
      <vt:lpstr>TYPES OF LOGIC</vt:lpstr>
      <vt:lpstr>Propositional Logic (Boolean)</vt:lpstr>
      <vt:lpstr>Propositional Logic cont. </vt:lpstr>
      <vt:lpstr>Propositional Logic cont. </vt:lpstr>
      <vt:lpstr>Prepositional Logic cont. </vt:lpstr>
      <vt:lpstr>PL Connector Priority</vt:lpstr>
      <vt:lpstr>Types of sentences</vt:lpstr>
      <vt:lpstr>Types of sentences cont.</vt:lpstr>
      <vt:lpstr>PowerPoint Presentation</vt:lpstr>
      <vt:lpstr>PowerPoint Presentation</vt:lpstr>
      <vt:lpstr>PowerPoint Presentation</vt:lpstr>
      <vt:lpstr>Rule of Inference in PL</vt:lpstr>
      <vt:lpstr>Normal Form of Logical Expressions</vt:lpstr>
      <vt:lpstr>PowerPoint Presentation</vt:lpstr>
      <vt:lpstr>PowerPoint Presentation</vt:lpstr>
      <vt:lpstr>Inference Rules</vt:lpstr>
      <vt:lpstr>Sound rules of inferences</vt:lpstr>
      <vt:lpstr>Soundness of Modus ponens</vt:lpstr>
      <vt:lpstr>PowerPoint Presentation</vt:lpstr>
      <vt:lpstr>PowerPoint Presentation</vt:lpstr>
      <vt:lpstr>PowerPoint Presentation</vt:lpstr>
      <vt:lpstr>Resolution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Wompus World in AI</vt:lpstr>
      <vt:lpstr>Wompus World cont.</vt:lpstr>
      <vt:lpstr>Wompus World cont.</vt:lpstr>
      <vt:lpstr>PEAS Description of Wumpus World:</vt:lpstr>
      <vt:lpstr>PEAS cont.</vt:lpstr>
      <vt:lpstr>Wumpus World Properties</vt:lpstr>
      <vt:lpstr>Exploring the Wumpus world:</vt:lpstr>
      <vt:lpstr>Agent's second Step:</vt:lpstr>
      <vt:lpstr>Agent's third step:</vt:lpstr>
      <vt:lpstr>Agent's fourth step: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Madaniyah Mohamed</dc:creator>
  <cp:lastModifiedBy>Madaniyah Mohamed</cp:lastModifiedBy>
  <cp:revision>26</cp:revision>
  <dcterms:created xsi:type="dcterms:W3CDTF">2021-08-18T17:29:08Z</dcterms:created>
  <dcterms:modified xsi:type="dcterms:W3CDTF">2021-08-20T11:54:31Z</dcterms:modified>
</cp:coreProperties>
</file>